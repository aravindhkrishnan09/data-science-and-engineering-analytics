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Montserrat"/>
      <p:regular r:id="rId27"/>
    </p:embeddedFont>
    <p:embeddedFont>
      <p:font typeface="Montserrat"/>
      <p:regular r:id="rId28"/>
    </p:embeddedFont>
    <p:embeddedFont>
      <p:font typeface="Montserrat"/>
      <p:regular r:id="rId29"/>
    </p:embeddedFont>
    <p:embeddedFont>
      <p:font typeface="Montserrat"/>
      <p:regular r:id="rId30"/>
    </p:embeddedFont>
    <p:embeddedFont>
      <p:font typeface="Source Sans 3"/>
      <p:regular r:id="rId31"/>
    </p:embeddedFont>
    <p:embeddedFont>
      <p:font typeface="Source Sans 3"/>
      <p:regular r:id="rId3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6.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slideLayout" Target="../slideLayouts/slideLayout18.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0.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3798" y="3147179"/>
            <a:ext cx="8444984"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EV Battery Health Prediction</a:t>
            </a:r>
            <a:endParaRPr lang="en-US" sz="4400" dirty="0"/>
          </a:p>
        </p:txBody>
      </p:sp>
      <p:sp>
        <p:nvSpPr>
          <p:cNvPr id="3" name="Text 1"/>
          <p:cNvSpPr/>
          <p:nvPr/>
        </p:nvSpPr>
        <p:spPr>
          <a:xfrm>
            <a:off x="863798" y="4342090"/>
            <a:ext cx="1290280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Intelligent predictive maintenance and battery health forecasting system for electric vehicles using machine learning across supervised, unsupervised, and reinforcement learning paradigms.</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1910715"/>
            <a:ext cx="5609749"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Project Overview</a:t>
            </a:r>
            <a:endParaRPr lang="en-US" sz="4400" dirty="0"/>
          </a:p>
        </p:txBody>
      </p:sp>
      <p:sp>
        <p:nvSpPr>
          <p:cNvPr id="3" name="Shape 1"/>
          <p:cNvSpPr/>
          <p:nvPr/>
        </p:nvSpPr>
        <p:spPr>
          <a:xfrm>
            <a:off x="863798" y="3105626"/>
            <a:ext cx="4136350" cy="3213259"/>
          </a:xfrm>
          <a:prstGeom prst="roundRect">
            <a:avLst>
              <a:gd name="adj" fmla="val 1152"/>
            </a:avLst>
          </a:prstGeom>
          <a:solidFill>
            <a:srgbClr val="F2EEEE"/>
          </a:solidFill>
          <a:ln/>
        </p:spPr>
      </p:sp>
      <p:sp>
        <p:nvSpPr>
          <p:cNvPr id="4" name="Text 2"/>
          <p:cNvSpPr/>
          <p:nvPr/>
        </p:nvSpPr>
        <p:spPr>
          <a:xfrm>
            <a:off x="1110615" y="3352443"/>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Primary Goals</a:t>
            </a:r>
            <a:endParaRPr lang="en-US" sz="2200" dirty="0"/>
          </a:p>
        </p:txBody>
      </p:sp>
      <p:sp>
        <p:nvSpPr>
          <p:cNvPr id="5" name="Text 3"/>
          <p:cNvSpPr/>
          <p:nvPr/>
        </p:nvSpPr>
        <p:spPr>
          <a:xfrm>
            <a:off x="1110615" y="3851077"/>
            <a:ext cx="3642717" cy="1850827"/>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Predict battery State of Health (SoH) within ±5% absolute error on unseen data and estimate Remaining Useful Life (RUL) with &gt;90% recall for failure detection.</a:t>
            </a:r>
            <a:endParaRPr lang="en-US" sz="1900" dirty="0"/>
          </a:p>
        </p:txBody>
      </p:sp>
      <p:sp>
        <p:nvSpPr>
          <p:cNvPr id="6" name="Shape 4"/>
          <p:cNvSpPr/>
          <p:nvPr/>
        </p:nvSpPr>
        <p:spPr>
          <a:xfrm>
            <a:off x="5246965" y="3105626"/>
            <a:ext cx="4136350" cy="3213259"/>
          </a:xfrm>
          <a:prstGeom prst="roundRect">
            <a:avLst>
              <a:gd name="adj" fmla="val 1152"/>
            </a:avLst>
          </a:prstGeom>
          <a:solidFill>
            <a:srgbClr val="F2EEEE"/>
          </a:solidFill>
          <a:ln/>
        </p:spPr>
      </p:sp>
      <p:sp>
        <p:nvSpPr>
          <p:cNvPr id="7" name="Text 5"/>
          <p:cNvSpPr/>
          <p:nvPr/>
        </p:nvSpPr>
        <p:spPr>
          <a:xfrm>
            <a:off x="5493782" y="3352443"/>
            <a:ext cx="2907387"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Technical Approach</a:t>
            </a:r>
            <a:endParaRPr lang="en-US" sz="2200" dirty="0"/>
          </a:p>
        </p:txBody>
      </p:sp>
      <p:sp>
        <p:nvSpPr>
          <p:cNvPr id="8" name="Text 6"/>
          <p:cNvSpPr/>
          <p:nvPr/>
        </p:nvSpPr>
        <p:spPr>
          <a:xfrm>
            <a:off x="5493782" y="3851077"/>
            <a:ext cx="3642717" cy="2220992"/>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Implement supervised learning (Random Forest, XGBoost, LSTM/GRU), unsupervised learning (K-means clustering), and reinforcement learning (Q-learning for charging optimization).</a:t>
            </a:r>
            <a:endParaRPr lang="en-US" sz="1900" dirty="0"/>
          </a:p>
        </p:txBody>
      </p:sp>
      <p:sp>
        <p:nvSpPr>
          <p:cNvPr id="9" name="Shape 7"/>
          <p:cNvSpPr/>
          <p:nvPr/>
        </p:nvSpPr>
        <p:spPr>
          <a:xfrm>
            <a:off x="9630132" y="3105626"/>
            <a:ext cx="4136350" cy="3213259"/>
          </a:xfrm>
          <a:prstGeom prst="roundRect">
            <a:avLst>
              <a:gd name="adj" fmla="val 1152"/>
            </a:avLst>
          </a:prstGeom>
          <a:solidFill>
            <a:srgbClr val="F2EEEE"/>
          </a:solidFill>
          <a:ln/>
        </p:spPr>
      </p:sp>
      <p:sp>
        <p:nvSpPr>
          <p:cNvPr id="10" name="Text 8"/>
          <p:cNvSpPr/>
          <p:nvPr/>
        </p:nvSpPr>
        <p:spPr>
          <a:xfrm>
            <a:off x="9876949" y="3352443"/>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Dataset</a:t>
            </a:r>
            <a:endParaRPr lang="en-US" sz="2200" dirty="0"/>
          </a:p>
        </p:txBody>
      </p:sp>
      <p:sp>
        <p:nvSpPr>
          <p:cNvPr id="11" name="Text 9"/>
          <p:cNvSpPr/>
          <p:nvPr/>
        </p:nvSpPr>
        <p:spPr>
          <a:xfrm>
            <a:off x="9876949" y="3851077"/>
            <a:ext cx="3642717" cy="2220992"/>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NASA Prognostics Center of Excellence (PCoE) dataset containing detailed charge, discharge, and impedance data from aging Li-ion batteries in raw MATLAB format.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8" y="1513284"/>
            <a:ext cx="5768340"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Problem Statement</a:t>
            </a:r>
            <a:endParaRPr lang="en-US" sz="4400" dirty="0"/>
          </a:p>
        </p:txBody>
      </p:sp>
      <p:sp>
        <p:nvSpPr>
          <p:cNvPr id="3" name="Text 1"/>
          <p:cNvSpPr/>
          <p:nvPr/>
        </p:nvSpPr>
        <p:spPr>
          <a:xfrm>
            <a:off x="863798" y="2831544"/>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Objective</a:t>
            </a:r>
            <a:endParaRPr lang="en-US" sz="2200" dirty="0"/>
          </a:p>
        </p:txBody>
      </p:sp>
      <p:sp>
        <p:nvSpPr>
          <p:cNvPr id="4" name="Text 2"/>
          <p:cNvSpPr/>
          <p:nvPr/>
        </p:nvSpPr>
        <p:spPr>
          <a:xfrm>
            <a:off x="863798" y="3429000"/>
            <a:ext cx="6150293"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Develop an intelligent predictive maintenance system that estimates State of Health (SoH) and forecasts Remaining Useful Life (RUL) of lithium-ion batteries.</a:t>
            </a:r>
            <a:endParaRPr lang="en-US" sz="1900" dirty="0"/>
          </a:p>
        </p:txBody>
      </p:sp>
      <p:sp>
        <p:nvSpPr>
          <p:cNvPr id="5" name="Text 3"/>
          <p:cNvSpPr/>
          <p:nvPr/>
        </p:nvSpPr>
        <p:spPr>
          <a:xfrm>
            <a:off x="863798" y="4786313"/>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Challenge</a:t>
            </a:r>
            <a:endParaRPr lang="en-US" sz="2200" dirty="0"/>
          </a:p>
        </p:txBody>
      </p:sp>
      <p:sp>
        <p:nvSpPr>
          <p:cNvPr id="6" name="Text 4"/>
          <p:cNvSpPr/>
          <p:nvPr/>
        </p:nvSpPr>
        <p:spPr>
          <a:xfrm>
            <a:off x="863798" y="5383768"/>
            <a:ext cx="6150293"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Parse complex nested .mat files, engineer meaningful features from raw sensor data, and apply machine learning models to capture non-linear degradation patterns.</a:t>
            </a:r>
            <a:endParaRPr lang="en-US" sz="1900" dirty="0"/>
          </a:p>
        </p:txBody>
      </p:sp>
      <p:sp>
        <p:nvSpPr>
          <p:cNvPr id="7" name="Text 5"/>
          <p:cNvSpPr/>
          <p:nvPr/>
        </p:nvSpPr>
        <p:spPr>
          <a:xfrm>
            <a:off x="7623929" y="2831544"/>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Dataset Details</a:t>
            </a:r>
            <a:endParaRPr lang="en-US" sz="2200" dirty="0"/>
          </a:p>
        </p:txBody>
      </p:sp>
      <p:sp>
        <p:nvSpPr>
          <p:cNvPr id="8" name="Text 6"/>
          <p:cNvSpPr/>
          <p:nvPr/>
        </p:nvSpPr>
        <p:spPr>
          <a:xfrm>
            <a:off x="7623929" y="3429000"/>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Batteries: B0005, B0006, B0007, B0018</a:t>
            </a:r>
            <a:endParaRPr lang="en-US" sz="1900" dirty="0"/>
          </a:p>
        </p:txBody>
      </p:sp>
      <p:sp>
        <p:nvSpPr>
          <p:cNvPr id="9" name="Text 7"/>
          <p:cNvSpPr/>
          <p:nvPr/>
        </p:nvSpPr>
        <p:spPr>
          <a:xfrm>
            <a:off x="7623929" y="3885486"/>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Data types: Voltage, current, temperature, capacity</a:t>
            </a:r>
            <a:endParaRPr lang="en-US" sz="1900" dirty="0"/>
          </a:p>
        </p:txBody>
      </p:sp>
      <p:sp>
        <p:nvSpPr>
          <p:cNvPr id="10" name="Text 8"/>
          <p:cNvSpPr/>
          <p:nvPr/>
        </p:nvSpPr>
        <p:spPr>
          <a:xfrm>
            <a:off x="7623929" y="4341971"/>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Format: MATLAB .mat files with nested structures</a:t>
            </a:r>
            <a:endParaRPr lang="en-US" sz="1900" dirty="0"/>
          </a:p>
        </p:txBody>
      </p:sp>
      <p:sp>
        <p:nvSpPr>
          <p:cNvPr id="11" name="Text 9"/>
          <p:cNvSpPr/>
          <p:nvPr/>
        </p:nvSpPr>
        <p:spPr>
          <a:xfrm>
            <a:off x="7623929" y="4798457"/>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Total records: 2.1M+ data points across 636 cycles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14149" y="988457"/>
            <a:ext cx="7278767" cy="660797"/>
          </a:xfrm>
          <a:prstGeom prst="rect">
            <a:avLst/>
          </a:prstGeom>
          <a:noFill/>
          <a:ln/>
        </p:spPr>
        <p:txBody>
          <a:bodyPr wrap="none" lIns="0" tIns="0" rIns="0" bIns="0" rtlCol="0" anchor="t"/>
          <a:lstStyle/>
          <a:p>
            <a:pPr algn="l" indent="0" marL="0">
              <a:lnSpc>
                <a:spcPts val="5200"/>
              </a:lnSpc>
              <a:buNone/>
            </a:pPr>
            <a:r>
              <a:rPr lang="en-US" sz="4150" b="1" dirty="0">
                <a:solidFill>
                  <a:srgbClr val="000000"/>
                </a:solidFill>
                <a:latin typeface="Montserrat Bold" pitchFamily="34" charset="0"/>
                <a:ea typeface="Montserrat Bold" pitchFamily="34" charset="-122"/>
                <a:cs typeface="Montserrat Bold" pitchFamily="34" charset="-120"/>
              </a:rPr>
              <a:t>Data Engineering Pipeline</a:t>
            </a:r>
            <a:endParaRPr lang="en-US" sz="4150" dirty="0"/>
          </a:p>
        </p:txBody>
      </p:sp>
      <p:pic>
        <p:nvPicPr>
          <p:cNvPr id="3" name="Image 0" descr="preencoded.png">    </p:cNvPr>
          <p:cNvPicPr>
            <a:picLocks noChangeAspect="1"/>
          </p:cNvPicPr>
          <p:nvPr/>
        </p:nvPicPr>
        <p:blipFill>
          <a:blip r:embed="rId1"/>
          <a:stretch>
            <a:fillRect/>
          </a:stretch>
        </p:blipFill>
        <p:spPr>
          <a:xfrm>
            <a:off x="814149" y="2114431"/>
            <a:ext cx="6501051" cy="930354"/>
          </a:xfrm>
          <a:prstGeom prst="rect">
            <a:avLst/>
          </a:prstGeom>
        </p:spPr>
      </p:pic>
      <p:sp>
        <p:nvSpPr>
          <p:cNvPr id="4" name="Text 1"/>
          <p:cNvSpPr/>
          <p:nvPr/>
        </p:nvSpPr>
        <p:spPr>
          <a:xfrm>
            <a:off x="1046678" y="3277314"/>
            <a:ext cx="2643307" cy="330398"/>
          </a:xfrm>
          <a:prstGeom prst="rect">
            <a:avLst/>
          </a:prstGeom>
          <a:noFill/>
          <a:ln/>
        </p:spPr>
        <p:txBody>
          <a:bodyPr wrap="none" lIns="0" tIns="0" rIns="0" bIns="0" rtlCol="0" anchor="t"/>
          <a:lstStyle/>
          <a:p>
            <a:pPr algn="l" indent="0" marL="0">
              <a:lnSpc>
                <a:spcPts val="2600"/>
              </a:lnSpc>
              <a:buNone/>
            </a:pPr>
            <a:r>
              <a:rPr lang="en-US" sz="2050" b="1" dirty="0">
                <a:solidFill>
                  <a:srgbClr val="3D3838"/>
                </a:solidFill>
                <a:latin typeface="Montserrat Bold" pitchFamily="34" charset="0"/>
                <a:ea typeface="Montserrat Bold" pitchFamily="34" charset="-122"/>
                <a:cs typeface="Montserrat Bold" pitchFamily="34" charset="-120"/>
              </a:rPr>
              <a:t>Data Acquisition</a:t>
            </a:r>
            <a:endParaRPr lang="en-US" sz="2050" dirty="0"/>
          </a:p>
        </p:txBody>
      </p:sp>
      <p:sp>
        <p:nvSpPr>
          <p:cNvPr id="5" name="Text 2"/>
          <p:cNvSpPr/>
          <p:nvPr/>
        </p:nvSpPr>
        <p:spPr>
          <a:xfrm>
            <a:off x="1046678" y="3747254"/>
            <a:ext cx="6035993" cy="697944"/>
          </a:xfrm>
          <a:prstGeom prst="rect">
            <a:avLst/>
          </a:prstGeom>
          <a:noFill/>
          <a:ln/>
        </p:spPr>
        <p:txBody>
          <a:bodyPr wrap="square" lIns="0" tIns="0" rIns="0" bIns="0" rtlCol="0" anchor="t"/>
          <a:lstStyle/>
          <a:p>
            <a:pPr algn="l"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Extract complex MATLAB structs containing charge, discharge, and impedance measurements from NASA PCoE dataset.</a:t>
            </a:r>
            <a:endParaRPr lang="en-US" sz="1800" dirty="0"/>
          </a:p>
        </p:txBody>
      </p:sp>
      <p:pic>
        <p:nvPicPr>
          <p:cNvPr id="6" name="Image 1" descr="preencoded.png">    </p:cNvPr>
          <p:cNvPicPr>
            <a:picLocks noChangeAspect="1"/>
          </p:cNvPicPr>
          <p:nvPr/>
        </p:nvPicPr>
        <p:blipFill>
          <a:blip r:embed="rId2"/>
          <a:stretch>
            <a:fillRect/>
          </a:stretch>
        </p:blipFill>
        <p:spPr>
          <a:xfrm>
            <a:off x="7315200" y="2114431"/>
            <a:ext cx="6501051" cy="930354"/>
          </a:xfrm>
          <a:prstGeom prst="rect">
            <a:avLst/>
          </a:prstGeom>
        </p:spPr>
      </p:pic>
      <p:sp>
        <p:nvSpPr>
          <p:cNvPr id="7" name="Text 3"/>
          <p:cNvSpPr/>
          <p:nvPr/>
        </p:nvSpPr>
        <p:spPr>
          <a:xfrm>
            <a:off x="7547729" y="3277314"/>
            <a:ext cx="2855238" cy="330398"/>
          </a:xfrm>
          <a:prstGeom prst="rect">
            <a:avLst/>
          </a:prstGeom>
          <a:noFill/>
          <a:ln/>
        </p:spPr>
        <p:txBody>
          <a:bodyPr wrap="none" lIns="0" tIns="0" rIns="0" bIns="0" rtlCol="0" anchor="t"/>
          <a:lstStyle/>
          <a:p>
            <a:pPr algn="l" indent="0" marL="0">
              <a:lnSpc>
                <a:spcPts val="2600"/>
              </a:lnSpc>
              <a:buNone/>
            </a:pPr>
            <a:r>
              <a:rPr lang="en-US" sz="2050" b="1" dirty="0">
                <a:solidFill>
                  <a:srgbClr val="3D3838"/>
                </a:solidFill>
                <a:latin typeface="Montserrat Bold" pitchFamily="34" charset="0"/>
                <a:ea typeface="Montserrat Bold" pitchFamily="34" charset="-122"/>
                <a:cs typeface="Montserrat Bold" pitchFamily="34" charset="-120"/>
              </a:rPr>
              <a:t>Data Transformation</a:t>
            </a:r>
            <a:endParaRPr lang="en-US" sz="2050" dirty="0"/>
          </a:p>
        </p:txBody>
      </p:sp>
      <p:sp>
        <p:nvSpPr>
          <p:cNvPr id="8" name="Text 4"/>
          <p:cNvSpPr/>
          <p:nvPr/>
        </p:nvSpPr>
        <p:spPr>
          <a:xfrm>
            <a:off x="7547729" y="3747254"/>
            <a:ext cx="6035993" cy="697944"/>
          </a:xfrm>
          <a:prstGeom prst="rect">
            <a:avLst/>
          </a:prstGeom>
          <a:noFill/>
          <a:ln/>
        </p:spPr>
        <p:txBody>
          <a:bodyPr wrap="square" lIns="0" tIns="0" rIns="0" bIns="0" rtlCol="0" anchor="t"/>
          <a:lstStyle/>
          <a:p>
            <a:pPr algn="l"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Flatten time-series data and aggregate key metrics like mean voltage, current, and temperature for each cycle.</a:t>
            </a:r>
            <a:endParaRPr lang="en-US" sz="1800" dirty="0"/>
          </a:p>
        </p:txBody>
      </p:sp>
      <p:pic>
        <p:nvPicPr>
          <p:cNvPr id="9" name="Image 2" descr="preencoded.png">    </p:cNvPr>
          <p:cNvPicPr>
            <a:picLocks noChangeAspect="1"/>
          </p:cNvPicPr>
          <p:nvPr/>
        </p:nvPicPr>
        <p:blipFill>
          <a:blip r:embed="rId3"/>
          <a:stretch>
            <a:fillRect/>
          </a:stretch>
        </p:blipFill>
        <p:spPr>
          <a:xfrm>
            <a:off x="814149" y="4677728"/>
            <a:ext cx="6501051" cy="930354"/>
          </a:xfrm>
          <a:prstGeom prst="rect">
            <a:avLst/>
          </a:prstGeom>
        </p:spPr>
      </p:pic>
      <p:sp>
        <p:nvSpPr>
          <p:cNvPr id="10" name="Text 5"/>
          <p:cNvSpPr/>
          <p:nvPr/>
        </p:nvSpPr>
        <p:spPr>
          <a:xfrm>
            <a:off x="1046678" y="5840611"/>
            <a:ext cx="2843689" cy="330398"/>
          </a:xfrm>
          <a:prstGeom prst="rect">
            <a:avLst/>
          </a:prstGeom>
          <a:noFill/>
          <a:ln/>
        </p:spPr>
        <p:txBody>
          <a:bodyPr wrap="none" lIns="0" tIns="0" rIns="0" bIns="0" rtlCol="0" anchor="t"/>
          <a:lstStyle/>
          <a:p>
            <a:pPr algn="l" indent="0" marL="0">
              <a:lnSpc>
                <a:spcPts val="2600"/>
              </a:lnSpc>
              <a:buNone/>
            </a:pPr>
            <a:r>
              <a:rPr lang="en-US" sz="2050" b="1" dirty="0">
                <a:solidFill>
                  <a:srgbClr val="3D3838"/>
                </a:solidFill>
                <a:latin typeface="Montserrat Bold" pitchFamily="34" charset="0"/>
                <a:ea typeface="Montserrat Bold" pitchFamily="34" charset="-122"/>
                <a:cs typeface="Montserrat Bold" pitchFamily="34" charset="-120"/>
              </a:rPr>
              <a:t>Feature Engineering</a:t>
            </a:r>
            <a:endParaRPr lang="en-US" sz="2050" dirty="0"/>
          </a:p>
        </p:txBody>
      </p:sp>
      <p:sp>
        <p:nvSpPr>
          <p:cNvPr id="11" name="Text 6"/>
          <p:cNvSpPr/>
          <p:nvPr/>
        </p:nvSpPr>
        <p:spPr>
          <a:xfrm>
            <a:off x="1046678" y="6310551"/>
            <a:ext cx="6035993" cy="697944"/>
          </a:xfrm>
          <a:prstGeom prst="rect">
            <a:avLst/>
          </a:prstGeom>
          <a:noFill/>
          <a:ln/>
        </p:spPr>
        <p:txBody>
          <a:bodyPr wrap="square" lIns="0" tIns="0" rIns="0" bIns="0" rtlCol="0" anchor="t"/>
          <a:lstStyle/>
          <a:p>
            <a:pPr algn="l"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Derive physics-based features including voltage drop (Delta_V) and temperature increase (Delta_T) as degradation indicators.</a:t>
            </a:r>
            <a:endParaRPr lang="en-US" sz="1800" dirty="0"/>
          </a:p>
        </p:txBody>
      </p:sp>
      <p:pic>
        <p:nvPicPr>
          <p:cNvPr id="12" name="Image 3" descr="preencoded.png">    </p:cNvPr>
          <p:cNvPicPr>
            <a:picLocks noChangeAspect="1"/>
          </p:cNvPicPr>
          <p:nvPr/>
        </p:nvPicPr>
        <p:blipFill>
          <a:blip r:embed="rId4"/>
          <a:stretch>
            <a:fillRect/>
          </a:stretch>
        </p:blipFill>
        <p:spPr>
          <a:xfrm>
            <a:off x="7315200" y="4677728"/>
            <a:ext cx="6501051" cy="930354"/>
          </a:xfrm>
          <a:prstGeom prst="rect">
            <a:avLst/>
          </a:prstGeom>
        </p:spPr>
      </p:pic>
      <p:sp>
        <p:nvSpPr>
          <p:cNvPr id="13" name="Text 7"/>
          <p:cNvSpPr/>
          <p:nvPr/>
        </p:nvSpPr>
        <p:spPr>
          <a:xfrm>
            <a:off x="7547729" y="5840611"/>
            <a:ext cx="2643307" cy="330398"/>
          </a:xfrm>
          <a:prstGeom prst="rect">
            <a:avLst/>
          </a:prstGeom>
          <a:noFill/>
          <a:ln/>
        </p:spPr>
        <p:txBody>
          <a:bodyPr wrap="none" lIns="0" tIns="0" rIns="0" bIns="0" rtlCol="0" anchor="t"/>
          <a:lstStyle/>
          <a:p>
            <a:pPr algn="l" indent="0" marL="0">
              <a:lnSpc>
                <a:spcPts val="2600"/>
              </a:lnSpc>
              <a:buNone/>
            </a:pPr>
            <a:r>
              <a:rPr lang="en-US" sz="2050" b="1" dirty="0">
                <a:solidFill>
                  <a:srgbClr val="3D3838"/>
                </a:solidFill>
                <a:latin typeface="Montserrat Bold" pitchFamily="34" charset="0"/>
                <a:ea typeface="Montserrat Bold" pitchFamily="34" charset="-122"/>
                <a:cs typeface="Montserrat Bold" pitchFamily="34" charset="-120"/>
              </a:rPr>
              <a:t>Cloud Storage</a:t>
            </a:r>
            <a:endParaRPr lang="en-US" sz="2050" dirty="0"/>
          </a:p>
        </p:txBody>
      </p:sp>
      <p:sp>
        <p:nvSpPr>
          <p:cNvPr id="14" name="Text 8"/>
          <p:cNvSpPr/>
          <p:nvPr/>
        </p:nvSpPr>
        <p:spPr>
          <a:xfrm>
            <a:off x="7547729" y="6310551"/>
            <a:ext cx="6035993" cy="697944"/>
          </a:xfrm>
          <a:prstGeom prst="rect">
            <a:avLst/>
          </a:prstGeom>
          <a:noFill/>
          <a:ln/>
        </p:spPr>
        <p:txBody>
          <a:bodyPr wrap="square" lIns="0" tIns="0" rIns="0" bIns="0" rtlCol="0" anchor="t"/>
          <a:lstStyle/>
          <a:p>
            <a:pPr algn="l"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Push processed data and trained models to Amazon S3 for scalable deployment and accessibility.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1213842"/>
            <a:ext cx="6575584"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Battery Fundamentals</a:t>
            </a:r>
            <a:endParaRPr lang="en-US" sz="4400" dirty="0"/>
          </a:p>
        </p:txBody>
      </p:sp>
      <p:sp>
        <p:nvSpPr>
          <p:cNvPr id="3" name="Shape 1"/>
          <p:cNvSpPr/>
          <p:nvPr/>
        </p:nvSpPr>
        <p:spPr>
          <a:xfrm>
            <a:off x="863798" y="2408753"/>
            <a:ext cx="12902803" cy="4606885"/>
          </a:xfrm>
          <a:prstGeom prst="roundRect">
            <a:avLst>
              <a:gd name="adj" fmla="val 804"/>
            </a:avLst>
          </a:prstGeom>
          <a:noFill/>
          <a:ln w="15240">
            <a:solidFill>
              <a:srgbClr val="000000">
                <a:alpha val="8000"/>
              </a:srgbClr>
            </a:solidFill>
            <a:prstDash val="solid"/>
          </a:ln>
        </p:spPr>
      </p:sp>
      <p:sp>
        <p:nvSpPr>
          <p:cNvPr id="4" name="Shape 2"/>
          <p:cNvSpPr/>
          <p:nvPr/>
        </p:nvSpPr>
        <p:spPr>
          <a:xfrm>
            <a:off x="879038" y="2423993"/>
            <a:ext cx="12872323" cy="681395"/>
          </a:xfrm>
          <a:prstGeom prst="rect">
            <a:avLst/>
          </a:prstGeom>
          <a:solidFill>
            <a:srgbClr val="FFFFFF">
              <a:alpha val="4000"/>
            </a:srgbClr>
          </a:solidFill>
          <a:ln/>
        </p:spPr>
      </p:sp>
      <p:sp>
        <p:nvSpPr>
          <p:cNvPr id="5" name="Text 3"/>
          <p:cNvSpPr/>
          <p:nvPr/>
        </p:nvSpPr>
        <p:spPr>
          <a:xfrm>
            <a:off x="1126093" y="2579608"/>
            <a:ext cx="2720578"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Term</a:t>
            </a:r>
            <a:endParaRPr lang="en-US" sz="1900" dirty="0"/>
          </a:p>
        </p:txBody>
      </p:sp>
      <p:sp>
        <p:nvSpPr>
          <p:cNvPr id="6" name="Text 4"/>
          <p:cNvSpPr/>
          <p:nvPr/>
        </p:nvSpPr>
        <p:spPr>
          <a:xfrm>
            <a:off x="4347924" y="2579608"/>
            <a:ext cx="4003953"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Meaning</a:t>
            </a:r>
            <a:endParaRPr lang="en-US" sz="1900" dirty="0"/>
          </a:p>
        </p:txBody>
      </p:sp>
      <p:sp>
        <p:nvSpPr>
          <p:cNvPr id="7" name="Text 5"/>
          <p:cNvSpPr/>
          <p:nvPr/>
        </p:nvSpPr>
        <p:spPr>
          <a:xfrm>
            <a:off x="8853130" y="2579608"/>
            <a:ext cx="4651415"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EV Car Analogy</a:t>
            </a:r>
            <a:endParaRPr lang="en-US" sz="1900" dirty="0"/>
          </a:p>
        </p:txBody>
      </p:sp>
      <p:sp>
        <p:nvSpPr>
          <p:cNvPr id="8" name="Shape 6"/>
          <p:cNvSpPr/>
          <p:nvPr/>
        </p:nvSpPr>
        <p:spPr>
          <a:xfrm>
            <a:off x="879038" y="3105388"/>
            <a:ext cx="12872323" cy="1421725"/>
          </a:xfrm>
          <a:prstGeom prst="rect">
            <a:avLst/>
          </a:prstGeom>
          <a:solidFill>
            <a:srgbClr val="000000">
              <a:alpha val="4000"/>
            </a:srgbClr>
          </a:solidFill>
          <a:ln/>
        </p:spPr>
      </p:sp>
      <p:sp>
        <p:nvSpPr>
          <p:cNvPr id="9" name="Text 7"/>
          <p:cNvSpPr/>
          <p:nvPr/>
        </p:nvSpPr>
        <p:spPr>
          <a:xfrm>
            <a:off x="1126093" y="3261003"/>
            <a:ext cx="272057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Charge</a:t>
            </a:r>
            <a:endParaRPr lang="en-US" sz="1900" dirty="0"/>
          </a:p>
        </p:txBody>
      </p:sp>
      <p:sp>
        <p:nvSpPr>
          <p:cNvPr id="10" name="Text 8"/>
          <p:cNvSpPr/>
          <p:nvPr/>
        </p:nvSpPr>
        <p:spPr>
          <a:xfrm>
            <a:off x="4347924" y="3261003"/>
            <a:ext cx="400395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Process of storing energy in the battery by supplying electrical power</a:t>
            </a:r>
            <a:endParaRPr lang="en-US" sz="1900" dirty="0"/>
          </a:p>
        </p:txBody>
      </p:sp>
      <p:sp>
        <p:nvSpPr>
          <p:cNvPr id="11" name="Text 9"/>
          <p:cNvSpPr/>
          <p:nvPr/>
        </p:nvSpPr>
        <p:spPr>
          <a:xfrm>
            <a:off x="8853130" y="3261003"/>
            <a:ext cx="4651415"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Plugging your EV into a charging station — electricity flows in and refills the "energy tank"</a:t>
            </a:r>
            <a:endParaRPr lang="en-US" sz="1900" dirty="0"/>
          </a:p>
        </p:txBody>
      </p:sp>
      <p:sp>
        <p:nvSpPr>
          <p:cNvPr id="12" name="Shape 10"/>
          <p:cNvSpPr/>
          <p:nvPr/>
        </p:nvSpPr>
        <p:spPr>
          <a:xfrm>
            <a:off x="879038" y="4527113"/>
            <a:ext cx="12872323" cy="1051560"/>
          </a:xfrm>
          <a:prstGeom prst="rect">
            <a:avLst/>
          </a:prstGeom>
          <a:solidFill>
            <a:srgbClr val="FFFFFF">
              <a:alpha val="4000"/>
            </a:srgbClr>
          </a:solidFill>
          <a:ln/>
        </p:spPr>
      </p:sp>
      <p:sp>
        <p:nvSpPr>
          <p:cNvPr id="13" name="Text 11"/>
          <p:cNvSpPr/>
          <p:nvPr/>
        </p:nvSpPr>
        <p:spPr>
          <a:xfrm>
            <a:off x="1126093" y="4682728"/>
            <a:ext cx="272057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Discharge</a:t>
            </a:r>
            <a:endParaRPr lang="en-US" sz="1900" dirty="0"/>
          </a:p>
        </p:txBody>
      </p:sp>
      <p:sp>
        <p:nvSpPr>
          <p:cNvPr id="14" name="Text 12"/>
          <p:cNvSpPr/>
          <p:nvPr/>
        </p:nvSpPr>
        <p:spPr>
          <a:xfrm>
            <a:off x="4347924" y="4682728"/>
            <a:ext cx="400395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Process of using stored energy to power a device or motor</a:t>
            </a:r>
            <a:endParaRPr lang="en-US" sz="1900" dirty="0"/>
          </a:p>
        </p:txBody>
      </p:sp>
      <p:sp>
        <p:nvSpPr>
          <p:cNvPr id="15" name="Text 13"/>
          <p:cNvSpPr/>
          <p:nvPr/>
        </p:nvSpPr>
        <p:spPr>
          <a:xfrm>
            <a:off x="8853130" y="4682728"/>
            <a:ext cx="4651415"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When you drive the EV, stored battery energy powers the wheels and systems</a:t>
            </a:r>
            <a:endParaRPr lang="en-US" sz="1900" dirty="0"/>
          </a:p>
        </p:txBody>
      </p:sp>
      <p:sp>
        <p:nvSpPr>
          <p:cNvPr id="16" name="Shape 14"/>
          <p:cNvSpPr/>
          <p:nvPr/>
        </p:nvSpPr>
        <p:spPr>
          <a:xfrm>
            <a:off x="879038" y="5578673"/>
            <a:ext cx="12872323" cy="1421725"/>
          </a:xfrm>
          <a:prstGeom prst="rect">
            <a:avLst/>
          </a:prstGeom>
          <a:solidFill>
            <a:srgbClr val="000000">
              <a:alpha val="4000"/>
            </a:srgbClr>
          </a:solidFill>
          <a:ln/>
        </p:spPr>
      </p:sp>
      <p:sp>
        <p:nvSpPr>
          <p:cNvPr id="17" name="Text 15"/>
          <p:cNvSpPr/>
          <p:nvPr/>
        </p:nvSpPr>
        <p:spPr>
          <a:xfrm>
            <a:off x="1126093" y="5734288"/>
            <a:ext cx="272057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Impedance</a:t>
            </a:r>
            <a:endParaRPr lang="en-US" sz="1900" dirty="0"/>
          </a:p>
        </p:txBody>
      </p:sp>
      <p:sp>
        <p:nvSpPr>
          <p:cNvPr id="18" name="Text 16"/>
          <p:cNvSpPr/>
          <p:nvPr/>
        </p:nvSpPr>
        <p:spPr>
          <a:xfrm>
            <a:off x="4347924" y="5734288"/>
            <a:ext cx="4003953"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Resistance to current flow inside the battery, including electrical and chemical reactions</a:t>
            </a:r>
            <a:endParaRPr lang="en-US" sz="1900" dirty="0"/>
          </a:p>
        </p:txBody>
      </p:sp>
      <p:sp>
        <p:nvSpPr>
          <p:cNvPr id="19" name="Text 17"/>
          <p:cNvSpPr/>
          <p:nvPr/>
        </p:nvSpPr>
        <p:spPr>
          <a:xfrm>
            <a:off x="8853130" y="5734288"/>
            <a:ext cx="4651415"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Like a clogged fuel line in petrol cars — higher impedance reduces acceleration and range</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3798" y="1519833"/>
            <a:ext cx="7508915"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Exploratory Data Analysis</a:t>
            </a:r>
            <a:endParaRPr lang="en-US" sz="4400" dirty="0"/>
          </a:p>
        </p:txBody>
      </p:sp>
      <p:sp>
        <p:nvSpPr>
          <p:cNvPr id="3" name="Shape 1"/>
          <p:cNvSpPr/>
          <p:nvPr/>
        </p:nvSpPr>
        <p:spPr>
          <a:xfrm>
            <a:off x="863798" y="2714744"/>
            <a:ext cx="4136350" cy="3995023"/>
          </a:xfrm>
          <a:prstGeom prst="roundRect">
            <a:avLst>
              <a:gd name="adj" fmla="val 3662"/>
            </a:avLst>
          </a:prstGeom>
          <a:solidFill>
            <a:srgbClr val="FFFFFF"/>
          </a:solidFill>
          <a:ln w="30480">
            <a:solidFill>
              <a:srgbClr val="D8D4D4"/>
            </a:solidFill>
            <a:prstDash val="solid"/>
          </a:ln>
        </p:spPr>
      </p:sp>
      <p:sp>
        <p:nvSpPr>
          <p:cNvPr id="4" name="Shape 2"/>
          <p:cNvSpPr/>
          <p:nvPr/>
        </p:nvSpPr>
        <p:spPr>
          <a:xfrm>
            <a:off x="833318" y="2714744"/>
            <a:ext cx="121920" cy="3995023"/>
          </a:xfrm>
          <a:prstGeom prst="roundRect">
            <a:avLst>
              <a:gd name="adj" fmla="val 30368"/>
            </a:avLst>
          </a:prstGeom>
          <a:solidFill>
            <a:srgbClr val="2D2E34"/>
          </a:solidFill>
          <a:ln/>
        </p:spPr>
      </p:sp>
      <p:sp>
        <p:nvSpPr>
          <p:cNvPr id="5" name="Text 3"/>
          <p:cNvSpPr/>
          <p:nvPr/>
        </p:nvSpPr>
        <p:spPr>
          <a:xfrm>
            <a:off x="1232535" y="2992041"/>
            <a:ext cx="3490317" cy="701278"/>
          </a:xfrm>
          <a:prstGeom prst="rect">
            <a:avLst/>
          </a:prstGeom>
          <a:noFill/>
          <a:ln/>
        </p:spPr>
        <p:txBody>
          <a:bodyPr wrap="squar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Capacity Degradation Curves</a:t>
            </a:r>
            <a:endParaRPr lang="en-US" sz="2200" dirty="0"/>
          </a:p>
        </p:txBody>
      </p:sp>
      <p:sp>
        <p:nvSpPr>
          <p:cNvPr id="6" name="Text 4"/>
          <p:cNvSpPr/>
          <p:nvPr/>
        </p:nvSpPr>
        <p:spPr>
          <a:xfrm>
            <a:off x="1232535" y="3841313"/>
            <a:ext cx="3490317" cy="2591157"/>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Visual analysis revealed characteristic "knee point" where battery degradation accelerates. All four batteries showed consistent degradation patterns with knee points between cycles 9-17.</a:t>
            </a:r>
            <a:endParaRPr lang="en-US" sz="1900" dirty="0"/>
          </a:p>
        </p:txBody>
      </p:sp>
      <p:sp>
        <p:nvSpPr>
          <p:cNvPr id="7" name="Shape 5"/>
          <p:cNvSpPr/>
          <p:nvPr/>
        </p:nvSpPr>
        <p:spPr>
          <a:xfrm>
            <a:off x="5246965" y="2714744"/>
            <a:ext cx="4136350" cy="3995023"/>
          </a:xfrm>
          <a:prstGeom prst="roundRect">
            <a:avLst>
              <a:gd name="adj" fmla="val 3662"/>
            </a:avLst>
          </a:prstGeom>
          <a:solidFill>
            <a:srgbClr val="FFFFFF"/>
          </a:solidFill>
          <a:ln w="30480">
            <a:solidFill>
              <a:srgbClr val="D8D4D4"/>
            </a:solidFill>
            <a:prstDash val="solid"/>
          </a:ln>
        </p:spPr>
      </p:sp>
      <p:sp>
        <p:nvSpPr>
          <p:cNvPr id="8" name="Shape 6"/>
          <p:cNvSpPr/>
          <p:nvPr/>
        </p:nvSpPr>
        <p:spPr>
          <a:xfrm>
            <a:off x="5216485" y="2714744"/>
            <a:ext cx="121920" cy="3995023"/>
          </a:xfrm>
          <a:prstGeom prst="roundRect">
            <a:avLst>
              <a:gd name="adj" fmla="val 30368"/>
            </a:avLst>
          </a:prstGeom>
          <a:solidFill>
            <a:srgbClr val="2D2E34"/>
          </a:solidFill>
          <a:ln/>
        </p:spPr>
      </p:sp>
      <p:sp>
        <p:nvSpPr>
          <p:cNvPr id="9" name="Text 7"/>
          <p:cNvSpPr/>
          <p:nvPr/>
        </p:nvSpPr>
        <p:spPr>
          <a:xfrm>
            <a:off x="5615702" y="2992041"/>
            <a:ext cx="2930485"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Correlation Analysis</a:t>
            </a:r>
            <a:endParaRPr lang="en-US" sz="2200" dirty="0"/>
          </a:p>
        </p:txBody>
      </p:sp>
      <p:sp>
        <p:nvSpPr>
          <p:cNvPr id="10" name="Text 8"/>
          <p:cNvSpPr/>
          <p:nvPr/>
        </p:nvSpPr>
        <p:spPr>
          <a:xfrm>
            <a:off x="5615702" y="3490674"/>
            <a:ext cx="3490317" cy="2220992"/>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Strong negative correlation (-0.88) between cycle number and capacity confirmed fundamental aging principle. Average voltage showed strong positive correlation (+0.89) with capacity.</a:t>
            </a:r>
            <a:endParaRPr lang="en-US" sz="1900" dirty="0"/>
          </a:p>
        </p:txBody>
      </p:sp>
      <p:sp>
        <p:nvSpPr>
          <p:cNvPr id="11" name="Shape 9"/>
          <p:cNvSpPr/>
          <p:nvPr/>
        </p:nvSpPr>
        <p:spPr>
          <a:xfrm>
            <a:off x="9630132" y="2714744"/>
            <a:ext cx="4136350" cy="3995023"/>
          </a:xfrm>
          <a:prstGeom prst="roundRect">
            <a:avLst>
              <a:gd name="adj" fmla="val 3662"/>
            </a:avLst>
          </a:prstGeom>
          <a:solidFill>
            <a:srgbClr val="FFFFFF"/>
          </a:solidFill>
          <a:ln w="30480">
            <a:solidFill>
              <a:srgbClr val="D8D4D4"/>
            </a:solidFill>
            <a:prstDash val="solid"/>
          </a:ln>
        </p:spPr>
      </p:sp>
      <p:sp>
        <p:nvSpPr>
          <p:cNvPr id="12" name="Shape 10"/>
          <p:cNvSpPr/>
          <p:nvPr/>
        </p:nvSpPr>
        <p:spPr>
          <a:xfrm>
            <a:off x="9599652" y="2714744"/>
            <a:ext cx="121920" cy="3995023"/>
          </a:xfrm>
          <a:prstGeom prst="roundRect">
            <a:avLst>
              <a:gd name="adj" fmla="val 30368"/>
            </a:avLst>
          </a:prstGeom>
          <a:solidFill>
            <a:srgbClr val="2D2E34"/>
          </a:solidFill>
          <a:ln/>
        </p:spPr>
      </p:sp>
      <p:sp>
        <p:nvSpPr>
          <p:cNvPr id="13" name="Text 11"/>
          <p:cNvSpPr/>
          <p:nvPr/>
        </p:nvSpPr>
        <p:spPr>
          <a:xfrm>
            <a:off x="9998869" y="2992041"/>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Outlier Detection</a:t>
            </a:r>
            <a:endParaRPr lang="en-US" sz="2200" dirty="0"/>
          </a:p>
        </p:txBody>
      </p:sp>
      <p:sp>
        <p:nvSpPr>
          <p:cNvPr id="14" name="Text 12"/>
          <p:cNvSpPr/>
          <p:nvPr/>
        </p:nvSpPr>
        <p:spPr>
          <a:xfrm>
            <a:off x="9998869" y="3490674"/>
            <a:ext cx="3490317" cy="1850827"/>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IQR method identified only 9 outliers (1.42% of data) at end-of-life for battery B0006, indicating clean dataset with natural erratic behavior near failure.</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3798" y="1765697"/>
            <a:ext cx="6306264"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Knee Point Detection</a:t>
            </a:r>
            <a:endParaRPr lang="en-US" sz="4400" dirty="0"/>
          </a:p>
        </p:txBody>
      </p:sp>
      <p:sp>
        <p:nvSpPr>
          <p:cNvPr id="3" name="Text 1"/>
          <p:cNvSpPr/>
          <p:nvPr/>
        </p:nvSpPr>
        <p:spPr>
          <a:xfrm>
            <a:off x="863798" y="2960608"/>
            <a:ext cx="12902803"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Knee points mark the transition from slow, linear degradation to rapid exponential degradation — critical for RUL prediction.</a:t>
            </a:r>
            <a:endParaRPr lang="en-US" sz="1900" dirty="0"/>
          </a:p>
        </p:txBody>
      </p:sp>
      <p:sp>
        <p:nvSpPr>
          <p:cNvPr id="4" name="Text 2"/>
          <p:cNvSpPr/>
          <p:nvPr/>
        </p:nvSpPr>
        <p:spPr>
          <a:xfrm>
            <a:off x="863798" y="3731776"/>
            <a:ext cx="4095274" cy="814507"/>
          </a:xfrm>
          <a:prstGeom prst="rect">
            <a:avLst/>
          </a:prstGeom>
          <a:noFill/>
          <a:ln/>
        </p:spPr>
        <p:txBody>
          <a:bodyPr wrap="none" lIns="0" tIns="0" rIns="0" bIns="0" rtlCol="0" anchor="t"/>
          <a:lstStyle/>
          <a:p>
            <a:pPr algn="ctr" indent="0" marL="0">
              <a:lnSpc>
                <a:spcPts val="6400"/>
              </a:lnSpc>
              <a:buNone/>
            </a:pPr>
            <a:r>
              <a:rPr lang="en-US" sz="6400" b="1" dirty="0">
                <a:solidFill>
                  <a:srgbClr val="3D3838"/>
                </a:solidFill>
                <a:latin typeface="Montserrat Bold" pitchFamily="34" charset="0"/>
                <a:ea typeface="Montserrat Bold" pitchFamily="34" charset="-122"/>
                <a:cs typeface="Montserrat Bold" pitchFamily="34" charset="-120"/>
              </a:rPr>
              <a:t>13</a:t>
            </a:r>
            <a:endParaRPr lang="en-US" sz="6400" dirty="0"/>
          </a:p>
        </p:txBody>
      </p:sp>
      <p:sp>
        <p:nvSpPr>
          <p:cNvPr id="5" name="Text 3"/>
          <p:cNvSpPr/>
          <p:nvPr/>
        </p:nvSpPr>
        <p:spPr>
          <a:xfrm>
            <a:off x="1508998" y="4854654"/>
            <a:ext cx="2804874" cy="350639"/>
          </a:xfrm>
          <a:prstGeom prst="rect">
            <a:avLst/>
          </a:prstGeom>
          <a:noFill/>
          <a:ln/>
        </p:spPr>
        <p:txBody>
          <a:bodyPr wrap="non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B0005 &amp; B0006</a:t>
            </a:r>
            <a:endParaRPr lang="en-US" sz="2200" dirty="0"/>
          </a:p>
        </p:txBody>
      </p:sp>
      <p:sp>
        <p:nvSpPr>
          <p:cNvPr id="6" name="Text 4"/>
          <p:cNvSpPr/>
          <p:nvPr/>
        </p:nvSpPr>
        <p:spPr>
          <a:xfrm>
            <a:off x="863798" y="5353288"/>
            <a:ext cx="4095274" cy="1110496"/>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Both batteries showed knee point at cycle 13, indicating similar degradation patterns.</a:t>
            </a:r>
            <a:endParaRPr lang="en-US" sz="1900" dirty="0"/>
          </a:p>
        </p:txBody>
      </p:sp>
      <p:sp>
        <p:nvSpPr>
          <p:cNvPr id="7" name="Text 5"/>
          <p:cNvSpPr/>
          <p:nvPr/>
        </p:nvSpPr>
        <p:spPr>
          <a:xfrm>
            <a:off x="5267563" y="3731776"/>
            <a:ext cx="4095274" cy="814507"/>
          </a:xfrm>
          <a:prstGeom prst="rect">
            <a:avLst/>
          </a:prstGeom>
          <a:noFill/>
          <a:ln/>
        </p:spPr>
        <p:txBody>
          <a:bodyPr wrap="none" lIns="0" tIns="0" rIns="0" bIns="0" rtlCol="0" anchor="t"/>
          <a:lstStyle/>
          <a:p>
            <a:pPr algn="ctr" indent="0" marL="0">
              <a:lnSpc>
                <a:spcPts val="6400"/>
              </a:lnSpc>
              <a:buNone/>
            </a:pPr>
            <a:r>
              <a:rPr lang="en-US" sz="6400" b="1" dirty="0">
                <a:solidFill>
                  <a:srgbClr val="3D3838"/>
                </a:solidFill>
                <a:latin typeface="Montserrat Bold" pitchFamily="34" charset="0"/>
                <a:ea typeface="Montserrat Bold" pitchFamily="34" charset="-122"/>
                <a:cs typeface="Montserrat Bold" pitchFamily="34" charset="-120"/>
              </a:rPr>
              <a:t>9</a:t>
            </a:r>
            <a:endParaRPr lang="en-US" sz="6400" dirty="0"/>
          </a:p>
        </p:txBody>
      </p:sp>
      <p:sp>
        <p:nvSpPr>
          <p:cNvPr id="8" name="Text 6"/>
          <p:cNvSpPr/>
          <p:nvPr/>
        </p:nvSpPr>
        <p:spPr>
          <a:xfrm>
            <a:off x="5912763" y="4854654"/>
            <a:ext cx="2804874" cy="350639"/>
          </a:xfrm>
          <a:prstGeom prst="rect">
            <a:avLst/>
          </a:prstGeom>
          <a:noFill/>
          <a:ln/>
        </p:spPr>
        <p:txBody>
          <a:bodyPr wrap="non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B0007</a:t>
            </a:r>
            <a:endParaRPr lang="en-US" sz="2200" dirty="0"/>
          </a:p>
        </p:txBody>
      </p:sp>
      <p:sp>
        <p:nvSpPr>
          <p:cNvPr id="9" name="Text 7"/>
          <p:cNvSpPr/>
          <p:nvPr/>
        </p:nvSpPr>
        <p:spPr>
          <a:xfrm>
            <a:off x="5267563" y="5353288"/>
            <a:ext cx="4095274" cy="740331"/>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Earliest knee point detected at cycle 9, suggesting faster initial degradation.</a:t>
            </a:r>
            <a:endParaRPr lang="en-US" sz="1900" dirty="0"/>
          </a:p>
        </p:txBody>
      </p:sp>
      <p:sp>
        <p:nvSpPr>
          <p:cNvPr id="10" name="Text 8"/>
          <p:cNvSpPr/>
          <p:nvPr/>
        </p:nvSpPr>
        <p:spPr>
          <a:xfrm>
            <a:off x="9671328" y="3731776"/>
            <a:ext cx="4095274" cy="814507"/>
          </a:xfrm>
          <a:prstGeom prst="rect">
            <a:avLst/>
          </a:prstGeom>
          <a:noFill/>
          <a:ln/>
        </p:spPr>
        <p:txBody>
          <a:bodyPr wrap="none" lIns="0" tIns="0" rIns="0" bIns="0" rtlCol="0" anchor="t"/>
          <a:lstStyle/>
          <a:p>
            <a:pPr algn="ctr" indent="0" marL="0">
              <a:lnSpc>
                <a:spcPts val="6400"/>
              </a:lnSpc>
              <a:buNone/>
            </a:pPr>
            <a:r>
              <a:rPr lang="en-US" sz="6400" b="1" dirty="0">
                <a:solidFill>
                  <a:srgbClr val="3D3838"/>
                </a:solidFill>
                <a:latin typeface="Montserrat Bold" pitchFamily="34" charset="0"/>
                <a:ea typeface="Montserrat Bold" pitchFamily="34" charset="-122"/>
                <a:cs typeface="Montserrat Bold" pitchFamily="34" charset="-120"/>
              </a:rPr>
              <a:t>17</a:t>
            </a:r>
            <a:endParaRPr lang="en-US" sz="6400" dirty="0"/>
          </a:p>
        </p:txBody>
      </p:sp>
      <p:sp>
        <p:nvSpPr>
          <p:cNvPr id="11" name="Text 9"/>
          <p:cNvSpPr/>
          <p:nvPr/>
        </p:nvSpPr>
        <p:spPr>
          <a:xfrm>
            <a:off x="10316528" y="4854654"/>
            <a:ext cx="2804874" cy="350639"/>
          </a:xfrm>
          <a:prstGeom prst="rect">
            <a:avLst/>
          </a:prstGeom>
          <a:noFill/>
          <a:ln/>
        </p:spPr>
        <p:txBody>
          <a:bodyPr wrap="non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B0018</a:t>
            </a:r>
            <a:endParaRPr lang="en-US" sz="2200" dirty="0"/>
          </a:p>
        </p:txBody>
      </p:sp>
      <p:sp>
        <p:nvSpPr>
          <p:cNvPr id="12" name="Text 10"/>
          <p:cNvSpPr/>
          <p:nvPr/>
        </p:nvSpPr>
        <p:spPr>
          <a:xfrm>
            <a:off x="9671328" y="5353288"/>
            <a:ext cx="4095274" cy="1110496"/>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Latest knee point at cycle 17, demonstrating more stable early-life performance.</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3798" y="2009418"/>
            <a:ext cx="6037064"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Feature Engineering</a:t>
            </a:r>
            <a:endParaRPr lang="en-US" sz="4400" dirty="0"/>
          </a:p>
        </p:txBody>
      </p:sp>
      <p:sp>
        <p:nvSpPr>
          <p:cNvPr id="3" name="Text 1"/>
          <p:cNvSpPr/>
          <p:nvPr/>
        </p:nvSpPr>
        <p:spPr>
          <a:xfrm>
            <a:off x="863798" y="3327678"/>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Voltage-Based</a:t>
            </a:r>
            <a:endParaRPr lang="en-US" sz="2200" dirty="0"/>
          </a:p>
        </p:txBody>
      </p:sp>
      <p:sp>
        <p:nvSpPr>
          <p:cNvPr id="4" name="Text 2"/>
          <p:cNvSpPr/>
          <p:nvPr/>
        </p:nvSpPr>
        <p:spPr>
          <a:xfrm>
            <a:off x="863798" y="3925133"/>
            <a:ext cx="3854410"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Delta_V (Voltage Drop)</a:t>
            </a:r>
            <a:endParaRPr lang="en-US" sz="1900" dirty="0"/>
          </a:p>
        </p:txBody>
      </p:sp>
      <p:sp>
        <p:nvSpPr>
          <p:cNvPr id="5" name="Text 3"/>
          <p:cNvSpPr/>
          <p:nvPr/>
        </p:nvSpPr>
        <p:spPr>
          <a:xfrm>
            <a:off x="863798" y="4517350"/>
            <a:ext cx="3854410"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Difference between initial and final voltage during discharge. Larger drops indicate higher internal resistance and degradation.</a:t>
            </a:r>
            <a:endParaRPr lang="en-US" sz="1900" dirty="0"/>
          </a:p>
        </p:txBody>
      </p:sp>
      <p:sp>
        <p:nvSpPr>
          <p:cNvPr id="6" name="Text 4"/>
          <p:cNvSpPr/>
          <p:nvPr/>
        </p:nvSpPr>
        <p:spPr>
          <a:xfrm>
            <a:off x="5328047" y="3327678"/>
            <a:ext cx="2910483"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Temperature-Based</a:t>
            </a:r>
            <a:endParaRPr lang="en-US" sz="2200" dirty="0"/>
          </a:p>
        </p:txBody>
      </p:sp>
      <p:sp>
        <p:nvSpPr>
          <p:cNvPr id="7" name="Text 5"/>
          <p:cNvSpPr/>
          <p:nvPr/>
        </p:nvSpPr>
        <p:spPr>
          <a:xfrm>
            <a:off x="5328047" y="3925133"/>
            <a:ext cx="3854410"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Delta_T (Temperature Increase)</a:t>
            </a:r>
            <a:endParaRPr lang="en-US" sz="1900" dirty="0"/>
          </a:p>
        </p:txBody>
      </p:sp>
      <p:sp>
        <p:nvSpPr>
          <p:cNvPr id="8" name="Text 6"/>
          <p:cNvSpPr/>
          <p:nvPr/>
        </p:nvSpPr>
        <p:spPr>
          <a:xfrm>
            <a:off x="5328047" y="4517350"/>
            <a:ext cx="3854410"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Difference between maximum and initial temperature. Aging batteries generate more heat due to increased internal resistance.</a:t>
            </a:r>
            <a:endParaRPr lang="en-US" sz="1900" dirty="0"/>
          </a:p>
        </p:txBody>
      </p:sp>
      <p:sp>
        <p:nvSpPr>
          <p:cNvPr id="9" name="Text 7"/>
          <p:cNvSpPr/>
          <p:nvPr/>
        </p:nvSpPr>
        <p:spPr>
          <a:xfrm>
            <a:off x="9792295" y="3327678"/>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Time-Based</a:t>
            </a:r>
            <a:endParaRPr lang="en-US" sz="2200" dirty="0"/>
          </a:p>
        </p:txBody>
      </p:sp>
      <p:sp>
        <p:nvSpPr>
          <p:cNvPr id="10" name="Text 8"/>
          <p:cNvSpPr/>
          <p:nvPr/>
        </p:nvSpPr>
        <p:spPr>
          <a:xfrm>
            <a:off x="9792295" y="3925133"/>
            <a:ext cx="3989427"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Discharge_Time</a:t>
            </a:r>
            <a:endParaRPr lang="en-US" sz="1900" dirty="0"/>
          </a:p>
        </p:txBody>
      </p:sp>
      <p:sp>
        <p:nvSpPr>
          <p:cNvPr id="11" name="Text 9"/>
          <p:cNvSpPr/>
          <p:nvPr/>
        </p:nvSpPr>
        <p:spPr>
          <a:xfrm>
            <a:off x="9792295" y="4517350"/>
            <a:ext cx="3989427"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Total duration of discharge cycle. Shorter discharge times for same load indicate lower capacity and degradation.</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3798" y="920948"/>
            <a:ext cx="7029331"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Model Training Strategy</a:t>
            </a:r>
            <a:endParaRPr lang="en-US" sz="4400" dirty="0"/>
          </a:p>
        </p:txBody>
      </p:sp>
      <p:sp>
        <p:nvSpPr>
          <p:cNvPr id="3" name="Shape 1"/>
          <p:cNvSpPr/>
          <p:nvPr/>
        </p:nvSpPr>
        <p:spPr>
          <a:xfrm>
            <a:off x="863798" y="4712256"/>
            <a:ext cx="12902803" cy="30480"/>
          </a:xfrm>
          <a:prstGeom prst="roundRect">
            <a:avLst>
              <a:gd name="adj" fmla="val 121472"/>
            </a:avLst>
          </a:prstGeom>
          <a:solidFill>
            <a:srgbClr val="D8D4D4"/>
          </a:solidFill>
          <a:ln/>
        </p:spPr>
      </p:sp>
      <p:sp>
        <p:nvSpPr>
          <p:cNvPr id="4" name="Shape 2"/>
          <p:cNvSpPr/>
          <p:nvPr/>
        </p:nvSpPr>
        <p:spPr>
          <a:xfrm>
            <a:off x="3336488" y="3971806"/>
            <a:ext cx="30480" cy="740450"/>
          </a:xfrm>
          <a:prstGeom prst="roundRect">
            <a:avLst>
              <a:gd name="adj" fmla="val 121472"/>
            </a:avLst>
          </a:prstGeom>
          <a:solidFill>
            <a:srgbClr val="D8D4D4"/>
          </a:solidFill>
          <a:ln/>
        </p:spPr>
      </p:sp>
      <p:sp>
        <p:nvSpPr>
          <p:cNvPr id="5" name="Shape 3"/>
          <p:cNvSpPr/>
          <p:nvPr/>
        </p:nvSpPr>
        <p:spPr>
          <a:xfrm>
            <a:off x="3074075" y="4434602"/>
            <a:ext cx="555308" cy="555308"/>
          </a:xfrm>
          <a:prstGeom prst="roundRect">
            <a:avLst>
              <a:gd name="adj" fmla="val 6667"/>
            </a:avLst>
          </a:prstGeom>
          <a:solidFill>
            <a:srgbClr val="F2EEEE"/>
          </a:solidFill>
          <a:ln/>
        </p:spPr>
      </p:sp>
      <p:sp>
        <p:nvSpPr>
          <p:cNvPr id="6" name="Text 4"/>
          <p:cNvSpPr/>
          <p:nvPr/>
        </p:nvSpPr>
        <p:spPr>
          <a:xfrm>
            <a:off x="3183493" y="4501932"/>
            <a:ext cx="336471" cy="420648"/>
          </a:xfrm>
          <a:prstGeom prst="rect">
            <a:avLst/>
          </a:prstGeom>
          <a:noFill/>
          <a:ln/>
        </p:spPr>
        <p:txBody>
          <a:bodyPr wrap="none" lIns="0" tIns="0" rIns="0" bIns="0" rtlCol="0" anchor="t"/>
          <a:lstStyle/>
          <a:p>
            <a:pPr algn="ctr" indent="0" marL="0">
              <a:lnSpc>
                <a:spcPts val="2650"/>
              </a:lnSpc>
              <a:buNone/>
            </a:pPr>
            <a:r>
              <a:rPr lang="en-US" sz="2650" b="1" dirty="0">
                <a:solidFill>
                  <a:srgbClr val="3D3838"/>
                </a:solidFill>
                <a:latin typeface="Montserrat Bold" pitchFamily="34" charset="0"/>
                <a:ea typeface="Montserrat Bold" pitchFamily="34" charset="-122"/>
                <a:cs typeface="Montserrat Bold" pitchFamily="34" charset="-120"/>
              </a:rPr>
              <a:t>1</a:t>
            </a:r>
            <a:endParaRPr lang="en-US" sz="2650" dirty="0"/>
          </a:p>
        </p:txBody>
      </p:sp>
      <p:sp>
        <p:nvSpPr>
          <p:cNvPr id="7" name="Text 5"/>
          <p:cNvSpPr/>
          <p:nvPr/>
        </p:nvSpPr>
        <p:spPr>
          <a:xfrm>
            <a:off x="1949291" y="2115860"/>
            <a:ext cx="2804874" cy="350639"/>
          </a:xfrm>
          <a:prstGeom prst="rect">
            <a:avLst/>
          </a:prstGeom>
          <a:noFill/>
          <a:ln/>
        </p:spPr>
        <p:txBody>
          <a:bodyPr wrap="non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Data Split</a:t>
            </a:r>
            <a:endParaRPr lang="en-US" sz="2200" dirty="0"/>
          </a:p>
        </p:txBody>
      </p:sp>
      <p:sp>
        <p:nvSpPr>
          <p:cNvPr id="8" name="Text 6"/>
          <p:cNvSpPr/>
          <p:nvPr/>
        </p:nvSpPr>
        <p:spPr>
          <a:xfrm>
            <a:off x="1110615" y="2614493"/>
            <a:ext cx="4482346" cy="1110496"/>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Training: B0005, B0006, B0007 (504 samples). Testing: B0018 (132 samples) for generalization validation.</a:t>
            </a:r>
            <a:endParaRPr lang="en-US" sz="1900" dirty="0"/>
          </a:p>
        </p:txBody>
      </p:sp>
      <p:sp>
        <p:nvSpPr>
          <p:cNvPr id="9" name="Shape 7"/>
          <p:cNvSpPr/>
          <p:nvPr/>
        </p:nvSpPr>
        <p:spPr>
          <a:xfrm>
            <a:off x="5978723" y="4712256"/>
            <a:ext cx="30480" cy="740450"/>
          </a:xfrm>
          <a:prstGeom prst="roundRect">
            <a:avLst>
              <a:gd name="adj" fmla="val 121472"/>
            </a:avLst>
          </a:prstGeom>
          <a:solidFill>
            <a:srgbClr val="D8D4D4"/>
          </a:solidFill>
          <a:ln/>
        </p:spPr>
      </p:sp>
      <p:sp>
        <p:nvSpPr>
          <p:cNvPr id="10" name="Shape 8"/>
          <p:cNvSpPr/>
          <p:nvPr/>
        </p:nvSpPr>
        <p:spPr>
          <a:xfrm>
            <a:off x="5716310" y="4434602"/>
            <a:ext cx="555308" cy="555308"/>
          </a:xfrm>
          <a:prstGeom prst="roundRect">
            <a:avLst>
              <a:gd name="adj" fmla="val 6667"/>
            </a:avLst>
          </a:prstGeom>
          <a:solidFill>
            <a:srgbClr val="F2EEEE"/>
          </a:solidFill>
          <a:ln/>
        </p:spPr>
      </p:sp>
      <p:sp>
        <p:nvSpPr>
          <p:cNvPr id="11" name="Text 9"/>
          <p:cNvSpPr/>
          <p:nvPr/>
        </p:nvSpPr>
        <p:spPr>
          <a:xfrm>
            <a:off x="5825728" y="4501932"/>
            <a:ext cx="336471" cy="420648"/>
          </a:xfrm>
          <a:prstGeom prst="rect">
            <a:avLst/>
          </a:prstGeom>
          <a:noFill/>
          <a:ln/>
        </p:spPr>
        <p:txBody>
          <a:bodyPr wrap="none" lIns="0" tIns="0" rIns="0" bIns="0" rtlCol="0" anchor="t"/>
          <a:lstStyle/>
          <a:p>
            <a:pPr algn="ctr" indent="0" marL="0">
              <a:lnSpc>
                <a:spcPts val="2650"/>
              </a:lnSpc>
              <a:buNone/>
            </a:pPr>
            <a:r>
              <a:rPr lang="en-US" sz="2650" b="1" dirty="0">
                <a:solidFill>
                  <a:srgbClr val="3D3838"/>
                </a:solidFill>
                <a:latin typeface="Montserrat Bold" pitchFamily="34" charset="0"/>
                <a:ea typeface="Montserrat Bold" pitchFamily="34" charset="-122"/>
                <a:cs typeface="Montserrat Bold" pitchFamily="34" charset="-120"/>
              </a:rPr>
              <a:t>2</a:t>
            </a:r>
            <a:endParaRPr lang="en-US" sz="2650" dirty="0"/>
          </a:p>
        </p:txBody>
      </p:sp>
      <p:sp>
        <p:nvSpPr>
          <p:cNvPr id="12" name="Text 10"/>
          <p:cNvSpPr/>
          <p:nvPr/>
        </p:nvSpPr>
        <p:spPr>
          <a:xfrm>
            <a:off x="4591526" y="5699522"/>
            <a:ext cx="2804874" cy="350639"/>
          </a:xfrm>
          <a:prstGeom prst="rect">
            <a:avLst/>
          </a:prstGeom>
          <a:noFill/>
          <a:ln/>
        </p:spPr>
        <p:txBody>
          <a:bodyPr wrap="non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Feature Scaling</a:t>
            </a:r>
            <a:endParaRPr lang="en-US" sz="2200" dirty="0"/>
          </a:p>
        </p:txBody>
      </p:sp>
      <p:sp>
        <p:nvSpPr>
          <p:cNvPr id="13" name="Text 11"/>
          <p:cNvSpPr/>
          <p:nvPr/>
        </p:nvSpPr>
        <p:spPr>
          <a:xfrm>
            <a:off x="3752850" y="6198156"/>
            <a:ext cx="4482346" cy="1110496"/>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MinMax normalization (0-1 range) applied to cycle, voltage, current, and temperature features.</a:t>
            </a:r>
            <a:endParaRPr lang="en-US" sz="1900" dirty="0"/>
          </a:p>
        </p:txBody>
      </p:sp>
      <p:sp>
        <p:nvSpPr>
          <p:cNvPr id="14" name="Shape 12"/>
          <p:cNvSpPr/>
          <p:nvPr/>
        </p:nvSpPr>
        <p:spPr>
          <a:xfrm>
            <a:off x="8620958" y="3971806"/>
            <a:ext cx="30480" cy="740450"/>
          </a:xfrm>
          <a:prstGeom prst="roundRect">
            <a:avLst>
              <a:gd name="adj" fmla="val 121472"/>
            </a:avLst>
          </a:prstGeom>
          <a:solidFill>
            <a:srgbClr val="D8D4D4"/>
          </a:solidFill>
          <a:ln/>
        </p:spPr>
      </p:sp>
      <p:sp>
        <p:nvSpPr>
          <p:cNvPr id="15" name="Shape 13"/>
          <p:cNvSpPr/>
          <p:nvPr/>
        </p:nvSpPr>
        <p:spPr>
          <a:xfrm>
            <a:off x="8358545" y="4434602"/>
            <a:ext cx="555308" cy="555308"/>
          </a:xfrm>
          <a:prstGeom prst="roundRect">
            <a:avLst>
              <a:gd name="adj" fmla="val 6667"/>
            </a:avLst>
          </a:prstGeom>
          <a:solidFill>
            <a:srgbClr val="F2EEEE"/>
          </a:solidFill>
          <a:ln/>
        </p:spPr>
      </p:sp>
      <p:sp>
        <p:nvSpPr>
          <p:cNvPr id="16" name="Text 14"/>
          <p:cNvSpPr/>
          <p:nvPr/>
        </p:nvSpPr>
        <p:spPr>
          <a:xfrm>
            <a:off x="8467963" y="4501932"/>
            <a:ext cx="336471" cy="420648"/>
          </a:xfrm>
          <a:prstGeom prst="rect">
            <a:avLst/>
          </a:prstGeom>
          <a:noFill/>
          <a:ln/>
        </p:spPr>
        <p:txBody>
          <a:bodyPr wrap="none" lIns="0" tIns="0" rIns="0" bIns="0" rtlCol="0" anchor="t"/>
          <a:lstStyle/>
          <a:p>
            <a:pPr algn="ctr" indent="0" marL="0">
              <a:lnSpc>
                <a:spcPts val="2650"/>
              </a:lnSpc>
              <a:buNone/>
            </a:pPr>
            <a:r>
              <a:rPr lang="en-US" sz="2650" b="1" dirty="0">
                <a:solidFill>
                  <a:srgbClr val="3D3838"/>
                </a:solidFill>
                <a:latin typeface="Montserrat Bold" pitchFamily="34" charset="0"/>
                <a:ea typeface="Montserrat Bold" pitchFamily="34" charset="-122"/>
                <a:cs typeface="Montserrat Bold" pitchFamily="34" charset="-120"/>
              </a:rPr>
              <a:t>3</a:t>
            </a:r>
            <a:endParaRPr lang="en-US" sz="2650" dirty="0"/>
          </a:p>
        </p:txBody>
      </p:sp>
      <p:sp>
        <p:nvSpPr>
          <p:cNvPr id="17" name="Text 15"/>
          <p:cNvSpPr/>
          <p:nvPr/>
        </p:nvSpPr>
        <p:spPr>
          <a:xfrm>
            <a:off x="7233761" y="2115860"/>
            <a:ext cx="2804874" cy="350639"/>
          </a:xfrm>
          <a:prstGeom prst="rect">
            <a:avLst/>
          </a:prstGeom>
          <a:noFill/>
          <a:ln/>
        </p:spPr>
        <p:txBody>
          <a:bodyPr wrap="non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Target Variable</a:t>
            </a:r>
            <a:endParaRPr lang="en-US" sz="2200" dirty="0"/>
          </a:p>
        </p:txBody>
      </p:sp>
      <p:sp>
        <p:nvSpPr>
          <p:cNvPr id="18" name="Text 16"/>
          <p:cNvSpPr/>
          <p:nvPr/>
        </p:nvSpPr>
        <p:spPr>
          <a:xfrm>
            <a:off x="6395085" y="2614493"/>
            <a:ext cx="4482346" cy="1110496"/>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State of Health (SoH) computed as current capacity divided by initial capacity for each battery.</a:t>
            </a:r>
            <a:endParaRPr lang="en-US" sz="1900" dirty="0"/>
          </a:p>
        </p:txBody>
      </p:sp>
      <p:sp>
        <p:nvSpPr>
          <p:cNvPr id="19" name="Shape 17"/>
          <p:cNvSpPr/>
          <p:nvPr/>
        </p:nvSpPr>
        <p:spPr>
          <a:xfrm>
            <a:off x="11263193" y="4712256"/>
            <a:ext cx="30480" cy="740450"/>
          </a:xfrm>
          <a:prstGeom prst="roundRect">
            <a:avLst>
              <a:gd name="adj" fmla="val 121472"/>
            </a:avLst>
          </a:prstGeom>
          <a:solidFill>
            <a:srgbClr val="D8D4D4"/>
          </a:solidFill>
          <a:ln/>
        </p:spPr>
      </p:sp>
      <p:sp>
        <p:nvSpPr>
          <p:cNvPr id="20" name="Shape 18"/>
          <p:cNvSpPr/>
          <p:nvPr/>
        </p:nvSpPr>
        <p:spPr>
          <a:xfrm>
            <a:off x="11000780" y="4434602"/>
            <a:ext cx="555308" cy="555308"/>
          </a:xfrm>
          <a:prstGeom prst="roundRect">
            <a:avLst>
              <a:gd name="adj" fmla="val 6667"/>
            </a:avLst>
          </a:prstGeom>
          <a:solidFill>
            <a:srgbClr val="F2EEEE"/>
          </a:solidFill>
          <a:ln/>
        </p:spPr>
      </p:sp>
      <p:sp>
        <p:nvSpPr>
          <p:cNvPr id="21" name="Text 19"/>
          <p:cNvSpPr/>
          <p:nvPr/>
        </p:nvSpPr>
        <p:spPr>
          <a:xfrm>
            <a:off x="11110198" y="4501932"/>
            <a:ext cx="336471" cy="420648"/>
          </a:xfrm>
          <a:prstGeom prst="rect">
            <a:avLst/>
          </a:prstGeom>
          <a:noFill/>
          <a:ln/>
        </p:spPr>
        <p:txBody>
          <a:bodyPr wrap="none" lIns="0" tIns="0" rIns="0" bIns="0" rtlCol="0" anchor="t"/>
          <a:lstStyle/>
          <a:p>
            <a:pPr algn="ctr" indent="0" marL="0">
              <a:lnSpc>
                <a:spcPts val="2650"/>
              </a:lnSpc>
              <a:buNone/>
            </a:pPr>
            <a:r>
              <a:rPr lang="en-US" sz="2650" b="1" dirty="0">
                <a:solidFill>
                  <a:srgbClr val="3D3838"/>
                </a:solidFill>
                <a:latin typeface="Montserrat Bold" pitchFamily="34" charset="0"/>
                <a:ea typeface="Montserrat Bold" pitchFamily="34" charset="-122"/>
                <a:cs typeface="Montserrat Bold" pitchFamily="34" charset="-120"/>
              </a:rPr>
              <a:t>4</a:t>
            </a:r>
            <a:endParaRPr lang="en-US" sz="2650" dirty="0"/>
          </a:p>
        </p:txBody>
      </p:sp>
      <p:sp>
        <p:nvSpPr>
          <p:cNvPr id="22" name="Text 20"/>
          <p:cNvSpPr/>
          <p:nvPr/>
        </p:nvSpPr>
        <p:spPr>
          <a:xfrm>
            <a:off x="9875996" y="5699522"/>
            <a:ext cx="2804874" cy="350639"/>
          </a:xfrm>
          <a:prstGeom prst="rect">
            <a:avLst/>
          </a:prstGeom>
          <a:noFill/>
          <a:ln/>
        </p:spPr>
        <p:txBody>
          <a:bodyPr wrap="non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Sequence Creation</a:t>
            </a:r>
            <a:endParaRPr lang="en-US" sz="2200" dirty="0"/>
          </a:p>
        </p:txBody>
      </p:sp>
      <p:sp>
        <p:nvSpPr>
          <p:cNvPr id="23" name="Text 21"/>
          <p:cNvSpPr/>
          <p:nvPr/>
        </p:nvSpPr>
        <p:spPr>
          <a:xfrm>
            <a:off x="9037320" y="6198156"/>
            <a:ext cx="4482346" cy="1110496"/>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For LSTM/GRU: 10-30 timestep sequences created to capture temporal degradation patterns.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4361" y="474821"/>
            <a:ext cx="5850850" cy="490538"/>
          </a:xfrm>
          <a:prstGeom prst="rect">
            <a:avLst/>
          </a:prstGeom>
          <a:noFill/>
          <a:ln/>
        </p:spPr>
        <p:txBody>
          <a:bodyPr wrap="none" lIns="0" tIns="0" rIns="0" bIns="0" rtlCol="0" anchor="t"/>
          <a:lstStyle/>
          <a:p>
            <a:pPr algn="l" indent="0" marL="0">
              <a:lnSpc>
                <a:spcPts val="3850"/>
              </a:lnSpc>
              <a:buNone/>
            </a:pPr>
            <a:r>
              <a:rPr lang="en-US" sz="3050" b="1" dirty="0">
                <a:solidFill>
                  <a:srgbClr val="000000"/>
                </a:solidFill>
                <a:latin typeface="Montserrat Bold" pitchFamily="34" charset="0"/>
                <a:ea typeface="Montserrat Bold" pitchFamily="34" charset="-122"/>
                <a:cs typeface="Montserrat Bold" pitchFamily="34" charset="-120"/>
              </a:rPr>
              <a:t>Supervised Learning Results</a:t>
            </a:r>
            <a:endParaRPr lang="en-US" sz="3050" dirty="0"/>
          </a:p>
        </p:txBody>
      </p:sp>
      <p:pic>
        <p:nvPicPr>
          <p:cNvPr id="3" name="Image 0" descr="preencoded.png">    </p:cNvPr>
          <p:cNvPicPr>
            <a:picLocks noChangeAspect="1"/>
          </p:cNvPicPr>
          <p:nvPr/>
        </p:nvPicPr>
        <p:blipFill>
          <a:blip r:embed="rId1"/>
          <a:stretch>
            <a:fillRect/>
          </a:stretch>
        </p:blipFill>
        <p:spPr>
          <a:xfrm>
            <a:off x="604361" y="1310640"/>
            <a:ext cx="13421678" cy="6997898"/>
          </a:xfrm>
          <a:prstGeom prst="rect">
            <a:avLst/>
          </a:prstGeom>
        </p:spPr>
      </p:pic>
      <p:sp>
        <p:nvSpPr>
          <p:cNvPr id="4" name="Shape 1"/>
          <p:cNvSpPr/>
          <p:nvPr/>
        </p:nvSpPr>
        <p:spPr>
          <a:xfrm>
            <a:off x="4336018" y="8308538"/>
            <a:ext cx="172641" cy="172641"/>
          </a:xfrm>
          <a:prstGeom prst="roundRect">
            <a:avLst>
              <a:gd name="adj" fmla="val 10593"/>
            </a:avLst>
          </a:prstGeom>
          <a:solidFill>
            <a:srgbClr val="232429"/>
          </a:solidFill>
          <a:ln/>
        </p:spPr>
      </p:sp>
      <p:sp>
        <p:nvSpPr>
          <p:cNvPr id="5" name="Text 2"/>
          <p:cNvSpPr/>
          <p:nvPr/>
        </p:nvSpPr>
        <p:spPr>
          <a:xfrm>
            <a:off x="4569619" y="8308538"/>
            <a:ext cx="406956" cy="172641"/>
          </a:xfrm>
          <a:prstGeom prst="rect">
            <a:avLst/>
          </a:prstGeom>
          <a:noFill/>
          <a:ln/>
        </p:spPr>
        <p:txBody>
          <a:bodyPr wrap="none" lIns="0" tIns="0" rIns="0" bIns="0" rtlCol="0" anchor="t"/>
          <a:lstStyle/>
          <a:p>
            <a:pPr algn="l" indent="0" marL="0">
              <a:lnSpc>
                <a:spcPts val="1350"/>
              </a:lnSpc>
              <a:buNone/>
            </a:pPr>
            <a:r>
              <a:rPr lang="en-US" sz="1350" dirty="0">
                <a:solidFill>
                  <a:srgbClr val="3D3838"/>
                </a:solidFill>
                <a:latin typeface="Source Sans 3" pitchFamily="34" charset="0"/>
                <a:ea typeface="Source Sans 3" pitchFamily="34" charset="-122"/>
                <a:cs typeface="Source Sans 3" pitchFamily="34" charset="-120"/>
              </a:rPr>
              <a:t>RMSE</a:t>
            </a:r>
            <a:endParaRPr lang="en-US" sz="1350" dirty="0"/>
          </a:p>
        </p:txBody>
      </p:sp>
      <p:sp>
        <p:nvSpPr>
          <p:cNvPr id="6" name="Shape 3"/>
          <p:cNvSpPr/>
          <p:nvPr/>
        </p:nvSpPr>
        <p:spPr>
          <a:xfrm>
            <a:off x="6902410" y="8308538"/>
            <a:ext cx="172641" cy="172641"/>
          </a:xfrm>
          <a:prstGeom prst="roundRect">
            <a:avLst>
              <a:gd name="adj" fmla="val 10593"/>
            </a:avLst>
          </a:prstGeom>
          <a:solidFill>
            <a:srgbClr val="464851"/>
          </a:solidFill>
          <a:ln/>
        </p:spPr>
      </p:sp>
      <p:sp>
        <p:nvSpPr>
          <p:cNvPr id="7" name="Text 4"/>
          <p:cNvSpPr/>
          <p:nvPr/>
        </p:nvSpPr>
        <p:spPr>
          <a:xfrm>
            <a:off x="7136011" y="8308538"/>
            <a:ext cx="591741" cy="172641"/>
          </a:xfrm>
          <a:prstGeom prst="rect">
            <a:avLst/>
          </a:prstGeom>
          <a:noFill/>
          <a:ln/>
        </p:spPr>
        <p:txBody>
          <a:bodyPr wrap="none" lIns="0" tIns="0" rIns="0" bIns="0" rtlCol="0" anchor="t"/>
          <a:lstStyle/>
          <a:p>
            <a:pPr algn="l" indent="0" marL="0">
              <a:lnSpc>
                <a:spcPts val="1350"/>
              </a:lnSpc>
              <a:buNone/>
            </a:pPr>
            <a:r>
              <a:rPr lang="en-US" sz="1350" dirty="0">
                <a:solidFill>
                  <a:srgbClr val="3D3838"/>
                </a:solidFill>
                <a:latin typeface="Source Sans 3" pitchFamily="34" charset="0"/>
                <a:ea typeface="Source Sans 3" pitchFamily="34" charset="-122"/>
                <a:cs typeface="Source Sans 3" pitchFamily="34" charset="-120"/>
              </a:rPr>
              <a:t>MAE (%)</a:t>
            </a:r>
            <a:endParaRPr lang="en-US" sz="1350" dirty="0"/>
          </a:p>
        </p:txBody>
      </p:sp>
      <p:sp>
        <p:nvSpPr>
          <p:cNvPr id="8" name="Shape 5"/>
          <p:cNvSpPr/>
          <p:nvPr/>
        </p:nvSpPr>
        <p:spPr>
          <a:xfrm>
            <a:off x="9653707" y="8308538"/>
            <a:ext cx="172641" cy="172641"/>
          </a:xfrm>
          <a:prstGeom prst="roundRect">
            <a:avLst>
              <a:gd name="adj" fmla="val 10593"/>
            </a:avLst>
          </a:prstGeom>
          <a:solidFill>
            <a:srgbClr val="696B79"/>
          </a:solidFill>
          <a:ln/>
        </p:spPr>
      </p:sp>
      <p:sp>
        <p:nvSpPr>
          <p:cNvPr id="9" name="Text 6"/>
          <p:cNvSpPr/>
          <p:nvPr/>
        </p:nvSpPr>
        <p:spPr>
          <a:xfrm>
            <a:off x="9887307" y="8308538"/>
            <a:ext cx="161687" cy="172641"/>
          </a:xfrm>
          <a:prstGeom prst="rect">
            <a:avLst/>
          </a:prstGeom>
          <a:noFill/>
          <a:ln/>
        </p:spPr>
        <p:txBody>
          <a:bodyPr wrap="none" lIns="0" tIns="0" rIns="0" bIns="0" rtlCol="0" anchor="t"/>
          <a:lstStyle/>
          <a:p>
            <a:pPr algn="l" indent="0" marL="0">
              <a:lnSpc>
                <a:spcPts val="1350"/>
              </a:lnSpc>
              <a:buNone/>
            </a:pPr>
            <a:r>
              <a:rPr lang="en-US" sz="1350" dirty="0">
                <a:solidFill>
                  <a:srgbClr val="3D3838"/>
                </a:solidFill>
                <a:latin typeface="Source Sans 3" pitchFamily="34" charset="0"/>
                <a:ea typeface="Source Sans 3" pitchFamily="34" charset="-122"/>
                <a:cs typeface="Source Sans 3" pitchFamily="34" charset="-120"/>
              </a:rPr>
              <a:t>R²</a:t>
            </a:r>
            <a:endParaRPr lang="en-US" sz="1350" dirty="0"/>
          </a:p>
        </p:txBody>
      </p:sp>
      <p:sp>
        <p:nvSpPr>
          <p:cNvPr id="10" name="Text 7"/>
          <p:cNvSpPr/>
          <p:nvPr/>
        </p:nvSpPr>
        <p:spPr>
          <a:xfrm>
            <a:off x="604361" y="9020889"/>
            <a:ext cx="13421678" cy="258961"/>
          </a:xfrm>
          <a:prstGeom prst="rect">
            <a:avLst/>
          </a:prstGeom>
          <a:noFill/>
          <a:ln/>
        </p:spPr>
        <p:txBody>
          <a:bodyPr wrap="none" lIns="0" tIns="0" rIns="0" bIns="0" rtlCol="0" anchor="t"/>
          <a:lstStyle/>
          <a:p>
            <a:pPr algn="l" indent="0" marL="0">
              <a:lnSpc>
                <a:spcPts val="2000"/>
              </a:lnSpc>
              <a:buNone/>
            </a:pPr>
            <a:r>
              <a:rPr lang="en-US" sz="1350" dirty="0">
                <a:solidFill>
                  <a:srgbClr val="3D3838"/>
                </a:solidFill>
                <a:latin typeface="Source Sans 3" pitchFamily="34" charset="0"/>
                <a:ea typeface="Source Sans 3" pitchFamily="34" charset="-122"/>
                <a:cs typeface="Source Sans 3" pitchFamily="34" charset="-120"/>
              </a:rPr>
              <a:t>All models exceeded the ±5% MAE target. GRU achieved lowest MAE (1.50%), while Random Forest had highest R² (0.9367).</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63798" y="1230154"/>
            <a:ext cx="8384977"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Model Performance Analysis</a:t>
            </a:r>
            <a:endParaRPr lang="en-US" sz="4400" dirty="0"/>
          </a:p>
        </p:txBody>
      </p:sp>
      <p:sp>
        <p:nvSpPr>
          <p:cNvPr id="3" name="Shape 1"/>
          <p:cNvSpPr/>
          <p:nvPr/>
        </p:nvSpPr>
        <p:spPr>
          <a:xfrm>
            <a:off x="863798" y="2425065"/>
            <a:ext cx="6327934" cy="2163723"/>
          </a:xfrm>
          <a:prstGeom prst="roundRect">
            <a:avLst>
              <a:gd name="adj" fmla="val 1711"/>
            </a:avLst>
          </a:prstGeom>
          <a:solidFill>
            <a:srgbClr val="FFFFFF"/>
          </a:solidFill>
          <a:ln w="30480">
            <a:solidFill>
              <a:srgbClr val="D8D4D4"/>
            </a:solidFill>
            <a:prstDash val="solid"/>
          </a:ln>
        </p:spPr>
      </p:sp>
      <p:sp>
        <p:nvSpPr>
          <p:cNvPr id="4" name="Text 2"/>
          <p:cNvSpPr/>
          <p:nvPr/>
        </p:nvSpPr>
        <p:spPr>
          <a:xfrm>
            <a:off x="1141095" y="2702362"/>
            <a:ext cx="4518898"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Random Forest: Top Performer</a:t>
            </a:r>
            <a:endParaRPr lang="en-US" sz="2200" dirty="0"/>
          </a:p>
        </p:txBody>
      </p:sp>
      <p:sp>
        <p:nvSpPr>
          <p:cNvPr id="5" name="Text 3"/>
          <p:cNvSpPr/>
          <p:nvPr/>
        </p:nvSpPr>
        <p:spPr>
          <a:xfrm>
            <a:off x="1141095" y="3200995"/>
            <a:ext cx="5773341"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Highest R² (0.9367) and lowest RMSE (0.0206). Excellent interpretability through feature importance. Strong baseline for production deployment.</a:t>
            </a:r>
            <a:endParaRPr lang="en-US" sz="1900" dirty="0"/>
          </a:p>
        </p:txBody>
      </p:sp>
      <p:sp>
        <p:nvSpPr>
          <p:cNvPr id="6" name="Shape 4"/>
          <p:cNvSpPr/>
          <p:nvPr/>
        </p:nvSpPr>
        <p:spPr>
          <a:xfrm>
            <a:off x="7438549" y="2425065"/>
            <a:ext cx="6328053" cy="2163723"/>
          </a:xfrm>
          <a:prstGeom prst="roundRect">
            <a:avLst>
              <a:gd name="adj" fmla="val 1711"/>
            </a:avLst>
          </a:prstGeom>
          <a:solidFill>
            <a:srgbClr val="FFFFFF"/>
          </a:solidFill>
          <a:ln w="30480">
            <a:solidFill>
              <a:srgbClr val="D8D4D4"/>
            </a:solidFill>
            <a:prstDash val="solid"/>
          </a:ln>
        </p:spPr>
      </p:sp>
      <p:sp>
        <p:nvSpPr>
          <p:cNvPr id="7" name="Text 5"/>
          <p:cNvSpPr/>
          <p:nvPr/>
        </p:nvSpPr>
        <p:spPr>
          <a:xfrm>
            <a:off x="7715845" y="2702362"/>
            <a:ext cx="3164800"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GRU: Most Consistent</a:t>
            </a:r>
            <a:endParaRPr lang="en-US" sz="2200" dirty="0"/>
          </a:p>
        </p:txBody>
      </p:sp>
      <p:sp>
        <p:nvSpPr>
          <p:cNvPr id="8" name="Text 6"/>
          <p:cNvSpPr/>
          <p:nvPr/>
        </p:nvSpPr>
        <p:spPr>
          <a:xfrm>
            <a:off x="7715845" y="3200995"/>
            <a:ext cx="5773460"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Lowest MAE (1.50%) across test batteries. Most robust to different battery behaviors. Best deep learning choice for sequential data.</a:t>
            </a:r>
            <a:endParaRPr lang="en-US" sz="1900" dirty="0"/>
          </a:p>
        </p:txBody>
      </p:sp>
      <p:sp>
        <p:nvSpPr>
          <p:cNvPr id="9" name="Shape 7"/>
          <p:cNvSpPr/>
          <p:nvPr/>
        </p:nvSpPr>
        <p:spPr>
          <a:xfrm>
            <a:off x="863798" y="4835604"/>
            <a:ext cx="6327934" cy="2163723"/>
          </a:xfrm>
          <a:prstGeom prst="roundRect">
            <a:avLst>
              <a:gd name="adj" fmla="val 1711"/>
            </a:avLst>
          </a:prstGeom>
          <a:solidFill>
            <a:srgbClr val="FFFFFF"/>
          </a:solidFill>
          <a:ln w="30480">
            <a:solidFill>
              <a:srgbClr val="D8D4D4"/>
            </a:solidFill>
            <a:prstDash val="solid"/>
          </a:ln>
        </p:spPr>
      </p:sp>
      <p:sp>
        <p:nvSpPr>
          <p:cNvPr id="10" name="Text 8"/>
          <p:cNvSpPr/>
          <p:nvPr/>
        </p:nvSpPr>
        <p:spPr>
          <a:xfrm>
            <a:off x="1141095" y="5112901"/>
            <a:ext cx="4114800"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XGBoost: Strong Alternative</a:t>
            </a:r>
            <a:endParaRPr lang="en-US" sz="2200" dirty="0"/>
          </a:p>
        </p:txBody>
      </p:sp>
      <p:sp>
        <p:nvSpPr>
          <p:cNvPr id="11" name="Text 9"/>
          <p:cNvSpPr/>
          <p:nvPr/>
        </p:nvSpPr>
        <p:spPr>
          <a:xfrm>
            <a:off x="1141095" y="5611535"/>
            <a:ext cx="5773341"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R² of 0.9276, very close to Random Forest. MAE of 1.76%. Excellent gradient boosting performance with minimal tuning.</a:t>
            </a:r>
            <a:endParaRPr lang="en-US" sz="1900" dirty="0"/>
          </a:p>
        </p:txBody>
      </p:sp>
      <p:sp>
        <p:nvSpPr>
          <p:cNvPr id="12" name="Shape 10"/>
          <p:cNvSpPr/>
          <p:nvPr/>
        </p:nvSpPr>
        <p:spPr>
          <a:xfrm>
            <a:off x="7438549" y="4835604"/>
            <a:ext cx="6328053" cy="2163723"/>
          </a:xfrm>
          <a:prstGeom prst="roundRect">
            <a:avLst>
              <a:gd name="adj" fmla="val 1711"/>
            </a:avLst>
          </a:prstGeom>
          <a:solidFill>
            <a:srgbClr val="FFFFFF"/>
          </a:solidFill>
          <a:ln w="30480">
            <a:solidFill>
              <a:srgbClr val="D8D4D4"/>
            </a:solidFill>
            <a:prstDash val="solid"/>
          </a:ln>
        </p:spPr>
      </p:sp>
      <p:sp>
        <p:nvSpPr>
          <p:cNvPr id="13" name="Text 11"/>
          <p:cNvSpPr/>
          <p:nvPr/>
        </p:nvSpPr>
        <p:spPr>
          <a:xfrm>
            <a:off x="7715845" y="5112901"/>
            <a:ext cx="2972753"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LSTM: Needs Tuning</a:t>
            </a:r>
            <a:endParaRPr lang="en-US" sz="2200" dirty="0"/>
          </a:p>
        </p:txBody>
      </p:sp>
      <p:sp>
        <p:nvSpPr>
          <p:cNvPr id="14" name="Text 12"/>
          <p:cNvSpPr/>
          <p:nvPr/>
        </p:nvSpPr>
        <p:spPr>
          <a:xfrm>
            <a:off x="7715845" y="5611535"/>
            <a:ext cx="5773460"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Inconsistent performance across batteries (R² 0.29-0.81). Sensitive to battery-specific patterns. Requires architecture optimization.</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63798" y="1463516"/>
            <a:ext cx="8178641"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Deep Learning Architecture</a:t>
            </a:r>
            <a:endParaRPr lang="en-US" sz="4400" dirty="0"/>
          </a:p>
        </p:txBody>
      </p:sp>
      <p:sp>
        <p:nvSpPr>
          <p:cNvPr id="3" name="Text 1"/>
          <p:cNvSpPr/>
          <p:nvPr/>
        </p:nvSpPr>
        <p:spPr>
          <a:xfrm>
            <a:off x="863798" y="2781776"/>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LSTM Model</a:t>
            </a:r>
            <a:endParaRPr lang="en-US" sz="2200" dirty="0"/>
          </a:p>
        </p:txBody>
      </p:sp>
      <p:sp>
        <p:nvSpPr>
          <p:cNvPr id="4" name="Text 2"/>
          <p:cNvSpPr/>
          <p:nvPr/>
        </p:nvSpPr>
        <p:spPr>
          <a:xfrm>
            <a:off x="863798" y="3379232"/>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Input: 10 timesteps × 4 features</a:t>
            </a:r>
            <a:endParaRPr lang="en-US" sz="1900" dirty="0"/>
          </a:p>
        </p:txBody>
      </p:sp>
      <p:sp>
        <p:nvSpPr>
          <p:cNvPr id="5" name="Text 3"/>
          <p:cNvSpPr/>
          <p:nvPr/>
        </p:nvSpPr>
        <p:spPr>
          <a:xfrm>
            <a:off x="863798" y="3835718"/>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LSTM layers: 64 → 32 units</a:t>
            </a:r>
            <a:endParaRPr lang="en-US" sz="1900" dirty="0"/>
          </a:p>
        </p:txBody>
      </p:sp>
      <p:sp>
        <p:nvSpPr>
          <p:cNvPr id="6" name="Text 4"/>
          <p:cNvSpPr/>
          <p:nvPr/>
        </p:nvSpPr>
        <p:spPr>
          <a:xfrm>
            <a:off x="863798" y="4292203"/>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Dropout: 0.2 for regularization</a:t>
            </a:r>
            <a:endParaRPr lang="en-US" sz="1900" dirty="0"/>
          </a:p>
        </p:txBody>
      </p:sp>
      <p:sp>
        <p:nvSpPr>
          <p:cNvPr id="7" name="Text 5"/>
          <p:cNvSpPr/>
          <p:nvPr/>
        </p:nvSpPr>
        <p:spPr>
          <a:xfrm>
            <a:off x="863798" y="4748689"/>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Dense layers: 16 → 1 output</a:t>
            </a:r>
            <a:endParaRPr lang="en-US" sz="1900" dirty="0"/>
          </a:p>
        </p:txBody>
      </p:sp>
      <p:sp>
        <p:nvSpPr>
          <p:cNvPr id="8" name="Text 6"/>
          <p:cNvSpPr/>
          <p:nvPr/>
        </p:nvSpPr>
        <p:spPr>
          <a:xfrm>
            <a:off x="863798" y="5205174"/>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Optimizer: Adam with MSE loss</a:t>
            </a:r>
            <a:endParaRPr lang="en-US" sz="1900" dirty="0"/>
          </a:p>
        </p:txBody>
      </p:sp>
      <p:sp>
        <p:nvSpPr>
          <p:cNvPr id="9" name="Text 7"/>
          <p:cNvSpPr/>
          <p:nvPr/>
        </p:nvSpPr>
        <p:spPr>
          <a:xfrm>
            <a:off x="863798" y="5661660"/>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Training: 50 epochs, batch size 32</a:t>
            </a:r>
            <a:endParaRPr lang="en-US" sz="1900" dirty="0"/>
          </a:p>
        </p:txBody>
      </p:sp>
      <p:sp>
        <p:nvSpPr>
          <p:cNvPr id="10" name="Text 8"/>
          <p:cNvSpPr/>
          <p:nvPr/>
        </p:nvSpPr>
        <p:spPr>
          <a:xfrm>
            <a:off x="7623929" y="2781776"/>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GRU Model</a:t>
            </a:r>
            <a:endParaRPr lang="en-US" sz="2200" dirty="0"/>
          </a:p>
        </p:txBody>
      </p:sp>
      <p:sp>
        <p:nvSpPr>
          <p:cNvPr id="11" name="Text 9"/>
          <p:cNvSpPr/>
          <p:nvPr/>
        </p:nvSpPr>
        <p:spPr>
          <a:xfrm>
            <a:off x="7623929" y="3379232"/>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Input: 30 timesteps × 4 features</a:t>
            </a:r>
            <a:endParaRPr lang="en-US" sz="1900" dirty="0"/>
          </a:p>
        </p:txBody>
      </p:sp>
      <p:sp>
        <p:nvSpPr>
          <p:cNvPr id="12" name="Text 10"/>
          <p:cNvSpPr/>
          <p:nvPr/>
        </p:nvSpPr>
        <p:spPr>
          <a:xfrm>
            <a:off x="7623929" y="3835718"/>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GRU layers: 128 → 64 units</a:t>
            </a:r>
            <a:endParaRPr lang="en-US" sz="1900" dirty="0"/>
          </a:p>
        </p:txBody>
      </p:sp>
      <p:sp>
        <p:nvSpPr>
          <p:cNvPr id="13" name="Text 11"/>
          <p:cNvSpPr/>
          <p:nvPr/>
        </p:nvSpPr>
        <p:spPr>
          <a:xfrm>
            <a:off x="7623929" y="4292203"/>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Dropout: 0.2 for regularization</a:t>
            </a:r>
            <a:endParaRPr lang="en-US" sz="1900" dirty="0"/>
          </a:p>
        </p:txBody>
      </p:sp>
      <p:sp>
        <p:nvSpPr>
          <p:cNvPr id="14" name="Text 12"/>
          <p:cNvSpPr/>
          <p:nvPr/>
        </p:nvSpPr>
        <p:spPr>
          <a:xfrm>
            <a:off x="7623929" y="4748689"/>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Dense layers: 32 → 1 output</a:t>
            </a:r>
            <a:endParaRPr lang="en-US" sz="1900" dirty="0"/>
          </a:p>
        </p:txBody>
      </p:sp>
      <p:sp>
        <p:nvSpPr>
          <p:cNvPr id="15" name="Text 13"/>
          <p:cNvSpPr/>
          <p:nvPr/>
        </p:nvSpPr>
        <p:spPr>
          <a:xfrm>
            <a:off x="7623929" y="5205174"/>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Optimizer: Adam with MSE loss</a:t>
            </a:r>
            <a:endParaRPr lang="en-US" sz="1900" dirty="0"/>
          </a:p>
        </p:txBody>
      </p:sp>
      <p:sp>
        <p:nvSpPr>
          <p:cNvPr id="16" name="Text 14"/>
          <p:cNvSpPr/>
          <p:nvPr/>
        </p:nvSpPr>
        <p:spPr>
          <a:xfrm>
            <a:off x="7623929" y="5661660"/>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Training: 100 epochs, batch size 16</a:t>
            </a:r>
            <a:endParaRPr lang="en-US" sz="1900" dirty="0"/>
          </a:p>
        </p:txBody>
      </p:sp>
      <p:sp>
        <p:nvSpPr>
          <p:cNvPr id="17" name="Text 15"/>
          <p:cNvSpPr/>
          <p:nvPr/>
        </p:nvSpPr>
        <p:spPr>
          <a:xfrm>
            <a:off x="863798" y="6395799"/>
            <a:ext cx="12902803"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GRU's simpler architecture (2 gates vs LSTM's 3) led to faster training and better generalization with fewer parameters.</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63798" y="750332"/>
            <a:ext cx="12839105"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Unsupervised Learning: K-Means Clustering</a:t>
            </a:r>
            <a:endParaRPr lang="en-US" sz="4400" dirty="0"/>
          </a:p>
        </p:txBody>
      </p:sp>
      <p:sp>
        <p:nvSpPr>
          <p:cNvPr id="3" name="Text 1"/>
          <p:cNvSpPr/>
          <p:nvPr/>
        </p:nvSpPr>
        <p:spPr>
          <a:xfrm>
            <a:off x="1758672" y="3213497"/>
            <a:ext cx="2804874" cy="350639"/>
          </a:xfrm>
          <a:prstGeom prst="rect">
            <a:avLst/>
          </a:prstGeom>
          <a:noFill/>
          <a:ln/>
        </p:spPr>
        <p:txBody>
          <a:bodyPr wrap="none" lIns="0" tIns="0" rIns="0" bIns="0" rtlCol="0" anchor="t"/>
          <a:lstStyle/>
          <a:p>
            <a:pPr algn="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Cluster 0: Late Life</a:t>
            </a:r>
            <a:endParaRPr lang="en-US" sz="2200" dirty="0"/>
          </a:p>
        </p:txBody>
      </p:sp>
      <p:sp>
        <p:nvSpPr>
          <p:cNvPr id="4" name="Text 2"/>
          <p:cNvSpPr/>
          <p:nvPr/>
        </p:nvSpPr>
        <p:spPr>
          <a:xfrm>
            <a:off x="863798" y="3712131"/>
            <a:ext cx="3699748" cy="1480661"/>
          </a:xfrm>
          <a:prstGeom prst="rect">
            <a:avLst/>
          </a:prstGeom>
          <a:noFill/>
          <a:ln/>
        </p:spPr>
        <p:txBody>
          <a:bodyPr wrap="square" lIns="0" tIns="0" rIns="0" bIns="0" rtlCol="0" anchor="t"/>
          <a:lstStyle/>
          <a:p>
            <a:pPr algn="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368 samples. Average cycle: 438. Average SoH: 73.2%. Lower voltage (3.46V) and higher temperature (33.2°C) indicating degraded state.</a:t>
            </a:r>
            <a:endParaRPr lang="en-US" sz="1900" dirty="0"/>
          </a:p>
        </p:txBody>
      </p:sp>
      <p:pic>
        <p:nvPicPr>
          <p:cNvPr id="5" name="Image 0" descr="preencoded.png">    </p:cNvPr>
          <p:cNvPicPr>
            <a:picLocks noChangeAspect="1"/>
          </p:cNvPicPr>
          <p:nvPr/>
        </p:nvPicPr>
        <p:blipFill>
          <a:blip r:embed="rId1"/>
          <a:stretch>
            <a:fillRect/>
          </a:stretch>
        </p:blipFill>
        <p:spPr>
          <a:xfrm>
            <a:off x="5057180" y="1945243"/>
            <a:ext cx="4515922" cy="4515922"/>
          </a:xfrm>
          <a:prstGeom prst="rect">
            <a:avLst/>
          </a:prstGeom>
        </p:spPr>
      </p:pic>
      <p:sp>
        <p:nvSpPr>
          <p:cNvPr id="6" name="Text 3"/>
          <p:cNvSpPr/>
          <p:nvPr/>
        </p:nvSpPr>
        <p:spPr>
          <a:xfrm>
            <a:off x="5549860" y="3972282"/>
            <a:ext cx="369213" cy="461605"/>
          </a:xfrm>
          <a:prstGeom prst="rect">
            <a:avLst/>
          </a:prstGeom>
          <a:noFill/>
          <a:ln/>
        </p:spPr>
        <p:txBody>
          <a:bodyPr wrap="none" lIns="0" tIns="0" rIns="0" bIns="0" rtlCol="0" anchor="t"/>
          <a:lstStyle/>
          <a:p>
            <a:pPr algn="l" indent="0" marL="0">
              <a:lnSpc>
                <a:spcPts val="4350"/>
              </a:lnSpc>
              <a:buNone/>
            </a:pPr>
            <a:r>
              <a:rPr lang="en-US" sz="2900" b="1" dirty="0">
                <a:solidFill>
                  <a:srgbClr val="3D3838"/>
                </a:solidFill>
                <a:latin typeface="Montserrat Bold" pitchFamily="34" charset="0"/>
                <a:ea typeface="Montserrat Bold" pitchFamily="34" charset="-122"/>
                <a:cs typeface="Montserrat Bold" pitchFamily="34" charset="-120"/>
              </a:rPr>
              <a:t>1</a:t>
            </a:r>
            <a:endParaRPr lang="en-US" sz="2900" dirty="0"/>
          </a:p>
        </p:txBody>
      </p:sp>
      <p:sp>
        <p:nvSpPr>
          <p:cNvPr id="7" name="Text 4"/>
          <p:cNvSpPr/>
          <p:nvPr/>
        </p:nvSpPr>
        <p:spPr>
          <a:xfrm>
            <a:off x="10066734" y="3213497"/>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Cluster 1: Early Life</a:t>
            </a:r>
            <a:endParaRPr lang="en-US" sz="2200" dirty="0"/>
          </a:p>
        </p:txBody>
      </p:sp>
      <p:sp>
        <p:nvSpPr>
          <p:cNvPr id="8" name="Text 5"/>
          <p:cNvSpPr/>
          <p:nvPr/>
        </p:nvSpPr>
        <p:spPr>
          <a:xfrm>
            <a:off x="10066734" y="3712131"/>
            <a:ext cx="3699867"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268 samples. Average cycle: 141. Average SoH: 89.9%. Higher voltage (3.53V) and lower temperature (31.7°C) indicating healthy state.</a:t>
            </a:r>
            <a:endParaRPr lang="en-US" sz="1900" dirty="0"/>
          </a:p>
        </p:txBody>
      </p:sp>
      <p:pic>
        <p:nvPicPr>
          <p:cNvPr id="9" name="Image 1" descr="preencoded.png">    </p:cNvPr>
          <p:cNvPicPr>
            <a:picLocks noChangeAspect="1"/>
          </p:cNvPicPr>
          <p:nvPr/>
        </p:nvPicPr>
        <p:blipFill>
          <a:blip r:embed="rId2"/>
          <a:stretch>
            <a:fillRect/>
          </a:stretch>
        </p:blipFill>
        <p:spPr>
          <a:xfrm>
            <a:off x="5057180" y="1945243"/>
            <a:ext cx="4515922" cy="4515922"/>
          </a:xfrm>
          <a:prstGeom prst="rect">
            <a:avLst/>
          </a:prstGeom>
        </p:spPr>
      </p:pic>
      <p:sp>
        <p:nvSpPr>
          <p:cNvPr id="10" name="Text 6"/>
          <p:cNvSpPr/>
          <p:nvPr/>
        </p:nvSpPr>
        <p:spPr>
          <a:xfrm>
            <a:off x="8710970" y="3972282"/>
            <a:ext cx="369213" cy="461605"/>
          </a:xfrm>
          <a:prstGeom prst="rect">
            <a:avLst/>
          </a:prstGeom>
          <a:noFill/>
          <a:ln/>
        </p:spPr>
        <p:txBody>
          <a:bodyPr wrap="none" lIns="0" tIns="0" rIns="0" bIns="0" rtlCol="0" anchor="t"/>
          <a:lstStyle/>
          <a:p>
            <a:pPr algn="l" indent="0" marL="0">
              <a:lnSpc>
                <a:spcPts val="4350"/>
              </a:lnSpc>
              <a:buNone/>
            </a:pPr>
            <a:r>
              <a:rPr lang="en-US" sz="2900" b="1" dirty="0">
                <a:solidFill>
                  <a:srgbClr val="3D3838"/>
                </a:solidFill>
                <a:latin typeface="Montserrat Bold" pitchFamily="34" charset="0"/>
                <a:ea typeface="Montserrat Bold" pitchFamily="34" charset="-122"/>
                <a:cs typeface="Montserrat Bold" pitchFamily="34" charset="-120"/>
              </a:rPr>
              <a:t>2</a:t>
            </a:r>
            <a:endParaRPr lang="en-US" sz="2900" dirty="0"/>
          </a:p>
        </p:txBody>
      </p:sp>
      <p:sp>
        <p:nvSpPr>
          <p:cNvPr id="11" name="Text 7"/>
          <p:cNvSpPr/>
          <p:nvPr/>
        </p:nvSpPr>
        <p:spPr>
          <a:xfrm>
            <a:off x="863798" y="6738818"/>
            <a:ext cx="1290280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Optimal K=2 identified via silhouette score. Clustering successfully segmented battery lifecycle into distinct degradation stages without labels.</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63084" y="679133"/>
            <a:ext cx="12904232" cy="1400889"/>
          </a:xfrm>
          <a:prstGeom prst="rect">
            <a:avLst/>
          </a:prstGeom>
          <a:noFill/>
          <a:ln/>
        </p:spPr>
        <p:txBody>
          <a:bodyPr wrap="squar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Reinforcement Learning: Charging Optimization</a:t>
            </a:r>
            <a:endParaRPr lang="en-US" sz="4400" dirty="0"/>
          </a:p>
        </p:txBody>
      </p:sp>
      <p:sp>
        <p:nvSpPr>
          <p:cNvPr id="3" name="Text 1"/>
          <p:cNvSpPr/>
          <p:nvPr/>
        </p:nvSpPr>
        <p:spPr>
          <a:xfrm>
            <a:off x="863084" y="2573179"/>
            <a:ext cx="246578" cy="308253"/>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Montserrat Light" pitchFamily="34" charset="0"/>
                <a:ea typeface="Montserrat Light" pitchFamily="34" charset="-122"/>
                <a:cs typeface="Montserrat Light" pitchFamily="34" charset="-120"/>
              </a:rPr>
              <a:t>01</a:t>
            </a:r>
            <a:endParaRPr lang="en-US" sz="1900" dirty="0"/>
          </a:p>
        </p:txBody>
      </p:sp>
      <p:sp>
        <p:nvSpPr>
          <p:cNvPr id="4" name="Shape 2"/>
          <p:cNvSpPr/>
          <p:nvPr/>
        </p:nvSpPr>
        <p:spPr>
          <a:xfrm>
            <a:off x="863084" y="2961799"/>
            <a:ext cx="6328767" cy="30480"/>
          </a:xfrm>
          <a:prstGeom prst="rect">
            <a:avLst/>
          </a:prstGeom>
          <a:solidFill>
            <a:srgbClr val="2D2E34"/>
          </a:solidFill>
          <a:ln/>
        </p:spPr>
      </p:sp>
      <p:sp>
        <p:nvSpPr>
          <p:cNvPr id="5" name="Text 3"/>
          <p:cNvSpPr/>
          <p:nvPr/>
        </p:nvSpPr>
        <p:spPr>
          <a:xfrm>
            <a:off x="863084" y="3145988"/>
            <a:ext cx="3023473" cy="350282"/>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Environment Design</a:t>
            </a:r>
            <a:endParaRPr lang="en-US" sz="2200" dirty="0"/>
          </a:p>
        </p:txBody>
      </p:sp>
      <p:sp>
        <p:nvSpPr>
          <p:cNvPr id="6" name="Text 4"/>
          <p:cNvSpPr/>
          <p:nvPr/>
        </p:nvSpPr>
        <p:spPr>
          <a:xfrm>
            <a:off x="863084" y="3644146"/>
            <a:ext cx="6328767" cy="1109424"/>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State space: SoC (0-100%) and temperature (0-50°C). Actions: Wait, Low (0.5A), Medium (1.5A), High (4.0A) charging currents.</a:t>
            </a:r>
            <a:endParaRPr lang="en-US" sz="1900" dirty="0"/>
          </a:p>
        </p:txBody>
      </p:sp>
      <p:sp>
        <p:nvSpPr>
          <p:cNvPr id="7" name="Text 5"/>
          <p:cNvSpPr/>
          <p:nvPr/>
        </p:nvSpPr>
        <p:spPr>
          <a:xfrm>
            <a:off x="7438430" y="2573179"/>
            <a:ext cx="246578" cy="308253"/>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Montserrat Light" pitchFamily="34" charset="0"/>
                <a:ea typeface="Montserrat Light" pitchFamily="34" charset="-122"/>
                <a:cs typeface="Montserrat Light" pitchFamily="34" charset="-120"/>
              </a:rPr>
              <a:t>02</a:t>
            </a:r>
            <a:endParaRPr lang="en-US" sz="1900" dirty="0"/>
          </a:p>
        </p:txBody>
      </p:sp>
      <p:sp>
        <p:nvSpPr>
          <p:cNvPr id="8" name="Shape 6"/>
          <p:cNvSpPr/>
          <p:nvPr/>
        </p:nvSpPr>
        <p:spPr>
          <a:xfrm>
            <a:off x="7438430" y="2961799"/>
            <a:ext cx="6328886" cy="30480"/>
          </a:xfrm>
          <a:prstGeom prst="rect">
            <a:avLst/>
          </a:prstGeom>
          <a:solidFill>
            <a:srgbClr val="2D2E34"/>
          </a:solidFill>
          <a:ln/>
        </p:spPr>
      </p:sp>
      <p:sp>
        <p:nvSpPr>
          <p:cNvPr id="9" name="Text 7"/>
          <p:cNvSpPr/>
          <p:nvPr/>
        </p:nvSpPr>
        <p:spPr>
          <a:xfrm>
            <a:off x="7438430" y="3145988"/>
            <a:ext cx="2802255" cy="350282"/>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Reward Function</a:t>
            </a:r>
            <a:endParaRPr lang="en-US" sz="2200" dirty="0"/>
          </a:p>
        </p:txBody>
      </p:sp>
      <p:sp>
        <p:nvSpPr>
          <p:cNvPr id="10" name="Text 8"/>
          <p:cNvSpPr/>
          <p:nvPr/>
        </p:nvSpPr>
        <p:spPr>
          <a:xfrm>
            <a:off x="7438430" y="3644146"/>
            <a:ext cx="6328886" cy="1109424"/>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Positive rewards for SoC gain. Penalties for overheating (&gt;35°C), overvoltage (&gt;4.2V), and time. Bonus for reaching 98% SoC.</a:t>
            </a:r>
            <a:endParaRPr lang="en-US" sz="1900" dirty="0"/>
          </a:p>
        </p:txBody>
      </p:sp>
      <p:sp>
        <p:nvSpPr>
          <p:cNvPr id="11" name="Text 9"/>
          <p:cNvSpPr/>
          <p:nvPr/>
        </p:nvSpPr>
        <p:spPr>
          <a:xfrm>
            <a:off x="863084" y="5185053"/>
            <a:ext cx="246578" cy="308253"/>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Montserrat Light" pitchFamily="34" charset="0"/>
                <a:ea typeface="Montserrat Light" pitchFamily="34" charset="-122"/>
                <a:cs typeface="Montserrat Light" pitchFamily="34" charset="-120"/>
              </a:rPr>
              <a:t>03</a:t>
            </a:r>
            <a:endParaRPr lang="en-US" sz="1900" dirty="0"/>
          </a:p>
        </p:txBody>
      </p:sp>
      <p:sp>
        <p:nvSpPr>
          <p:cNvPr id="12" name="Shape 10"/>
          <p:cNvSpPr/>
          <p:nvPr/>
        </p:nvSpPr>
        <p:spPr>
          <a:xfrm>
            <a:off x="863084" y="5573673"/>
            <a:ext cx="6328767" cy="30480"/>
          </a:xfrm>
          <a:prstGeom prst="rect">
            <a:avLst/>
          </a:prstGeom>
          <a:solidFill>
            <a:srgbClr val="2D2E34"/>
          </a:solidFill>
          <a:ln/>
        </p:spPr>
      </p:sp>
      <p:sp>
        <p:nvSpPr>
          <p:cNvPr id="13" name="Text 11"/>
          <p:cNvSpPr/>
          <p:nvPr/>
        </p:nvSpPr>
        <p:spPr>
          <a:xfrm>
            <a:off x="863084" y="5757862"/>
            <a:ext cx="2932390" cy="350282"/>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Q-Learning Training</a:t>
            </a:r>
            <a:endParaRPr lang="en-US" sz="2200" dirty="0"/>
          </a:p>
        </p:txBody>
      </p:sp>
      <p:sp>
        <p:nvSpPr>
          <p:cNvPr id="14" name="Text 12"/>
          <p:cNvSpPr/>
          <p:nvPr/>
        </p:nvSpPr>
        <p:spPr>
          <a:xfrm>
            <a:off x="863084" y="6256020"/>
            <a:ext cx="6328767" cy="1109424"/>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2000 episodes with ε-greedy exploration (ε=0.1). Learning rate α=0.1, discount factor γ=0.95. Converged to stable policy around episode 200.</a:t>
            </a:r>
            <a:endParaRPr lang="en-US" sz="1900" dirty="0"/>
          </a:p>
        </p:txBody>
      </p:sp>
      <p:sp>
        <p:nvSpPr>
          <p:cNvPr id="15" name="Text 13"/>
          <p:cNvSpPr/>
          <p:nvPr/>
        </p:nvSpPr>
        <p:spPr>
          <a:xfrm>
            <a:off x="7438430" y="5185053"/>
            <a:ext cx="246578" cy="308253"/>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Montserrat Light" pitchFamily="34" charset="0"/>
                <a:ea typeface="Montserrat Light" pitchFamily="34" charset="-122"/>
                <a:cs typeface="Montserrat Light" pitchFamily="34" charset="-120"/>
              </a:rPr>
              <a:t>04</a:t>
            </a:r>
            <a:endParaRPr lang="en-US" sz="1900" dirty="0"/>
          </a:p>
        </p:txBody>
      </p:sp>
      <p:sp>
        <p:nvSpPr>
          <p:cNvPr id="16" name="Shape 14"/>
          <p:cNvSpPr/>
          <p:nvPr/>
        </p:nvSpPr>
        <p:spPr>
          <a:xfrm>
            <a:off x="7438430" y="5573673"/>
            <a:ext cx="6328886" cy="30480"/>
          </a:xfrm>
          <a:prstGeom prst="rect">
            <a:avLst/>
          </a:prstGeom>
          <a:solidFill>
            <a:srgbClr val="2D2E34"/>
          </a:solidFill>
          <a:ln/>
        </p:spPr>
      </p:sp>
      <p:sp>
        <p:nvSpPr>
          <p:cNvPr id="17" name="Text 15"/>
          <p:cNvSpPr/>
          <p:nvPr/>
        </p:nvSpPr>
        <p:spPr>
          <a:xfrm>
            <a:off x="7438430" y="5757862"/>
            <a:ext cx="2855119" cy="350282"/>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Optimized Strategy</a:t>
            </a:r>
            <a:endParaRPr lang="en-US" sz="2200" dirty="0"/>
          </a:p>
        </p:txBody>
      </p:sp>
      <p:sp>
        <p:nvSpPr>
          <p:cNvPr id="18" name="Text 16"/>
          <p:cNvSpPr/>
          <p:nvPr/>
        </p:nvSpPr>
        <p:spPr>
          <a:xfrm>
            <a:off x="7438430" y="6256020"/>
            <a:ext cx="6328886" cy="1109424"/>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Bang-bang control: alternating high current (4A) for fast charging with low current (0.5A) for thermal recovery. Achieved safe, efficient charging profile.</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47951" y="748903"/>
            <a:ext cx="7244120" cy="606981"/>
          </a:xfrm>
          <a:prstGeom prst="rect">
            <a:avLst/>
          </a:prstGeom>
          <a:noFill/>
          <a:ln/>
        </p:spPr>
        <p:txBody>
          <a:bodyPr wrap="none" lIns="0" tIns="0" rIns="0" bIns="0" rtlCol="0" anchor="t"/>
          <a:lstStyle/>
          <a:p>
            <a:pPr algn="l" indent="0" marL="0">
              <a:lnSpc>
                <a:spcPts val="4750"/>
              </a:lnSpc>
              <a:buNone/>
            </a:pPr>
            <a:r>
              <a:rPr lang="en-US" sz="3800" b="1" dirty="0">
                <a:solidFill>
                  <a:srgbClr val="000000"/>
                </a:solidFill>
                <a:latin typeface="Montserrat Bold" pitchFamily="34" charset="0"/>
                <a:ea typeface="Montserrat Bold" pitchFamily="34" charset="-122"/>
                <a:cs typeface="Montserrat Bold" pitchFamily="34" charset="-120"/>
              </a:rPr>
              <a:t>SHAP Explainability Analysis</a:t>
            </a:r>
            <a:endParaRPr lang="en-US" sz="3800" dirty="0"/>
          </a:p>
        </p:txBody>
      </p:sp>
      <p:sp>
        <p:nvSpPr>
          <p:cNvPr id="3" name="Text 1"/>
          <p:cNvSpPr/>
          <p:nvPr/>
        </p:nvSpPr>
        <p:spPr>
          <a:xfrm>
            <a:off x="747951" y="1783199"/>
            <a:ext cx="13134499" cy="320516"/>
          </a:xfrm>
          <a:prstGeom prst="rect">
            <a:avLst/>
          </a:prstGeom>
          <a:noFill/>
          <a:ln/>
        </p:spPr>
        <p:txBody>
          <a:bodyPr wrap="non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SHAP (SHapley Additive exPlanations) reveals which features drive model predictions, providing transparency for critical battery health decisions.</a:t>
            </a:r>
            <a:endParaRPr lang="en-US" sz="1650" dirty="0"/>
          </a:p>
        </p:txBody>
      </p:sp>
      <p:pic>
        <p:nvPicPr>
          <p:cNvPr id="4" name="Image 0" descr="preencoded.png">    </p:cNvPr>
          <p:cNvPicPr>
            <a:picLocks noChangeAspect="1"/>
          </p:cNvPicPr>
          <p:nvPr/>
        </p:nvPicPr>
        <p:blipFill>
          <a:blip r:embed="rId1"/>
          <a:stretch>
            <a:fillRect/>
          </a:stretch>
        </p:blipFill>
        <p:spPr>
          <a:xfrm>
            <a:off x="747951" y="2344103"/>
            <a:ext cx="6567249" cy="854750"/>
          </a:xfrm>
          <a:prstGeom prst="rect">
            <a:avLst/>
          </a:prstGeom>
        </p:spPr>
      </p:pic>
      <p:sp>
        <p:nvSpPr>
          <p:cNvPr id="5" name="Text 2"/>
          <p:cNvSpPr/>
          <p:nvPr/>
        </p:nvSpPr>
        <p:spPr>
          <a:xfrm>
            <a:off x="961549" y="3412450"/>
            <a:ext cx="2428518" cy="303609"/>
          </a:xfrm>
          <a:prstGeom prst="rect">
            <a:avLst/>
          </a:prstGeom>
          <a:noFill/>
          <a:ln/>
        </p:spPr>
        <p:txBody>
          <a:bodyPr wrap="none" lIns="0" tIns="0" rIns="0" bIns="0" rtlCol="0" anchor="t"/>
          <a:lstStyle/>
          <a:p>
            <a:pPr algn="l" indent="0" marL="0">
              <a:lnSpc>
                <a:spcPts val="2350"/>
              </a:lnSpc>
              <a:buNone/>
            </a:pPr>
            <a:r>
              <a:rPr lang="en-US" sz="1900" b="1" dirty="0">
                <a:solidFill>
                  <a:srgbClr val="3D3838"/>
                </a:solidFill>
                <a:latin typeface="Montserrat Bold" pitchFamily="34" charset="0"/>
                <a:ea typeface="Montserrat Bold" pitchFamily="34" charset="-122"/>
                <a:cs typeface="Montserrat Bold" pitchFamily="34" charset="-120"/>
              </a:rPr>
              <a:t>Cycle Number</a:t>
            </a:r>
            <a:endParaRPr lang="en-US" sz="1900" dirty="0"/>
          </a:p>
        </p:txBody>
      </p:sp>
      <p:sp>
        <p:nvSpPr>
          <p:cNvPr id="6" name="Text 3"/>
          <p:cNvSpPr/>
          <p:nvPr/>
        </p:nvSpPr>
        <p:spPr>
          <a:xfrm>
            <a:off x="961549" y="3844171"/>
            <a:ext cx="6140053" cy="641033"/>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Most important feature. Higher cycle count consistently decreases SoH predictions across all samples.</a:t>
            </a:r>
            <a:endParaRPr lang="en-US" sz="1650" dirty="0"/>
          </a:p>
        </p:txBody>
      </p:sp>
      <p:pic>
        <p:nvPicPr>
          <p:cNvPr id="7" name="Image 1" descr="preencoded.png">    </p:cNvPr>
          <p:cNvPicPr>
            <a:picLocks noChangeAspect="1"/>
          </p:cNvPicPr>
          <p:nvPr/>
        </p:nvPicPr>
        <p:blipFill>
          <a:blip r:embed="rId2"/>
          <a:stretch>
            <a:fillRect/>
          </a:stretch>
        </p:blipFill>
        <p:spPr>
          <a:xfrm>
            <a:off x="7315200" y="2344103"/>
            <a:ext cx="6567249" cy="854750"/>
          </a:xfrm>
          <a:prstGeom prst="rect">
            <a:avLst/>
          </a:prstGeom>
        </p:spPr>
      </p:pic>
      <p:sp>
        <p:nvSpPr>
          <p:cNvPr id="8" name="Text 4"/>
          <p:cNvSpPr/>
          <p:nvPr/>
        </p:nvSpPr>
        <p:spPr>
          <a:xfrm>
            <a:off x="7528798" y="3412450"/>
            <a:ext cx="2428518" cy="303609"/>
          </a:xfrm>
          <a:prstGeom prst="rect">
            <a:avLst/>
          </a:prstGeom>
          <a:noFill/>
          <a:ln/>
        </p:spPr>
        <p:txBody>
          <a:bodyPr wrap="none" lIns="0" tIns="0" rIns="0" bIns="0" rtlCol="0" anchor="t"/>
          <a:lstStyle/>
          <a:p>
            <a:pPr algn="l" indent="0" marL="0">
              <a:lnSpc>
                <a:spcPts val="2350"/>
              </a:lnSpc>
              <a:buNone/>
            </a:pPr>
            <a:r>
              <a:rPr lang="en-US" sz="1900" b="1" dirty="0">
                <a:solidFill>
                  <a:srgbClr val="3D3838"/>
                </a:solidFill>
                <a:latin typeface="Montserrat Bold" pitchFamily="34" charset="0"/>
                <a:ea typeface="Montserrat Bold" pitchFamily="34" charset="-122"/>
                <a:cs typeface="Montserrat Bold" pitchFamily="34" charset="-120"/>
              </a:rPr>
              <a:t>Average Voltage</a:t>
            </a:r>
            <a:endParaRPr lang="en-US" sz="1900" dirty="0"/>
          </a:p>
        </p:txBody>
      </p:sp>
      <p:sp>
        <p:nvSpPr>
          <p:cNvPr id="9" name="Text 5"/>
          <p:cNvSpPr/>
          <p:nvPr/>
        </p:nvSpPr>
        <p:spPr>
          <a:xfrm>
            <a:off x="7528798" y="3844171"/>
            <a:ext cx="6140053" cy="641033"/>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Second most important. Lower voltage strongly correlates with reduced SoH, validating physics-based intuition.</a:t>
            </a:r>
            <a:endParaRPr lang="en-US" sz="1650" dirty="0"/>
          </a:p>
        </p:txBody>
      </p:sp>
      <p:pic>
        <p:nvPicPr>
          <p:cNvPr id="10" name="Image 2" descr="preencoded.png">    </p:cNvPr>
          <p:cNvPicPr>
            <a:picLocks noChangeAspect="1"/>
          </p:cNvPicPr>
          <p:nvPr/>
        </p:nvPicPr>
        <p:blipFill>
          <a:blip r:embed="rId3"/>
          <a:stretch>
            <a:fillRect/>
          </a:stretch>
        </p:blipFill>
        <p:spPr>
          <a:xfrm>
            <a:off x="747951" y="4912400"/>
            <a:ext cx="6567249" cy="854750"/>
          </a:xfrm>
          <a:prstGeom prst="rect">
            <a:avLst/>
          </a:prstGeom>
        </p:spPr>
      </p:pic>
      <p:sp>
        <p:nvSpPr>
          <p:cNvPr id="11" name="Text 6"/>
          <p:cNvSpPr/>
          <p:nvPr/>
        </p:nvSpPr>
        <p:spPr>
          <a:xfrm>
            <a:off x="961549" y="5980748"/>
            <a:ext cx="2749868" cy="303609"/>
          </a:xfrm>
          <a:prstGeom prst="rect">
            <a:avLst/>
          </a:prstGeom>
          <a:noFill/>
          <a:ln/>
        </p:spPr>
        <p:txBody>
          <a:bodyPr wrap="none" lIns="0" tIns="0" rIns="0" bIns="0" rtlCol="0" anchor="t"/>
          <a:lstStyle/>
          <a:p>
            <a:pPr algn="l" indent="0" marL="0">
              <a:lnSpc>
                <a:spcPts val="2350"/>
              </a:lnSpc>
              <a:buNone/>
            </a:pPr>
            <a:r>
              <a:rPr lang="en-US" sz="1900" b="1" dirty="0">
                <a:solidFill>
                  <a:srgbClr val="3D3838"/>
                </a:solidFill>
                <a:latin typeface="Montserrat Bold" pitchFamily="34" charset="0"/>
                <a:ea typeface="Montserrat Bold" pitchFamily="34" charset="-122"/>
                <a:cs typeface="Montserrat Bold" pitchFamily="34" charset="-120"/>
              </a:rPr>
              <a:t>Average Temperature</a:t>
            </a:r>
            <a:endParaRPr lang="en-US" sz="1900" dirty="0"/>
          </a:p>
        </p:txBody>
      </p:sp>
      <p:sp>
        <p:nvSpPr>
          <p:cNvPr id="12" name="Text 7"/>
          <p:cNvSpPr/>
          <p:nvPr/>
        </p:nvSpPr>
        <p:spPr>
          <a:xfrm>
            <a:off x="961549" y="6412468"/>
            <a:ext cx="6140053" cy="641033"/>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Moderate importance. Higher temperatures indicate increased internal resistance and degradation.</a:t>
            </a:r>
            <a:endParaRPr lang="en-US" sz="1650" dirty="0"/>
          </a:p>
        </p:txBody>
      </p:sp>
      <p:pic>
        <p:nvPicPr>
          <p:cNvPr id="13" name="Image 3" descr="preencoded.png">    </p:cNvPr>
          <p:cNvPicPr>
            <a:picLocks noChangeAspect="1"/>
          </p:cNvPicPr>
          <p:nvPr/>
        </p:nvPicPr>
        <p:blipFill>
          <a:blip r:embed="rId4"/>
          <a:stretch>
            <a:fillRect/>
          </a:stretch>
        </p:blipFill>
        <p:spPr>
          <a:xfrm>
            <a:off x="7315200" y="4912400"/>
            <a:ext cx="6567249" cy="854750"/>
          </a:xfrm>
          <a:prstGeom prst="rect">
            <a:avLst/>
          </a:prstGeom>
        </p:spPr>
      </p:pic>
      <p:sp>
        <p:nvSpPr>
          <p:cNvPr id="14" name="Text 8"/>
          <p:cNvSpPr/>
          <p:nvPr/>
        </p:nvSpPr>
        <p:spPr>
          <a:xfrm>
            <a:off x="7528798" y="5980748"/>
            <a:ext cx="2428518" cy="303609"/>
          </a:xfrm>
          <a:prstGeom prst="rect">
            <a:avLst/>
          </a:prstGeom>
          <a:noFill/>
          <a:ln/>
        </p:spPr>
        <p:txBody>
          <a:bodyPr wrap="none" lIns="0" tIns="0" rIns="0" bIns="0" rtlCol="0" anchor="t"/>
          <a:lstStyle/>
          <a:p>
            <a:pPr algn="l" indent="0" marL="0">
              <a:lnSpc>
                <a:spcPts val="2350"/>
              </a:lnSpc>
              <a:buNone/>
            </a:pPr>
            <a:r>
              <a:rPr lang="en-US" sz="1900" b="1" dirty="0">
                <a:solidFill>
                  <a:srgbClr val="3D3838"/>
                </a:solidFill>
                <a:latin typeface="Montserrat Bold" pitchFamily="34" charset="0"/>
                <a:ea typeface="Montserrat Bold" pitchFamily="34" charset="-122"/>
                <a:cs typeface="Montserrat Bold" pitchFamily="34" charset="-120"/>
              </a:rPr>
              <a:t>Average Current</a:t>
            </a:r>
            <a:endParaRPr lang="en-US" sz="1900" dirty="0"/>
          </a:p>
        </p:txBody>
      </p:sp>
      <p:sp>
        <p:nvSpPr>
          <p:cNvPr id="15" name="Text 9"/>
          <p:cNvSpPr/>
          <p:nvPr/>
        </p:nvSpPr>
        <p:spPr>
          <a:xfrm>
            <a:off x="7528798" y="6412468"/>
            <a:ext cx="6140053" cy="641033"/>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Least important but still relevant. Extreme current values show non-linear effects on SoH.</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63798" y="1031677"/>
            <a:ext cx="7985046"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Cross-Battery Performance</a:t>
            </a:r>
            <a:endParaRPr lang="en-US" sz="4400" dirty="0"/>
          </a:p>
        </p:txBody>
      </p:sp>
      <p:sp>
        <p:nvSpPr>
          <p:cNvPr id="3" name="Text 1"/>
          <p:cNvSpPr/>
          <p:nvPr/>
        </p:nvSpPr>
        <p:spPr>
          <a:xfrm>
            <a:off x="863798" y="2349937"/>
            <a:ext cx="4159687"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Test Battery B0018 (Healthy)</a:t>
            </a:r>
            <a:endParaRPr lang="en-US" sz="2200" dirty="0"/>
          </a:p>
        </p:txBody>
      </p:sp>
      <p:sp>
        <p:nvSpPr>
          <p:cNvPr id="4" name="Text 2"/>
          <p:cNvSpPr/>
          <p:nvPr/>
        </p:nvSpPr>
        <p:spPr>
          <a:xfrm>
            <a:off x="863798" y="2947392"/>
            <a:ext cx="6150293"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Winner: Random Forest</a:t>
            </a:r>
            <a:endParaRPr lang="en-US" sz="1900" dirty="0"/>
          </a:p>
        </p:txBody>
      </p:sp>
      <p:sp>
        <p:nvSpPr>
          <p:cNvPr id="5" name="Text 3"/>
          <p:cNvSpPr/>
          <p:nvPr/>
        </p:nvSpPr>
        <p:spPr>
          <a:xfrm>
            <a:off x="863798" y="3539609"/>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R²: 0.9367 (highest)</a:t>
            </a:r>
            <a:endParaRPr lang="en-US" sz="1900" dirty="0"/>
          </a:p>
        </p:txBody>
      </p:sp>
      <p:sp>
        <p:nvSpPr>
          <p:cNvPr id="6" name="Text 4"/>
          <p:cNvSpPr/>
          <p:nvPr/>
        </p:nvSpPr>
        <p:spPr>
          <a:xfrm>
            <a:off x="863798" y="3996095"/>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RMSE: 0.0206 (lowest)</a:t>
            </a:r>
            <a:endParaRPr lang="en-US" sz="1900" dirty="0"/>
          </a:p>
        </p:txBody>
      </p:sp>
      <p:sp>
        <p:nvSpPr>
          <p:cNvPr id="7" name="Text 5"/>
          <p:cNvSpPr/>
          <p:nvPr/>
        </p:nvSpPr>
        <p:spPr>
          <a:xfrm>
            <a:off x="863798" y="4452580"/>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MAE: 1.70%</a:t>
            </a:r>
            <a:endParaRPr lang="en-US" sz="1900" dirty="0"/>
          </a:p>
        </p:txBody>
      </p:sp>
      <p:sp>
        <p:nvSpPr>
          <p:cNvPr id="8" name="Text 6"/>
          <p:cNvSpPr/>
          <p:nvPr/>
        </p:nvSpPr>
        <p:spPr>
          <a:xfrm>
            <a:off x="863798" y="5044797"/>
            <a:ext cx="6150293"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Runner-up: GRU</a:t>
            </a:r>
            <a:endParaRPr lang="en-US" sz="1900" dirty="0"/>
          </a:p>
        </p:txBody>
      </p:sp>
      <p:sp>
        <p:nvSpPr>
          <p:cNvPr id="9" name="Text 7"/>
          <p:cNvSpPr/>
          <p:nvPr/>
        </p:nvSpPr>
        <p:spPr>
          <a:xfrm>
            <a:off x="863798" y="5637014"/>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R²: 0.9166</a:t>
            </a:r>
            <a:endParaRPr lang="en-US" sz="1900" dirty="0"/>
          </a:p>
        </p:txBody>
      </p:sp>
      <p:sp>
        <p:nvSpPr>
          <p:cNvPr id="10" name="Text 8"/>
          <p:cNvSpPr/>
          <p:nvPr/>
        </p:nvSpPr>
        <p:spPr>
          <a:xfrm>
            <a:off x="863798" y="6093500"/>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MAE: 1.50% (best)</a:t>
            </a:r>
            <a:endParaRPr lang="en-US" sz="1900" dirty="0"/>
          </a:p>
        </p:txBody>
      </p:sp>
      <p:sp>
        <p:nvSpPr>
          <p:cNvPr id="11" name="Text 9"/>
          <p:cNvSpPr/>
          <p:nvPr/>
        </p:nvSpPr>
        <p:spPr>
          <a:xfrm>
            <a:off x="7623929" y="2349937"/>
            <a:ext cx="4873585"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Test Battery B0007 (Challenging)</a:t>
            </a:r>
            <a:endParaRPr lang="en-US" sz="2200" dirty="0"/>
          </a:p>
        </p:txBody>
      </p:sp>
      <p:sp>
        <p:nvSpPr>
          <p:cNvPr id="12" name="Text 10"/>
          <p:cNvSpPr/>
          <p:nvPr/>
        </p:nvSpPr>
        <p:spPr>
          <a:xfrm>
            <a:off x="7623929" y="2947392"/>
            <a:ext cx="6150293"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Winner: GRU</a:t>
            </a:r>
            <a:endParaRPr lang="en-US" sz="1900" dirty="0"/>
          </a:p>
        </p:txBody>
      </p:sp>
      <p:sp>
        <p:nvSpPr>
          <p:cNvPr id="13" name="Text 11"/>
          <p:cNvSpPr/>
          <p:nvPr/>
        </p:nvSpPr>
        <p:spPr>
          <a:xfrm>
            <a:off x="7623929" y="3539609"/>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R²: 0.7927</a:t>
            </a:r>
            <a:endParaRPr lang="en-US" sz="1900" dirty="0"/>
          </a:p>
        </p:txBody>
      </p:sp>
      <p:sp>
        <p:nvSpPr>
          <p:cNvPr id="14" name="Text 12"/>
          <p:cNvSpPr/>
          <p:nvPr/>
        </p:nvSpPr>
        <p:spPr>
          <a:xfrm>
            <a:off x="7623929" y="3996095"/>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RMSE: 0.0315</a:t>
            </a:r>
            <a:endParaRPr lang="en-US" sz="1900" dirty="0"/>
          </a:p>
        </p:txBody>
      </p:sp>
      <p:sp>
        <p:nvSpPr>
          <p:cNvPr id="15" name="Text 13"/>
          <p:cNvSpPr/>
          <p:nvPr/>
        </p:nvSpPr>
        <p:spPr>
          <a:xfrm>
            <a:off x="7623929" y="4452580"/>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MAE: 2.90%</a:t>
            </a:r>
            <a:endParaRPr lang="en-US" sz="1900" dirty="0"/>
          </a:p>
        </p:txBody>
      </p:sp>
      <p:sp>
        <p:nvSpPr>
          <p:cNvPr id="16" name="Text 14"/>
          <p:cNvSpPr/>
          <p:nvPr/>
        </p:nvSpPr>
        <p:spPr>
          <a:xfrm>
            <a:off x="7623929" y="5044797"/>
            <a:ext cx="6150293"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LSTM Struggled</a:t>
            </a:r>
            <a:endParaRPr lang="en-US" sz="1900" dirty="0"/>
          </a:p>
        </p:txBody>
      </p:sp>
      <p:sp>
        <p:nvSpPr>
          <p:cNvPr id="17" name="Text 15"/>
          <p:cNvSpPr/>
          <p:nvPr/>
        </p:nvSpPr>
        <p:spPr>
          <a:xfrm>
            <a:off x="7623929" y="5637014"/>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R²: 0.2940 (poor fit)</a:t>
            </a:r>
            <a:endParaRPr lang="en-US" sz="1900" dirty="0"/>
          </a:p>
        </p:txBody>
      </p:sp>
      <p:sp>
        <p:nvSpPr>
          <p:cNvPr id="18" name="Text 16"/>
          <p:cNvSpPr/>
          <p:nvPr/>
        </p:nvSpPr>
        <p:spPr>
          <a:xfrm>
            <a:off x="7623929" y="6093500"/>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MAE: 5.73%</a:t>
            </a:r>
            <a:endParaRPr lang="en-US" sz="1900" dirty="0"/>
          </a:p>
        </p:txBody>
      </p:sp>
      <p:sp>
        <p:nvSpPr>
          <p:cNvPr id="19" name="Text 17"/>
          <p:cNvSpPr/>
          <p:nvPr/>
        </p:nvSpPr>
        <p:spPr>
          <a:xfrm>
            <a:off x="863798" y="6827639"/>
            <a:ext cx="12902803"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GRU demonstrated superior consistency across different battery behaviors, making it the most robust deep learning choice.</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2004" y="790694"/>
            <a:ext cx="7714536" cy="642938"/>
          </a:xfrm>
          <a:prstGeom prst="rect">
            <a:avLst/>
          </a:prstGeom>
          <a:noFill/>
          <a:ln/>
        </p:spPr>
        <p:txBody>
          <a:bodyPr wrap="none" lIns="0" tIns="0" rIns="0" bIns="0" rtlCol="0" anchor="t"/>
          <a:lstStyle/>
          <a:p>
            <a:pPr algn="l" indent="0" marL="0">
              <a:lnSpc>
                <a:spcPts val="5050"/>
              </a:lnSpc>
              <a:buNone/>
            </a:pPr>
            <a:r>
              <a:rPr lang="en-US" sz="4000" b="1" dirty="0">
                <a:solidFill>
                  <a:srgbClr val="000000"/>
                </a:solidFill>
                <a:latin typeface="Montserrat Bold" pitchFamily="34" charset="0"/>
                <a:ea typeface="Montserrat Bold" pitchFamily="34" charset="-122"/>
                <a:cs typeface="Montserrat Bold" pitchFamily="34" charset="-120"/>
              </a:rPr>
              <a:t>Key Technical Achievements</a:t>
            </a:r>
            <a:endParaRPr lang="en-US" sz="4000" dirty="0"/>
          </a:p>
        </p:txBody>
      </p:sp>
      <p:sp>
        <p:nvSpPr>
          <p:cNvPr id="3" name="Shape 1"/>
          <p:cNvSpPr/>
          <p:nvPr/>
        </p:nvSpPr>
        <p:spPr>
          <a:xfrm>
            <a:off x="792004" y="1886188"/>
            <a:ext cx="6410087" cy="2493526"/>
          </a:xfrm>
          <a:prstGeom prst="roundRect">
            <a:avLst>
              <a:gd name="adj" fmla="val 1361"/>
            </a:avLst>
          </a:prstGeom>
          <a:solidFill>
            <a:srgbClr val="F2EEEE"/>
          </a:solidFill>
          <a:ln/>
        </p:spPr>
      </p:sp>
      <p:sp>
        <p:nvSpPr>
          <p:cNvPr id="4" name="Shape 2"/>
          <p:cNvSpPr/>
          <p:nvPr/>
        </p:nvSpPr>
        <p:spPr>
          <a:xfrm>
            <a:off x="1018223" y="2112407"/>
            <a:ext cx="678775" cy="678775"/>
          </a:xfrm>
          <a:prstGeom prst="roundRect">
            <a:avLst>
              <a:gd name="adj" fmla="val 13469980"/>
            </a:avLst>
          </a:prstGeom>
          <a:solidFill>
            <a:srgbClr val="2D2E34"/>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04913" y="2299097"/>
            <a:ext cx="305395" cy="305395"/>
          </a:xfrm>
          <a:prstGeom prst="rect">
            <a:avLst/>
          </a:prstGeom>
        </p:spPr>
      </p:pic>
      <p:sp>
        <p:nvSpPr>
          <p:cNvPr id="6" name="Text 3"/>
          <p:cNvSpPr/>
          <p:nvPr/>
        </p:nvSpPr>
        <p:spPr>
          <a:xfrm>
            <a:off x="1018223" y="3017401"/>
            <a:ext cx="3571042" cy="321469"/>
          </a:xfrm>
          <a:prstGeom prst="rect">
            <a:avLst/>
          </a:prstGeom>
          <a:noFill/>
          <a:ln/>
        </p:spPr>
        <p:txBody>
          <a:bodyPr wrap="none" lIns="0" tIns="0" rIns="0" bIns="0" rtlCol="0" anchor="t"/>
          <a:lstStyle/>
          <a:p>
            <a:pPr algn="l" indent="0" marL="0">
              <a:lnSpc>
                <a:spcPts val="2500"/>
              </a:lnSpc>
              <a:buNone/>
            </a:pPr>
            <a:r>
              <a:rPr lang="en-US" sz="2000" b="1" dirty="0">
                <a:solidFill>
                  <a:srgbClr val="3D3838"/>
                </a:solidFill>
                <a:latin typeface="Montserrat Bold" pitchFamily="34" charset="0"/>
                <a:ea typeface="Montserrat Bold" pitchFamily="34" charset="-122"/>
                <a:cs typeface="Montserrat Bold" pitchFamily="34" charset="-120"/>
              </a:rPr>
              <a:t>Exceeded Accuracy Target</a:t>
            </a:r>
            <a:endParaRPr lang="en-US" sz="2000" dirty="0"/>
          </a:p>
        </p:txBody>
      </p:sp>
      <p:sp>
        <p:nvSpPr>
          <p:cNvPr id="7" name="Text 4"/>
          <p:cNvSpPr/>
          <p:nvPr/>
        </p:nvSpPr>
        <p:spPr>
          <a:xfrm>
            <a:off x="1018223" y="3474601"/>
            <a:ext cx="5957649" cy="678894"/>
          </a:xfrm>
          <a:prstGeom prst="rect">
            <a:avLst/>
          </a:prstGeom>
          <a:noFill/>
          <a:ln/>
        </p:spPr>
        <p:txBody>
          <a:bodyPr wrap="squar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All models achieved MAE below 2%, far exceeding the ±5% project goal. GRU reached 1.50% MAE.</a:t>
            </a:r>
            <a:endParaRPr lang="en-US" sz="1750" dirty="0"/>
          </a:p>
        </p:txBody>
      </p:sp>
      <p:sp>
        <p:nvSpPr>
          <p:cNvPr id="8" name="Shape 5"/>
          <p:cNvSpPr/>
          <p:nvPr/>
        </p:nvSpPr>
        <p:spPr>
          <a:xfrm>
            <a:off x="7428309" y="1886188"/>
            <a:ext cx="6410087" cy="2493526"/>
          </a:xfrm>
          <a:prstGeom prst="roundRect">
            <a:avLst>
              <a:gd name="adj" fmla="val 1361"/>
            </a:avLst>
          </a:prstGeom>
          <a:solidFill>
            <a:srgbClr val="F2EEEE"/>
          </a:solidFill>
          <a:ln/>
        </p:spPr>
      </p:sp>
      <p:sp>
        <p:nvSpPr>
          <p:cNvPr id="9" name="Shape 6"/>
          <p:cNvSpPr/>
          <p:nvPr/>
        </p:nvSpPr>
        <p:spPr>
          <a:xfrm>
            <a:off x="7654528" y="2112407"/>
            <a:ext cx="678775" cy="678775"/>
          </a:xfrm>
          <a:prstGeom prst="roundRect">
            <a:avLst>
              <a:gd name="adj" fmla="val 13469980"/>
            </a:avLst>
          </a:prstGeom>
          <a:solidFill>
            <a:srgbClr val="2D2E34"/>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41218" y="2299097"/>
            <a:ext cx="305395" cy="305395"/>
          </a:xfrm>
          <a:prstGeom prst="rect">
            <a:avLst/>
          </a:prstGeom>
        </p:spPr>
      </p:pic>
      <p:sp>
        <p:nvSpPr>
          <p:cNvPr id="11" name="Text 7"/>
          <p:cNvSpPr/>
          <p:nvPr/>
        </p:nvSpPr>
        <p:spPr>
          <a:xfrm>
            <a:off x="7654528" y="3017401"/>
            <a:ext cx="2842617" cy="321469"/>
          </a:xfrm>
          <a:prstGeom prst="rect">
            <a:avLst/>
          </a:prstGeom>
          <a:noFill/>
          <a:ln/>
        </p:spPr>
        <p:txBody>
          <a:bodyPr wrap="none" lIns="0" tIns="0" rIns="0" bIns="0" rtlCol="0" anchor="t"/>
          <a:lstStyle/>
          <a:p>
            <a:pPr algn="l" indent="0" marL="0">
              <a:lnSpc>
                <a:spcPts val="2500"/>
              </a:lnSpc>
              <a:buNone/>
            </a:pPr>
            <a:r>
              <a:rPr lang="en-US" sz="2000" b="1" dirty="0">
                <a:solidFill>
                  <a:srgbClr val="3D3838"/>
                </a:solidFill>
                <a:latin typeface="Montserrat Bold" pitchFamily="34" charset="0"/>
                <a:ea typeface="Montserrat Bold" pitchFamily="34" charset="-122"/>
                <a:cs typeface="Montserrat Bold" pitchFamily="34" charset="-120"/>
              </a:rPr>
              <a:t>Robust Data Pipeline</a:t>
            </a:r>
            <a:endParaRPr lang="en-US" sz="2000" dirty="0"/>
          </a:p>
        </p:txBody>
      </p:sp>
      <p:sp>
        <p:nvSpPr>
          <p:cNvPr id="12" name="Text 8"/>
          <p:cNvSpPr/>
          <p:nvPr/>
        </p:nvSpPr>
        <p:spPr>
          <a:xfrm>
            <a:off x="7654528" y="3474601"/>
            <a:ext cx="5957649" cy="678894"/>
          </a:xfrm>
          <a:prstGeom prst="rect">
            <a:avLst/>
          </a:prstGeom>
          <a:noFill/>
          <a:ln/>
        </p:spPr>
        <p:txBody>
          <a:bodyPr wrap="squar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Successfully parsed complex MATLAB structures, engineered physics-based features, and achieved &lt;5% missing data.</a:t>
            </a:r>
            <a:endParaRPr lang="en-US" sz="1750" dirty="0"/>
          </a:p>
        </p:txBody>
      </p:sp>
      <p:sp>
        <p:nvSpPr>
          <p:cNvPr id="13" name="Shape 9"/>
          <p:cNvSpPr/>
          <p:nvPr/>
        </p:nvSpPr>
        <p:spPr>
          <a:xfrm>
            <a:off x="792004" y="4605933"/>
            <a:ext cx="6410087" cy="2832973"/>
          </a:xfrm>
          <a:prstGeom prst="roundRect">
            <a:avLst>
              <a:gd name="adj" fmla="val 1198"/>
            </a:avLst>
          </a:prstGeom>
          <a:solidFill>
            <a:srgbClr val="F2EEEE"/>
          </a:solidFill>
          <a:ln/>
        </p:spPr>
      </p:sp>
      <p:sp>
        <p:nvSpPr>
          <p:cNvPr id="14" name="Shape 10"/>
          <p:cNvSpPr/>
          <p:nvPr/>
        </p:nvSpPr>
        <p:spPr>
          <a:xfrm>
            <a:off x="1018223" y="4832152"/>
            <a:ext cx="678775" cy="678775"/>
          </a:xfrm>
          <a:prstGeom prst="roundRect">
            <a:avLst>
              <a:gd name="adj" fmla="val 13469980"/>
            </a:avLst>
          </a:prstGeom>
          <a:solidFill>
            <a:srgbClr val="2D2E34"/>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04913" y="5018842"/>
            <a:ext cx="305395" cy="305395"/>
          </a:xfrm>
          <a:prstGeom prst="rect">
            <a:avLst/>
          </a:prstGeom>
        </p:spPr>
      </p:pic>
      <p:sp>
        <p:nvSpPr>
          <p:cNvPr id="16" name="Text 11"/>
          <p:cNvSpPr/>
          <p:nvPr/>
        </p:nvSpPr>
        <p:spPr>
          <a:xfrm>
            <a:off x="1018223" y="5737146"/>
            <a:ext cx="2870121" cy="321469"/>
          </a:xfrm>
          <a:prstGeom prst="rect">
            <a:avLst/>
          </a:prstGeom>
          <a:noFill/>
          <a:ln/>
        </p:spPr>
        <p:txBody>
          <a:bodyPr wrap="none" lIns="0" tIns="0" rIns="0" bIns="0" rtlCol="0" anchor="t"/>
          <a:lstStyle/>
          <a:p>
            <a:pPr algn="l" indent="0" marL="0">
              <a:lnSpc>
                <a:spcPts val="2500"/>
              </a:lnSpc>
              <a:buNone/>
            </a:pPr>
            <a:r>
              <a:rPr lang="en-US" sz="2000" b="1" dirty="0">
                <a:solidFill>
                  <a:srgbClr val="3D3838"/>
                </a:solidFill>
                <a:latin typeface="Montserrat Bold" pitchFamily="34" charset="0"/>
                <a:ea typeface="Montserrat Bold" pitchFamily="34" charset="-122"/>
                <a:cs typeface="Montserrat Bold" pitchFamily="34" charset="-120"/>
              </a:rPr>
              <a:t>Scalable Deployment</a:t>
            </a:r>
            <a:endParaRPr lang="en-US" sz="2000" dirty="0"/>
          </a:p>
        </p:txBody>
      </p:sp>
      <p:sp>
        <p:nvSpPr>
          <p:cNvPr id="17" name="Text 12"/>
          <p:cNvSpPr/>
          <p:nvPr/>
        </p:nvSpPr>
        <p:spPr>
          <a:xfrm>
            <a:off x="1018223" y="6194346"/>
            <a:ext cx="5957649" cy="678894"/>
          </a:xfrm>
          <a:prstGeom prst="rect">
            <a:avLst/>
          </a:prstGeom>
          <a:noFill/>
          <a:ln/>
        </p:spPr>
        <p:txBody>
          <a:bodyPr wrap="squar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Models and data stored on Amazon S3. Ready for production deployment with cloud-based infrastructure.</a:t>
            </a:r>
            <a:endParaRPr lang="en-US" sz="1750" dirty="0"/>
          </a:p>
        </p:txBody>
      </p:sp>
      <p:sp>
        <p:nvSpPr>
          <p:cNvPr id="18" name="Shape 13"/>
          <p:cNvSpPr/>
          <p:nvPr/>
        </p:nvSpPr>
        <p:spPr>
          <a:xfrm>
            <a:off x="7428309" y="4605933"/>
            <a:ext cx="6410087" cy="2832973"/>
          </a:xfrm>
          <a:prstGeom prst="roundRect">
            <a:avLst>
              <a:gd name="adj" fmla="val 1198"/>
            </a:avLst>
          </a:prstGeom>
          <a:solidFill>
            <a:srgbClr val="F2EEEE"/>
          </a:solidFill>
          <a:ln/>
        </p:spPr>
      </p:sp>
      <p:sp>
        <p:nvSpPr>
          <p:cNvPr id="19" name="Shape 14"/>
          <p:cNvSpPr/>
          <p:nvPr/>
        </p:nvSpPr>
        <p:spPr>
          <a:xfrm>
            <a:off x="7654528" y="4832152"/>
            <a:ext cx="678775" cy="678775"/>
          </a:xfrm>
          <a:prstGeom prst="roundRect">
            <a:avLst>
              <a:gd name="adj" fmla="val 13469980"/>
            </a:avLst>
          </a:prstGeom>
          <a:solidFill>
            <a:srgbClr val="2D2E3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41218" y="5018842"/>
            <a:ext cx="305395" cy="305395"/>
          </a:xfrm>
          <a:prstGeom prst="rect">
            <a:avLst/>
          </a:prstGeom>
        </p:spPr>
      </p:pic>
      <p:sp>
        <p:nvSpPr>
          <p:cNvPr id="21" name="Text 15"/>
          <p:cNvSpPr/>
          <p:nvPr/>
        </p:nvSpPr>
        <p:spPr>
          <a:xfrm>
            <a:off x="7654528" y="5737146"/>
            <a:ext cx="2571512" cy="321469"/>
          </a:xfrm>
          <a:prstGeom prst="rect">
            <a:avLst/>
          </a:prstGeom>
          <a:noFill/>
          <a:ln/>
        </p:spPr>
        <p:txBody>
          <a:bodyPr wrap="none" lIns="0" tIns="0" rIns="0" bIns="0" rtlCol="0" anchor="t"/>
          <a:lstStyle/>
          <a:p>
            <a:pPr algn="l" indent="0" marL="0">
              <a:lnSpc>
                <a:spcPts val="2500"/>
              </a:lnSpc>
              <a:buNone/>
            </a:pPr>
            <a:r>
              <a:rPr lang="en-US" sz="2000" b="1" dirty="0">
                <a:solidFill>
                  <a:srgbClr val="3D3838"/>
                </a:solidFill>
                <a:latin typeface="Montserrat Bold" pitchFamily="34" charset="0"/>
                <a:ea typeface="Montserrat Bold" pitchFamily="34" charset="-122"/>
                <a:cs typeface="Montserrat Bold" pitchFamily="34" charset="-120"/>
              </a:rPr>
              <a:t>Multi-Paradigm ML</a:t>
            </a:r>
            <a:endParaRPr lang="en-US" sz="2000" dirty="0"/>
          </a:p>
        </p:txBody>
      </p:sp>
      <p:sp>
        <p:nvSpPr>
          <p:cNvPr id="22" name="Text 16"/>
          <p:cNvSpPr/>
          <p:nvPr/>
        </p:nvSpPr>
        <p:spPr>
          <a:xfrm>
            <a:off x="7654528" y="6194346"/>
            <a:ext cx="5957649" cy="1018342"/>
          </a:xfrm>
          <a:prstGeom prst="rect">
            <a:avLst/>
          </a:prstGeom>
          <a:noFill/>
          <a:ln/>
        </p:spPr>
        <p:txBody>
          <a:bodyPr wrap="squar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Implemented supervised (RF, XGBoost, LSTM, GRU), unsupervised (K-means), and reinforcement learning (Q-learning).</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63798" y="795099"/>
            <a:ext cx="7556540"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Model Recommendations</a:t>
            </a:r>
            <a:endParaRPr lang="en-US" sz="4400" dirty="0"/>
          </a:p>
        </p:txBody>
      </p:sp>
      <p:sp>
        <p:nvSpPr>
          <p:cNvPr id="3" name="Shape 1"/>
          <p:cNvSpPr/>
          <p:nvPr/>
        </p:nvSpPr>
        <p:spPr>
          <a:xfrm>
            <a:off x="863798" y="1990011"/>
            <a:ext cx="2150388" cy="1732598"/>
          </a:xfrm>
          <a:prstGeom prst="roundRect">
            <a:avLst>
              <a:gd name="adj" fmla="val 2137"/>
            </a:avLst>
          </a:prstGeom>
          <a:solidFill>
            <a:srgbClr val="F2EEEE"/>
          </a:solidFill>
          <a:ln/>
        </p:spPr>
      </p:sp>
      <p:sp>
        <p:nvSpPr>
          <p:cNvPr id="4" name="Text 2"/>
          <p:cNvSpPr/>
          <p:nvPr/>
        </p:nvSpPr>
        <p:spPr>
          <a:xfrm>
            <a:off x="1765459" y="2639378"/>
            <a:ext cx="347067" cy="433864"/>
          </a:xfrm>
          <a:prstGeom prst="rect">
            <a:avLst/>
          </a:prstGeom>
          <a:noFill/>
          <a:ln/>
        </p:spPr>
        <p:txBody>
          <a:bodyPr wrap="none" lIns="0" tIns="0" rIns="0" bIns="0" rtlCol="0" anchor="t"/>
          <a:lstStyle/>
          <a:p>
            <a:pPr algn="ctr" indent="0" marL="0">
              <a:lnSpc>
                <a:spcPts val="4050"/>
              </a:lnSpc>
              <a:buNone/>
            </a:pPr>
            <a:r>
              <a:rPr lang="en-US" sz="2700" b="1" dirty="0">
                <a:solidFill>
                  <a:srgbClr val="3D3838"/>
                </a:solidFill>
                <a:latin typeface="Montserrat Bold" pitchFamily="34" charset="0"/>
                <a:ea typeface="Montserrat Bold" pitchFamily="34" charset="-122"/>
                <a:cs typeface="Montserrat Bold" pitchFamily="34" charset="-120"/>
              </a:rPr>
              <a:t>1</a:t>
            </a:r>
            <a:endParaRPr lang="en-US" sz="2700" dirty="0"/>
          </a:p>
        </p:txBody>
      </p:sp>
      <p:sp>
        <p:nvSpPr>
          <p:cNvPr id="5" name="Text 3"/>
          <p:cNvSpPr/>
          <p:nvPr/>
        </p:nvSpPr>
        <p:spPr>
          <a:xfrm>
            <a:off x="3261003" y="2236827"/>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Primary: GRU</a:t>
            </a:r>
            <a:endParaRPr lang="en-US" sz="2200" dirty="0"/>
          </a:p>
        </p:txBody>
      </p:sp>
      <p:sp>
        <p:nvSpPr>
          <p:cNvPr id="6" name="Text 4"/>
          <p:cNvSpPr/>
          <p:nvPr/>
        </p:nvSpPr>
        <p:spPr>
          <a:xfrm>
            <a:off x="3261003" y="2735461"/>
            <a:ext cx="10258782"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Best balance of accuracy and consistency. Lowest MAE (1.50%). Most robust across different batteries. Recommended for production deployment.</a:t>
            </a:r>
            <a:endParaRPr lang="en-US" sz="1900" dirty="0"/>
          </a:p>
        </p:txBody>
      </p:sp>
      <p:sp>
        <p:nvSpPr>
          <p:cNvPr id="7" name="Shape 5"/>
          <p:cNvSpPr/>
          <p:nvPr/>
        </p:nvSpPr>
        <p:spPr>
          <a:xfrm>
            <a:off x="3137535" y="3707368"/>
            <a:ext cx="10505718" cy="15240"/>
          </a:xfrm>
          <a:prstGeom prst="roundRect">
            <a:avLst>
              <a:gd name="adj" fmla="val 242945"/>
            </a:avLst>
          </a:prstGeom>
          <a:solidFill>
            <a:srgbClr val="D8D4D4"/>
          </a:solidFill>
          <a:ln/>
        </p:spPr>
      </p:sp>
      <p:sp>
        <p:nvSpPr>
          <p:cNvPr id="8" name="Shape 6"/>
          <p:cNvSpPr/>
          <p:nvPr/>
        </p:nvSpPr>
        <p:spPr>
          <a:xfrm>
            <a:off x="863798" y="3845957"/>
            <a:ext cx="4300895" cy="1732598"/>
          </a:xfrm>
          <a:prstGeom prst="roundRect">
            <a:avLst>
              <a:gd name="adj" fmla="val 2137"/>
            </a:avLst>
          </a:prstGeom>
          <a:solidFill>
            <a:srgbClr val="F2EEEE"/>
          </a:solidFill>
          <a:ln/>
        </p:spPr>
      </p:sp>
      <p:sp>
        <p:nvSpPr>
          <p:cNvPr id="9" name="Text 7"/>
          <p:cNvSpPr/>
          <p:nvPr/>
        </p:nvSpPr>
        <p:spPr>
          <a:xfrm>
            <a:off x="2840712" y="4495324"/>
            <a:ext cx="347067" cy="433864"/>
          </a:xfrm>
          <a:prstGeom prst="rect">
            <a:avLst/>
          </a:prstGeom>
          <a:noFill/>
          <a:ln/>
        </p:spPr>
        <p:txBody>
          <a:bodyPr wrap="none" lIns="0" tIns="0" rIns="0" bIns="0" rtlCol="0" anchor="t"/>
          <a:lstStyle/>
          <a:p>
            <a:pPr algn="ctr" indent="0" marL="0">
              <a:lnSpc>
                <a:spcPts val="4050"/>
              </a:lnSpc>
              <a:buNone/>
            </a:pPr>
            <a:r>
              <a:rPr lang="en-US" sz="2700" b="1" dirty="0">
                <a:solidFill>
                  <a:srgbClr val="3D3838"/>
                </a:solidFill>
                <a:latin typeface="Montserrat Bold" pitchFamily="34" charset="0"/>
                <a:ea typeface="Montserrat Bold" pitchFamily="34" charset="-122"/>
                <a:cs typeface="Montserrat Bold" pitchFamily="34" charset="-120"/>
              </a:rPr>
              <a:t>2</a:t>
            </a:r>
            <a:endParaRPr lang="en-US" sz="2700" dirty="0"/>
          </a:p>
        </p:txBody>
      </p:sp>
      <p:sp>
        <p:nvSpPr>
          <p:cNvPr id="10" name="Text 8"/>
          <p:cNvSpPr/>
          <p:nvPr/>
        </p:nvSpPr>
        <p:spPr>
          <a:xfrm>
            <a:off x="5411510" y="4092773"/>
            <a:ext cx="3655576"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Baseline: Random Forest</a:t>
            </a:r>
            <a:endParaRPr lang="en-US" sz="2200" dirty="0"/>
          </a:p>
        </p:txBody>
      </p:sp>
      <p:sp>
        <p:nvSpPr>
          <p:cNvPr id="11" name="Text 9"/>
          <p:cNvSpPr/>
          <p:nvPr/>
        </p:nvSpPr>
        <p:spPr>
          <a:xfrm>
            <a:off x="5411510" y="4591407"/>
            <a:ext cx="8108275"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Highest R² (0.9367). Excellent interpretability. Strong traditional ML choice for comparison and explainability.</a:t>
            </a:r>
            <a:endParaRPr lang="en-US" sz="1900" dirty="0"/>
          </a:p>
        </p:txBody>
      </p:sp>
      <p:sp>
        <p:nvSpPr>
          <p:cNvPr id="12" name="Shape 10"/>
          <p:cNvSpPr/>
          <p:nvPr/>
        </p:nvSpPr>
        <p:spPr>
          <a:xfrm>
            <a:off x="5288042" y="5563314"/>
            <a:ext cx="8355211" cy="15240"/>
          </a:xfrm>
          <a:prstGeom prst="roundRect">
            <a:avLst>
              <a:gd name="adj" fmla="val 242945"/>
            </a:avLst>
          </a:prstGeom>
          <a:solidFill>
            <a:srgbClr val="D8D4D4"/>
          </a:solidFill>
          <a:ln/>
        </p:spPr>
      </p:sp>
      <p:sp>
        <p:nvSpPr>
          <p:cNvPr id="13" name="Shape 11"/>
          <p:cNvSpPr/>
          <p:nvPr/>
        </p:nvSpPr>
        <p:spPr>
          <a:xfrm>
            <a:off x="863798" y="5701903"/>
            <a:ext cx="6451402" cy="1732598"/>
          </a:xfrm>
          <a:prstGeom prst="roundRect">
            <a:avLst>
              <a:gd name="adj" fmla="val 2137"/>
            </a:avLst>
          </a:prstGeom>
          <a:solidFill>
            <a:srgbClr val="F2EEEE"/>
          </a:solidFill>
          <a:ln/>
        </p:spPr>
      </p:sp>
      <p:sp>
        <p:nvSpPr>
          <p:cNvPr id="14" name="Text 12"/>
          <p:cNvSpPr/>
          <p:nvPr/>
        </p:nvSpPr>
        <p:spPr>
          <a:xfrm>
            <a:off x="3915966" y="6351270"/>
            <a:ext cx="347067" cy="433864"/>
          </a:xfrm>
          <a:prstGeom prst="rect">
            <a:avLst/>
          </a:prstGeom>
          <a:noFill/>
          <a:ln/>
        </p:spPr>
        <p:txBody>
          <a:bodyPr wrap="none" lIns="0" tIns="0" rIns="0" bIns="0" rtlCol="0" anchor="t"/>
          <a:lstStyle/>
          <a:p>
            <a:pPr algn="ctr" indent="0" marL="0">
              <a:lnSpc>
                <a:spcPts val="4050"/>
              </a:lnSpc>
              <a:buNone/>
            </a:pPr>
            <a:r>
              <a:rPr lang="en-US" sz="2700" b="1" dirty="0">
                <a:solidFill>
                  <a:srgbClr val="3D3838"/>
                </a:solidFill>
                <a:latin typeface="Montserrat Bold" pitchFamily="34" charset="0"/>
                <a:ea typeface="Montserrat Bold" pitchFamily="34" charset="-122"/>
                <a:cs typeface="Montserrat Bold" pitchFamily="34" charset="-120"/>
              </a:rPr>
              <a:t>3</a:t>
            </a:r>
            <a:endParaRPr lang="en-US" sz="2700" dirty="0"/>
          </a:p>
        </p:txBody>
      </p:sp>
      <p:sp>
        <p:nvSpPr>
          <p:cNvPr id="15" name="Text 13"/>
          <p:cNvSpPr/>
          <p:nvPr/>
        </p:nvSpPr>
        <p:spPr>
          <a:xfrm>
            <a:off x="7562017" y="5948720"/>
            <a:ext cx="3041452"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Alternative: XGBoost</a:t>
            </a:r>
            <a:endParaRPr lang="en-US" sz="2200" dirty="0"/>
          </a:p>
        </p:txBody>
      </p:sp>
      <p:sp>
        <p:nvSpPr>
          <p:cNvPr id="16" name="Text 14"/>
          <p:cNvSpPr/>
          <p:nvPr/>
        </p:nvSpPr>
        <p:spPr>
          <a:xfrm>
            <a:off x="7562017" y="6447353"/>
            <a:ext cx="5957768"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R² of 0.9276, very close to Random Forest. MAE of 1.76%. Excellent gradient boosting performance.</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87956" y="638889"/>
            <a:ext cx="6932771" cy="639604"/>
          </a:xfrm>
          <a:prstGeom prst="rect">
            <a:avLst/>
          </a:prstGeom>
          <a:noFill/>
          <a:ln/>
        </p:spPr>
        <p:txBody>
          <a:bodyPr wrap="none" lIns="0" tIns="0" rIns="0" bIns="0" rtlCol="0" anchor="t"/>
          <a:lstStyle/>
          <a:p>
            <a:pPr algn="l" indent="0" marL="0">
              <a:lnSpc>
                <a:spcPts val="5000"/>
              </a:lnSpc>
              <a:buNone/>
            </a:pPr>
            <a:r>
              <a:rPr lang="en-US" sz="4000" b="1" dirty="0">
                <a:solidFill>
                  <a:srgbClr val="000000"/>
                </a:solidFill>
                <a:latin typeface="Montserrat Bold" pitchFamily="34" charset="0"/>
                <a:ea typeface="Montserrat Bold" pitchFamily="34" charset="-122"/>
                <a:cs typeface="Montserrat Bold" pitchFamily="34" charset="-120"/>
              </a:rPr>
              <a:t>Future Work &amp; Next Steps</a:t>
            </a:r>
            <a:endParaRPr lang="en-US" sz="4000" dirty="0"/>
          </a:p>
        </p:txBody>
      </p:sp>
      <p:pic>
        <p:nvPicPr>
          <p:cNvPr id="3" name="Image 0" descr="preencoded.png">    </p:cNvPr>
          <p:cNvPicPr>
            <a:picLocks noChangeAspect="1"/>
          </p:cNvPicPr>
          <p:nvPr/>
        </p:nvPicPr>
        <p:blipFill>
          <a:blip r:embed="rId1"/>
          <a:stretch>
            <a:fillRect/>
          </a:stretch>
        </p:blipFill>
        <p:spPr>
          <a:xfrm>
            <a:off x="787956" y="1728668"/>
            <a:ext cx="1125617" cy="1580198"/>
          </a:xfrm>
          <a:prstGeom prst="rect">
            <a:avLst/>
          </a:prstGeom>
        </p:spPr>
      </p:pic>
      <p:sp>
        <p:nvSpPr>
          <p:cNvPr id="4" name="Text 1"/>
          <p:cNvSpPr/>
          <p:nvPr/>
        </p:nvSpPr>
        <p:spPr>
          <a:xfrm>
            <a:off x="2138601" y="1953697"/>
            <a:ext cx="2558296" cy="319802"/>
          </a:xfrm>
          <a:prstGeom prst="rect">
            <a:avLst/>
          </a:prstGeom>
          <a:noFill/>
          <a:ln/>
        </p:spPr>
        <p:txBody>
          <a:bodyPr wrap="none" lIns="0" tIns="0" rIns="0" bIns="0" rtlCol="0" anchor="t"/>
          <a:lstStyle/>
          <a:p>
            <a:pPr algn="l" indent="0" marL="0">
              <a:lnSpc>
                <a:spcPts val="2500"/>
              </a:lnSpc>
              <a:buNone/>
            </a:pPr>
            <a:r>
              <a:rPr lang="en-US" sz="2000" b="1" dirty="0">
                <a:solidFill>
                  <a:srgbClr val="3D3838"/>
                </a:solidFill>
                <a:latin typeface="Montserrat Bold" pitchFamily="34" charset="0"/>
                <a:ea typeface="Montserrat Bold" pitchFamily="34" charset="-122"/>
                <a:cs typeface="Montserrat Bold" pitchFamily="34" charset="-120"/>
              </a:rPr>
              <a:t>RUL Validation</a:t>
            </a:r>
            <a:endParaRPr lang="en-US" sz="2000" dirty="0"/>
          </a:p>
        </p:txBody>
      </p:sp>
      <p:sp>
        <p:nvSpPr>
          <p:cNvPr id="5" name="Text 2"/>
          <p:cNvSpPr/>
          <p:nvPr/>
        </p:nvSpPr>
        <p:spPr>
          <a:xfrm>
            <a:off x="2138601" y="2408515"/>
            <a:ext cx="11703844" cy="675323"/>
          </a:xfrm>
          <a:prstGeom prst="rect">
            <a:avLst/>
          </a:prstGeom>
          <a:noFill/>
          <a:ln/>
        </p:spPr>
        <p:txBody>
          <a:bodyPr wrap="squar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Test on batteries with complete run-to-failure data to validate Remaining Useful Life prediction accuracy and achieve &gt;90% recall target.</a:t>
            </a:r>
            <a:endParaRPr lang="en-US" sz="1750" dirty="0"/>
          </a:p>
        </p:txBody>
      </p:sp>
      <p:pic>
        <p:nvPicPr>
          <p:cNvPr id="6" name="Image 1" descr="preencoded.png">    </p:cNvPr>
          <p:cNvPicPr>
            <a:picLocks noChangeAspect="1"/>
          </p:cNvPicPr>
          <p:nvPr/>
        </p:nvPicPr>
        <p:blipFill>
          <a:blip r:embed="rId2"/>
          <a:stretch>
            <a:fillRect/>
          </a:stretch>
        </p:blipFill>
        <p:spPr>
          <a:xfrm>
            <a:off x="787956" y="3308866"/>
            <a:ext cx="1125617" cy="1580198"/>
          </a:xfrm>
          <a:prstGeom prst="rect">
            <a:avLst/>
          </a:prstGeom>
        </p:spPr>
      </p:pic>
      <p:sp>
        <p:nvSpPr>
          <p:cNvPr id="7" name="Text 3"/>
          <p:cNvSpPr/>
          <p:nvPr/>
        </p:nvSpPr>
        <p:spPr>
          <a:xfrm>
            <a:off x="2138601" y="3533894"/>
            <a:ext cx="2575917" cy="319802"/>
          </a:xfrm>
          <a:prstGeom prst="rect">
            <a:avLst/>
          </a:prstGeom>
          <a:noFill/>
          <a:ln/>
        </p:spPr>
        <p:txBody>
          <a:bodyPr wrap="none" lIns="0" tIns="0" rIns="0" bIns="0" rtlCol="0" anchor="t"/>
          <a:lstStyle/>
          <a:p>
            <a:pPr algn="l" indent="0" marL="0">
              <a:lnSpc>
                <a:spcPts val="2500"/>
              </a:lnSpc>
              <a:buNone/>
            </a:pPr>
            <a:r>
              <a:rPr lang="en-US" sz="2000" b="1" dirty="0">
                <a:solidFill>
                  <a:srgbClr val="3D3838"/>
                </a:solidFill>
                <a:latin typeface="Montserrat Bold" pitchFamily="34" charset="0"/>
                <a:ea typeface="Montserrat Bold" pitchFamily="34" charset="-122"/>
                <a:cs typeface="Montserrat Bold" pitchFamily="34" charset="-120"/>
              </a:rPr>
              <a:t>Ensemble Methods</a:t>
            </a:r>
            <a:endParaRPr lang="en-US" sz="2000" dirty="0"/>
          </a:p>
        </p:txBody>
      </p:sp>
      <p:sp>
        <p:nvSpPr>
          <p:cNvPr id="8" name="Text 4"/>
          <p:cNvSpPr/>
          <p:nvPr/>
        </p:nvSpPr>
        <p:spPr>
          <a:xfrm>
            <a:off x="2138601" y="3988713"/>
            <a:ext cx="11703844" cy="675323"/>
          </a:xfrm>
          <a:prstGeom prst="rect">
            <a:avLst/>
          </a:prstGeom>
          <a:noFill/>
          <a:ln/>
        </p:spPr>
        <p:txBody>
          <a:bodyPr wrap="squar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Combine GRU and Random Forest predictions for improved robustness. Leverage strengths of both sequential and tree-based models.</a:t>
            </a:r>
            <a:endParaRPr lang="en-US" sz="1750" dirty="0"/>
          </a:p>
        </p:txBody>
      </p:sp>
      <p:pic>
        <p:nvPicPr>
          <p:cNvPr id="9" name="Image 2" descr="preencoded.png">    </p:cNvPr>
          <p:cNvPicPr>
            <a:picLocks noChangeAspect="1"/>
          </p:cNvPicPr>
          <p:nvPr/>
        </p:nvPicPr>
        <p:blipFill>
          <a:blip r:embed="rId3"/>
          <a:stretch>
            <a:fillRect/>
          </a:stretch>
        </p:blipFill>
        <p:spPr>
          <a:xfrm>
            <a:off x="787956" y="4889063"/>
            <a:ext cx="1125617" cy="1350764"/>
          </a:xfrm>
          <a:prstGeom prst="rect">
            <a:avLst/>
          </a:prstGeom>
        </p:spPr>
      </p:pic>
      <p:sp>
        <p:nvSpPr>
          <p:cNvPr id="10" name="Text 5"/>
          <p:cNvSpPr/>
          <p:nvPr/>
        </p:nvSpPr>
        <p:spPr>
          <a:xfrm>
            <a:off x="2138601" y="5114092"/>
            <a:ext cx="4033123" cy="319802"/>
          </a:xfrm>
          <a:prstGeom prst="rect">
            <a:avLst/>
          </a:prstGeom>
          <a:noFill/>
          <a:ln/>
        </p:spPr>
        <p:txBody>
          <a:bodyPr wrap="none" lIns="0" tIns="0" rIns="0" bIns="0" rtlCol="0" anchor="t"/>
          <a:lstStyle/>
          <a:p>
            <a:pPr algn="l" indent="0" marL="0">
              <a:lnSpc>
                <a:spcPts val="2500"/>
              </a:lnSpc>
              <a:buNone/>
            </a:pPr>
            <a:r>
              <a:rPr lang="en-US" sz="2000" b="1" dirty="0">
                <a:solidFill>
                  <a:srgbClr val="3D3838"/>
                </a:solidFill>
                <a:latin typeface="Montserrat Bold" pitchFamily="34" charset="0"/>
                <a:ea typeface="Montserrat Bold" pitchFamily="34" charset="-122"/>
                <a:cs typeface="Montserrat Bold" pitchFamily="34" charset="-120"/>
              </a:rPr>
              <a:t>Hyperparameter Optimization</a:t>
            </a:r>
            <a:endParaRPr lang="en-US" sz="2000" dirty="0"/>
          </a:p>
        </p:txBody>
      </p:sp>
      <p:sp>
        <p:nvSpPr>
          <p:cNvPr id="11" name="Text 6"/>
          <p:cNvSpPr/>
          <p:nvPr/>
        </p:nvSpPr>
        <p:spPr>
          <a:xfrm>
            <a:off x="2138601" y="5568910"/>
            <a:ext cx="11703844" cy="337661"/>
          </a:xfrm>
          <a:prstGeom prst="rect">
            <a:avLst/>
          </a:prstGeom>
          <a:noFill/>
          <a:ln/>
        </p:spPr>
        <p:txBody>
          <a:bodyPr wrap="non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Systematic tuning of LSTM architecture (layers, units, dropout) to match GRU performance. Consider Bayesian optimization.</a:t>
            </a:r>
            <a:endParaRPr lang="en-US" sz="1750" dirty="0"/>
          </a:p>
        </p:txBody>
      </p:sp>
      <p:pic>
        <p:nvPicPr>
          <p:cNvPr id="12" name="Image 3" descr="preencoded.png">    </p:cNvPr>
          <p:cNvPicPr>
            <a:picLocks noChangeAspect="1"/>
          </p:cNvPicPr>
          <p:nvPr/>
        </p:nvPicPr>
        <p:blipFill>
          <a:blip r:embed="rId4"/>
          <a:stretch>
            <a:fillRect/>
          </a:stretch>
        </p:blipFill>
        <p:spPr>
          <a:xfrm>
            <a:off x="787956" y="6239827"/>
            <a:ext cx="1125617" cy="1350764"/>
          </a:xfrm>
          <a:prstGeom prst="rect">
            <a:avLst/>
          </a:prstGeom>
        </p:spPr>
      </p:pic>
      <p:sp>
        <p:nvSpPr>
          <p:cNvPr id="13" name="Text 7"/>
          <p:cNvSpPr/>
          <p:nvPr/>
        </p:nvSpPr>
        <p:spPr>
          <a:xfrm>
            <a:off x="2138601" y="6464856"/>
            <a:ext cx="3232190" cy="319802"/>
          </a:xfrm>
          <a:prstGeom prst="rect">
            <a:avLst/>
          </a:prstGeom>
          <a:noFill/>
          <a:ln/>
        </p:spPr>
        <p:txBody>
          <a:bodyPr wrap="none" lIns="0" tIns="0" rIns="0" bIns="0" rtlCol="0" anchor="t"/>
          <a:lstStyle/>
          <a:p>
            <a:pPr algn="l" indent="0" marL="0">
              <a:lnSpc>
                <a:spcPts val="2500"/>
              </a:lnSpc>
              <a:buNone/>
            </a:pPr>
            <a:r>
              <a:rPr lang="en-US" sz="2000" b="1" dirty="0">
                <a:solidFill>
                  <a:srgbClr val="3D3838"/>
                </a:solidFill>
                <a:latin typeface="Montserrat Bold" pitchFamily="34" charset="0"/>
                <a:ea typeface="Montserrat Bold" pitchFamily="34" charset="-122"/>
                <a:cs typeface="Montserrat Bold" pitchFamily="34" charset="-120"/>
              </a:rPr>
              <a:t>Production Deployment</a:t>
            </a:r>
            <a:endParaRPr lang="en-US" sz="2000" dirty="0"/>
          </a:p>
        </p:txBody>
      </p:sp>
      <p:sp>
        <p:nvSpPr>
          <p:cNvPr id="14" name="Text 8"/>
          <p:cNvSpPr/>
          <p:nvPr/>
        </p:nvSpPr>
        <p:spPr>
          <a:xfrm>
            <a:off x="2138601" y="6919674"/>
            <a:ext cx="11703844" cy="337661"/>
          </a:xfrm>
          <a:prstGeom prst="rect">
            <a:avLst/>
          </a:prstGeom>
          <a:noFill/>
          <a:ln/>
        </p:spPr>
        <p:txBody>
          <a:bodyPr wrap="non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Deploy as web application on free hosting platforms. Implement real-time SoH monitoring and RUL forecasting for EV fleets.</a:t>
            </a:r>
            <a:endParaRPr lang="en-US" sz="1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813435" y="813316"/>
            <a:ext cx="5282089" cy="660202"/>
          </a:xfrm>
          <a:prstGeom prst="rect">
            <a:avLst/>
          </a:prstGeom>
          <a:noFill/>
          <a:ln/>
        </p:spPr>
        <p:txBody>
          <a:bodyPr wrap="none" lIns="0" tIns="0" rIns="0" bIns="0" rtlCol="0" anchor="t"/>
          <a:lstStyle/>
          <a:p>
            <a:pPr algn="l" indent="0" marL="0">
              <a:lnSpc>
                <a:spcPts val="5150"/>
              </a:lnSpc>
              <a:buNone/>
            </a:pPr>
            <a:r>
              <a:rPr lang="en-US" sz="4150" b="1" dirty="0">
                <a:solidFill>
                  <a:srgbClr val="000000"/>
                </a:solidFill>
                <a:latin typeface="Montserrat Bold" pitchFamily="34" charset="0"/>
                <a:ea typeface="Montserrat Bold" pitchFamily="34" charset="-122"/>
                <a:cs typeface="Montserrat Bold" pitchFamily="34" charset="-120"/>
              </a:rPr>
              <a:t>Conclusion</a:t>
            </a:r>
            <a:endParaRPr lang="en-US" sz="4150" dirty="0"/>
          </a:p>
        </p:txBody>
      </p:sp>
      <p:sp>
        <p:nvSpPr>
          <p:cNvPr id="3" name="Text 1"/>
          <p:cNvSpPr/>
          <p:nvPr/>
        </p:nvSpPr>
        <p:spPr>
          <a:xfrm>
            <a:off x="1162050" y="2199799"/>
            <a:ext cx="12654915" cy="697230"/>
          </a:xfrm>
          <a:prstGeom prst="rect">
            <a:avLst/>
          </a:prstGeom>
          <a:noFill/>
          <a:ln/>
        </p:spPr>
        <p:txBody>
          <a:bodyPr wrap="square" lIns="0" tIns="0" rIns="0" bIns="0" rtlCol="0" anchor="t"/>
          <a:lstStyle/>
          <a:p>
            <a:pPr algn="l"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This project successfully demonstrates the high feasibility of accurately predicting battery State of Health using machine learning. The primary goal of achieving predictions within ±5% error was exceeded, with top models performing under 2% MAE.</a:t>
            </a:r>
            <a:endParaRPr lang="en-US" sz="1800" dirty="0"/>
          </a:p>
        </p:txBody>
      </p:sp>
      <p:sp>
        <p:nvSpPr>
          <p:cNvPr id="4" name="Shape 2"/>
          <p:cNvSpPr/>
          <p:nvPr/>
        </p:nvSpPr>
        <p:spPr>
          <a:xfrm>
            <a:off x="813435" y="1938338"/>
            <a:ext cx="30480" cy="1220153"/>
          </a:xfrm>
          <a:prstGeom prst="rect">
            <a:avLst/>
          </a:prstGeom>
          <a:solidFill>
            <a:srgbClr val="2D2E34"/>
          </a:solidFill>
          <a:ln/>
        </p:spPr>
      </p:sp>
      <p:sp>
        <p:nvSpPr>
          <p:cNvPr id="5" name="Text 3"/>
          <p:cNvSpPr/>
          <p:nvPr/>
        </p:nvSpPr>
        <p:spPr>
          <a:xfrm>
            <a:off x="813435" y="3536156"/>
            <a:ext cx="4140756" cy="766882"/>
          </a:xfrm>
          <a:prstGeom prst="rect">
            <a:avLst/>
          </a:prstGeom>
          <a:noFill/>
          <a:ln/>
        </p:spPr>
        <p:txBody>
          <a:bodyPr wrap="none" lIns="0" tIns="0" rIns="0" bIns="0" rtlCol="0" anchor="t"/>
          <a:lstStyle/>
          <a:p>
            <a:pPr algn="ctr" indent="0" marL="0">
              <a:lnSpc>
                <a:spcPts val="6000"/>
              </a:lnSpc>
              <a:buNone/>
            </a:pPr>
            <a:r>
              <a:rPr lang="en-US" sz="6000" b="1" dirty="0">
                <a:solidFill>
                  <a:srgbClr val="3D3838"/>
                </a:solidFill>
                <a:latin typeface="Montserrat Bold" pitchFamily="34" charset="0"/>
                <a:ea typeface="Montserrat Bold" pitchFamily="34" charset="-122"/>
                <a:cs typeface="Montserrat Bold" pitchFamily="34" charset="-120"/>
              </a:rPr>
              <a:t>1.50%</a:t>
            </a:r>
            <a:endParaRPr lang="en-US" sz="6000" dirty="0"/>
          </a:p>
        </p:txBody>
      </p:sp>
      <p:sp>
        <p:nvSpPr>
          <p:cNvPr id="6" name="Text 4"/>
          <p:cNvSpPr/>
          <p:nvPr/>
        </p:nvSpPr>
        <p:spPr>
          <a:xfrm>
            <a:off x="1563291" y="4593550"/>
            <a:ext cx="2641044" cy="330041"/>
          </a:xfrm>
          <a:prstGeom prst="rect">
            <a:avLst/>
          </a:prstGeom>
          <a:noFill/>
          <a:ln/>
        </p:spPr>
        <p:txBody>
          <a:bodyPr wrap="none" lIns="0" tIns="0" rIns="0" bIns="0" rtlCol="0" anchor="t"/>
          <a:lstStyle/>
          <a:p>
            <a:pPr algn="ctr" indent="0" marL="0">
              <a:lnSpc>
                <a:spcPts val="2550"/>
              </a:lnSpc>
              <a:buNone/>
            </a:pPr>
            <a:r>
              <a:rPr lang="en-US" sz="2050" b="1" dirty="0">
                <a:solidFill>
                  <a:srgbClr val="3D3838"/>
                </a:solidFill>
                <a:latin typeface="Montserrat Bold" pitchFamily="34" charset="0"/>
                <a:ea typeface="Montserrat Bold" pitchFamily="34" charset="-122"/>
                <a:cs typeface="Montserrat Bold" pitchFamily="34" charset="-120"/>
              </a:rPr>
              <a:t>Best MAE</a:t>
            </a:r>
            <a:endParaRPr lang="en-US" sz="2050" dirty="0"/>
          </a:p>
        </p:txBody>
      </p:sp>
      <p:sp>
        <p:nvSpPr>
          <p:cNvPr id="7" name="Text 5"/>
          <p:cNvSpPr/>
          <p:nvPr/>
        </p:nvSpPr>
        <p:spPr>
          <a:xfrm>
            <a:off x="813435" y="5063014"/>
            <a:ext cx="4140756" cy="1045845"/>
          </a:xfrm>
          <a:prstGeom prst="rect">
            <a:avLst/>
          </a:prstGeom>
          <a:noFill/>
          <a:ln/>
        </p:spPr>
        <p:txBody>
          <a:bodyPr wrap="square" lIns="0" tIns="0" rIns="0" bIns="0" rtlCol="0" anchor="t"/>
          <a:lstStyle/>
          <a:p>
            <a:pPr algn="ctr"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GRU model achieved lowest mean absolute error, far exceeding the ±5% target.</a:t>
            </a:r>
            <a:endParaRPr lang="en-US" sz="1800" dirty="0"/>
          </a:p>
        </p:txBody>
      </p:sp>
      <p:sp>
        <p:nvSpPr>
          <p:cNvPr id="8" name="Text 6"/>
          <p:cNvSpPr/>
          <p:nvPr/>
        </p:nvSpPr>
        <p:spPr>
          <a:xfrm>
            <a:off x="5244703" y="3536156"/>
            <a:ext cx="4140875" cy="766882"/>
          </a:xfrm>
          <a:prstGeom prst="rect">
            <a:avLst/>
          </a:prstGeom>
          <a:noFill/>
          <a:ln/>
        </p:spPr>
        <p:txBody>
          <a:bodyPr wrap="none" lIns="0" tIns="0" rIns="0" bIns="0" rtlCol="0" anchor="t"/>
          <a:lstStyle/>
          <a:p>
            <a:pPr algn="ctr" indent="0" marL="0">
              <a:lnSpc>
                <a:spcPts val="6000"/>
              </a:lnSpc>
              <a:buNone/>
            </a:pPr>
            <a:r>
              <a:rPr lang="en-US" sz="6000" b="1" dirty="0">
                <a:solidFill>
                  <a:srgbClr val="3D3838"/>
                </a:solidFill>
                <a:latin typeface="Montserrat Bold" pitchFamily="34" charset="0"/>
                <a:ea typeface="Montserrat Bold" pitchFamily="34" charset="-122"/>
                <a:cs typeface="Montserrat Bold" pitchFamily="34" charset="-120"/>
              </a:rPr>
              <a:t>0.9367</a:t>
            </a:r>
            <a:endParaRPr lang="en-US" sz="6000" dirty="0"/>
          </a:p>
        </p:txBody>
      </p:sp>
      <p:sp>
        <p:nvSpPr>
          <p:cNvPr id="9" name="Text 7"/>
          <p:cNvSpPr/>
          <p:nvPr/>
        </p:nvSpPr>
        <p:spPr>
          <a:xfrm>
            <a:off x="5994559" y="4593550"/>
            <a:ext cx="2641044" cy="330041"/>
          </a:xfrm>
          <a:prstGeom prst="rect">
            <a:avLst/>
          </a:prstGeom>
          <a:noFill/>
          <a:ln/>
        </p:spPr>
        <p:txBody>
          <a:bodyPr wrap="none" lIns="0" tIns="0" rIns="0" bIns="0" rtlCol="0" anchor="t"/>
          <a:lstStyle/>
          <a:p>
            <a:pPr algn="ctr" indent="0" marL="0">
              <a:lnSpc>
                <a:spcPts val="2550"/>
              </a:lnSpc>
              <a:buNone/>
            </a:pPr>
            <a:r>
              <a:rPr lang="en-US" sz="2050" b="1" dirty="0">
                <a:solidFill>
                  <a:srgbClr val="3D3838"/>
                </a:solidFill>
                <a:latin typeface="Montserrat Bold" pitchFamily="34" charset="0"/>
                <a:ea typeface="Montserrat Bold" pitchFamily="34" charset="-122"/>
                <a:cs typeface="Montserrat Bold" pitchFamily="34" charset="-120"/>
              </a:rPr>
              <a:t>Best R²</a:t>
            </a:r>
            <a:endParaRPr lang="en-US" sz="2050" dirty="0"/>
          </a:p>
        </p:txBody>
      </p:sp>
      <p:sp>
        <p:nvSpPr>
          <p:cNvPr id="10" name="Text 8"/>
          <p:cNvSpPr/>
          <p:nvPr/>
        </p:nvSpPr>
        <p:spPr>
          <a:xfrm>
            <a:off x="5244703" y="5063014"/>
            <a:ext cx="4140875" cy="697230"/>
          </a:xfrm>
          <a:prstGeom prst="rect">
            <a:avLst/>
          </a:prstGeom>
          <a:noFill/>
          <a:ln/>
        </p:spPr>
        <p:txBody>
          <a:bodyPr wrap="square" lIns="0" tIns="0" rIns="0" bIns="0" rtlCol="0" anchor="t"/>
          <a:lstStyle/>
          <a:p>
            <a:pPr algn="ctr"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Random Forest explained 93.67% of variance in battery health.</a:t>
            </a:r>
            <a:endParaRPr lang="en-US" sz="1800" dirty="0"/>
          </a:p>
        </p:txBody>
      </p:sp>
      <p:sp>
        <p:nvSpPr>
          <p:cNvPr id="11" name="Text 9"/>
          <p:cNvSpPr/>
          <p:nvPr/>
        </p:nvSpPr>
        <p:spPr>
          <a:xfrm>
            <a:off x="9676090" y="3536156"/>
            <a:ext cx="4140756" cy="766882"/>
          </a:xfrm>
          <a:prstGeom prst="rect">
            <a:avLst/>
          </a:prstGeom>
          <a:noFill/>
          <a:ln/>
        </p:spPr>
        <p:txBody>
          <a:bodyPr wrap="none" lIns="0" tIns="0" rIns="0" bIns="0" rtlCol="0" anchor="t"/>
          <a:lstStyle/>
          <a:p>
            <a:pPr algn="ctr" indent="0" marL="0">
              <a:lnSpc>
                <a:spcPts val="6000"/>
              </a:lnSpc>
              <a:buNone/>
            </a:pPr>
            <a:r>
              <a:rPr lang="en-US" sz="6000" b="1" dirty="0">
                <a:solidFill>
                  <a:srgbClr val="3D3838"/>
                </a:solidFill>
                <a:latin typeface="Montserrat Bold" pitchFamily="34" charset="0"/>
                <a:ea typeface="Montserrat Bold" pitchFamily="34" charset="-122"/>
                <a:cs typeface="Montserrat Bold" pitchFamily="34" charset="-120"/>
              </a:rPr>
              <a:t>2.1M</a:t>
            </a:r>
            <a:endParaRPr lang="en-US" sz="6000" dirty="0"/>
          </a:p>
        </p:txBody>
      </p:sp>
      <p:sp>
        <p:nvSpPr>
          <p:cNvPr id="12" name="Text 10"/>
          <p:cNvSpPr/>
          <p:nvPr/>
        </p:nvSpPr>
        <p:spPr>
          <a:xfrm>
            <a:off x="10425946" y="4593550"/>
            <a:ext cx="2641044" cy="330041"/>
          </a:xfrm>
          <a:prstGeom prst="rect">
            <a:avLst/>
          </a:prstGeom>
          <a:noFill/>
          <a:ln/>
        </p:spPr>
        <p:txBody>
          <a:bodyPr wrap="none" lIns="0" tIns="0" rIns="0" bIns="0" rtlCol="0" anchor="t"/>
          <a:lstStyle/>
          <a:p>
            <a:pPr algn="ctr" indent="0" marL="0">
              <a:lnSpc>
                <a:spcPts val="2550"/>
              </a:lnSpc>
              <a:buNone/>
            </a:pPr>
            <a:r>
              <a:rPr lang="en-US" sz="2050" b="1" dirty="0">
                <a:solidFill>
                  <a:srgbClr val="3D3838"/>
                </a:solidFill>
                <a:latin typeface="Montserrat Bold" pitchFamily="34" charset="0"/>
                <a:ea typeface="Montserrat Bold" pitchFamily="34" charset="-122"/>
                <a:cs typeface="Montserrat Bold" pitchFamily="34" charset="-120"/>
              </a:rPr>
              <a:t>Data Points</a:t>
            </a:r>
            <a:endParaRPr lang="en-US" sz="2050" dirty="0"/>
          </a:p>
        </p:txBody>
      </p:sp>
      <p:sp>
        <p:nvSpPr>
          <p:cNvPr id="13" name="Text 11"/>
          <p:cNvSpPr/>
          <p:nvPr/>
        </p:nvSpPr>
        <p:spPr>
          <a:xfrm>
            <a:off x="9676090" y="5063014"/>
            <a:ext cx="4140756" cy="1045845"/>
          </a:xfrm>
          <a:prstGeom prst="rect">
            <a:avLst/>
          </a:prstGeom>
          <a:noFill/>
          <a:ln/>
        </p:spPr>
        <p:txBody>
          <a:bodyPr wrap="square" lIns="0" tIns="0" rIns="0" bIns="0" rtlCol="0" anchor="t"/>
          <a:lstStyle/>
          <a:p>
            <a:pPr algn="ctr"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Successfully processed and analyzed over 2.1 million measurements across 636 cycles.</a:t>
            </a:r>
            <a:endParaRPr lang="en-US" sz="1800" dirty="0"/>
          </a:p>
        </p:txBody>
      </p:sp>
      <p:sp>
        <p:nvSpPr>
          <p:cNvPr id="14" name="Text 12"/>
          <p:cNvSpPr/>
          <p:nvPr/>
        </p:nvSpPr>
        <p:spPr>
          <a:xfrm>
            <a:off x="813435" y="6370320"/>
            <a:ext cx="13003530" cy="1045845"/>
          </a:xfrm>
          <a:prstGeom prst="rect">
            <a:avLst/>
          </a:prstGeom>
          <a:noFill/>
          <a:ln/>
        </p:spPr>
        <p:txBody>
          <a:bodyPr wrap="square" lIns="0" tIns="0" rIns="0" bIns="0" rtlCol="0" anchor="t"/>
          <a:lstStyle/>
          <a:p>
            <a:pPr algn="l"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The GRU model is recommended as the overall champion for its ability to understand sequential data, combined with low error and consistent performance across different batteries. This makes it the most robust choice for both SoH estimation and as a foundation for future RUL forecasting systems.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2025-12-28T11:38:03Z</dcterms:created>
  <dcterms:modified xsi:type="dcterms:W3CDTF">2025-12-28T11:38:03Z</dcterms:modified>
</cp:coreProperties>
</file>