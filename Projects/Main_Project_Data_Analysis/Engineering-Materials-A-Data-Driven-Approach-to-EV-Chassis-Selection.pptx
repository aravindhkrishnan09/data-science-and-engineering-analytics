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Montserrat"/>
      <p:regular r:id="rId27"/>
    </p:embeddedFont>
    <p:embeddedFont>
      <p:font typeface="Montserrat"/>
      <p:regular r:id="rId28"/>
    </p:embeddedFont>
    <p:embeddedFont>
      <p:font typeface="Montserrat"/>
      <p:regular r:id="rId29"/>
    </p:embeddedFont>
    <p:embeddedFont>
      <p:font typeface="Montserrat"/>
      <p:regular r:id="rId30"/>
    </p:embeddedFont>
    <p:embeddedFont>
      <p:font typeface="Source Sans 3"/>
      <p:regular r:id="rId31"/>
    </p:embeddedFont>
    <p:embeddedFont>
      <p:font typeface="Source Sans 3"/>
      <p:regular r:id="rId3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slideLayout" Target="../slideLayouts/slideLayout13.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slideLayout" Target="../slideLayouts/slideLayout18.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1.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3798" y="1778556"/>
            <a:ext cx="12902803" cy="1402556"/>
          </a:xfrm>
          <a:prstGeom prst="rect">
            <a:avLst/>
          </a:prstGeom>
          <a:noFill/>
          <a:ln/>
        </p:spPr>
        <p:txBody>
          <a:bodyPr wrap="squar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Engineering Materials: A Data-Driven Approach to EV Chassis Selection</a:t>
            </a:r>
            <a:endParaRPr lang="en-US" sz="4400" dirty="0"/>
          </a:p>
        </p:txBody>
      </p:sp>
      <p:sp>
        <p:nvSpPr>
          <p:cNvPr id="3" name="Text 1"/>
          <p:cNvSpPr/>
          <p:nvPr/>
        </p:nvSpPr>
        <p:spPr>
          <a:xfrm>
            <a:off x="863798" y="3674745"/>
            <a:ext cx="12902803"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Systematic analysis of mechanical, physical, and chemical properties to optimize material selection for electric vehicle chassis applications. This comprehensive study leverages advanced analytics to evaluate 1,552 material specifications across 44 heat treatment variants, applying multi-criteria decision frameworks to identify optimal solutions for structural integrity, weight efficiency, and environmental durability.</a:t>
            </a:r>
            <a:endParaRPr lang="en-US" sz="1900" dirty="0"/>
          </a:p>
        </p:txBody>
      </p:sp>
      <p:sp>
        <p:nvSpPr>
          <p:cNvPr id="4" name="Text 2"/>
          <p:cNvSpPr/>
          <p:nvPr/>
        </p:nvSpPr>
        <p:spPr>
          <a:xfrm>
            <a:off x="863798" y="5433060"/>
            <a:ext cx="12902803"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Project by:</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Aravindh G | aravindhkrishnan09@gmail.com</a:t>
            </a:r>
            <a:endParaRPr lang="en-US" sz="1900" dirty="0"/>
          </a:p>
        </p:txBody>
      </p:sp>
      <p:sp>
        <p:nvSpPr>
          <p:cNvPr id="5" name="Text 3"/>
          <p:cNvSpPr/>
          <p:nvPr/>
        </p:nvSpPr>
        <p:spPr>
          <a:xfrm>
            <a:off x="863798" y="6080879"/>
            <a:ext cx="12902803"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Program:</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DIYguru Data Science &amp; Engineering Analytics Batch 2025 | May 6th, 2025</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1045964"/>
            <a:ext cx="12902803" cy="1402556"/>
          </a:xfrm>
          <a:prstGeom prst="rect">
            <a:avLst/>
          </a:prstGeom>
          <a:noFill/>
          <a:ln/>
        </p:spPr>
        <p:txBody>
          <a:bodyPr wrap="squar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Project Roadmap: Systematic Material Analysis</a:t>
            </a:r>
            <a:endParaRPr lang="en-US" sz="4400" dirty="0"/>
          </a:p>
        </p:txBody>
      </p:sp>
      <p:sp>
        <p:nvSpPr>
          <p:cNvPr id="3" name="Text 1"/>
          <p:cNvSpPr/>
          <p:nvPr/>
        </p:nvSpPr>
        <p:spPr>
          <a:xfrm>
            <a:off x="863798" y="2942153"/>
            <a:ext cx="246817" cy="308491"/>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Montserrat Light" pitchFamily="34" charset="0"/>
                <a:ea typeface="Montserrat Light" pitchFamily="34" charset="-122"/>
                <a:cs typeface="Montserrat Light" pitchFamily="34" charset="-120"/>
              </a:rPr>
              <a:t>01</a:t>
            </a:r>
            <a:endParaRPr lang="en-US" sz="1900" dirty="0"/>
          </a:p>
        </p:txBody>
      </p:sp>
      <p:sp>
        <p:nvSpPr>
          <p:cNvPr id="4" name="Shape 2"/>
          <p:cNvSpPr/>
          <p:nvPr/>
        </p:nvSpPr>
        <p:spPr>
          <a:xfrm>
            <a:off x="863798" y="3331131"/>
            <a:ext cx="6327934" cy="30480"/>
          </a:xfrm>
          <a:prstGeom prst="rect">
            <a:avLst/>
          </a:prstGeom>
          <a:solidFill>
            <a:srgbClr val="2D2E34"/>
          </a:solidFill>
          <a:ln/>
        </p:spPr>
      </p:sp>
      <p:sp>
        <p:nvSpPr>
          <p:cNvPr id="5" name="Text 3"/>
          <p:cNvSpPr/>
          <p:nvPr/>
        </p:nvSpPr>
        <p:spPr>
          <a:xfrm>
            <a:off x="863798" y="3515439"/>
            <a:ext cx="3069550"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Dataset Architecture</a:t>
            </a:r>
            <a:endParaRPr lang="en-US" sz="2200" dirty="0"/>
          </a:p>
        </p:txBody>
      </p:sp>
      <p:sp>
        <p:nvSpPr>
          <p:cNvPr id="6" name="Text 4"/>
          <p:cNvSpPr/>
          <p:nvPr/>
        </p:nvSpPr>
        <p:spPr>
          <a:xfrm>
            <a:off x="863798" y="4014073"/>
            <a:ext cx="6327934"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Dual-dataset structure: detailed property profiles (Dataset 1) and simplified suitability markers (Dataset 2)</a:t>
            </a:r>
            <a:endParaRPr lang="en-US" sz="1900" dirty="0"/>
          </a:p>
        </p:txBody>
      </p:sp>
      <p:sp>
        <p:nvSpPr>
          <p:cNvPr id="7" name="Text 5"/>
          <p:cNvSpPr/>
          <p:nvPr/>
        </p:nvSpPr>
        <p:spPr>
          <a:xfrm>
            <a:off x="7438549" y="2942153"/>
            <a:ext cx="246817" cy="308491"/>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Montserrat Light" pitchFamily="34" charset="0"/>
                <a:ea typeface="Montserrat Light" pitchFamily="34" charset="-122"/>
                <a:cs typeface="Montserrat Light" pitchFamily="34" charset="-120"/>
              </a:rPr>
              <a:t>02</a:t>
            </a:r>
            <a:endParaRPr lang="en-US" sz="1900" dirty="0"/>
          </a:p>
        </p:txBody>
      </p:sp>
      <p:sp>
        <p:nvSpPr>
          <p:cNvPr id="8" name="Shape 6"/>
          <p:cNvSpPr/>
          <p:nvPr/>
        </p:nvSpPr>
        <p:spPr>
          <a:xfrm>
            <a:off x="7438549" y="3331131"/>
            <a:ext cx="6328053" cy="30480"/>
          </a:xfrm>
          <a:prstGeom prst="rect">
            <a:avLst/>
          </a:prstGeom>
          <a:solidFill>
            <a:srgbClr val="2D2E34"/>
          </a:solidFill>
          <a:ln/>
        </p:spPr>
      </p:sp>
      <p:sp>
        <p:nvSpPr>
          <p:cNvPr id="9" name="Text 7"/>
          <p:cNvSpPr/>
          <p:nvPr/>
        </p:nvSpPr>
        <p:spPr>
          <a:xfrm>
            <a:off x="7438549" y="3515439"/>
            <a:ext cx="4056221"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Single-Dataset Engineering</a:t>
            </a:r>
            <a:endParaRPr lang="en-US" sz="2200" dirty="0"/>
          </a:p>
        </p:txBody>
      </p:sp>
      <p:sp>
        <p:nvSpPr>
          <p:cNvPr id="10" name="Text 8"/>
          <p:cNvSpPr/>
          <p:nvPr/>
        </p:nvSpPr>
        <p:spPr>
          <a:xfrm>
            <a:off x="7438549" y="4014073"/>
            <a:ext cx="632805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Six foundational tasks exploring mechanical properties, design ratios, and environmental compatibility</a:t>
            </a:r>
            <a:endParaRPr lang="en-US" sz="1900" dirty="0"/>
          </a:p>
        </p:txBody>
      </p:sp>
      <p:sp>
        <p:nvSpPr>
          <p:cNvPr id="11" name="Text 9"/>
          <p:cNvSpPr/>
          <p:nvPr/>
        </p:nvSpPr>
        <p:spPr>
          <a:xfrm>
            <a:off x="863798" y="5186243"/>
            <a:ext cx="246817" cy="308491"/>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Montserrat Light" pitchFamily="34" charset="0"/>
                <a:ea typeface="Montserrat Light" pitchFamily="34" charset="-122"/>
                <a:cs typeface="Montserrat Light" pitchFamily="34" charset="-120"/>
              </a:rPr>
              <a:t>03</a:t>
            </a:r>
            <a:endParaRPr lang="en-US" sz="1900" dirty="0"/>
          </a:p>
        </p:txBody>
      </p:sp>
      <p:sp>
        <p:nvSpPr>
          <p:cNvPr id="12" name="Shape 10"/>
          <p:cNvSpPr/>
          <p:nvPr/>
        </p:nvSpPr>
        <p:spPr>
          <a:xfrm>
            <a:off x="863798" y="5575221"/>
            <a:ext cx="6327934" cy="30480"/>
          </a:xfrm>
          <a:prstGeom prst="rect">
            <a:avLst/>
          </a:prstGeom>
          <a:solidFill>
            <a:srgbClr val="2D2E34"/>
          </a:solidFill>
          <a:ln/>
        </p:spPr>
      </p:sp>
      <p:sp>
        <p:nvSpPr>
          <p:cNvPr id="13" name="Text 11"/>
          <p:cNvSpPr/>
          <p:nvPr/>
        </p:nvSpPr>
        <p:spPr>
          <a:xfrm>
            <a:off x="863798" y="5759529"/>
            <a:ext cx="3775472"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Cross-Dataset Integration</a:t>
            </a:r>
            <a:endParaRPr lang="en-US" sz="2200" dirty="0"/>
          </a:p>
        </p:txBody>
      </p:sp>
      <p:sp>
        <p:nvSpPr>
          <p:cNvPr id="14" name="Text 12"/>
          <p:cNvSpPr/>
          <p:nvPr/>
        </p:nvSpPr>
        <p:spPr>
          <a:xfrm>
            <a:off x="863798" y="6258163"/>
            <a:ext cx="6327934"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Six advanced tasks merging datasets for discrepancy auditing, outlier detection, and multi-criteria ranking</a:t>
            </a:r>
            <a:endParaRPr lang="en-US" sz="1900" dirty="0"/>
          </a:p>
        </p:txBody>
      </p:sp>
      <p:sp>
        <p:nvSpPr>
          <p:cNvPr id="15" name="Text 13"/>
          <p:cNvSpPr/>
          <p:nvPr/>
        </p:nvSpPr>
        <p:spPr>
          <a:xfrm>
            <a:off x="7438549" y="5186243"/>
            <a:ext cx="246817" cy="308491"/>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Montserrat Light" pitchFamily="34" charset="0"/>
                <a:ea typeface="Montserrat Light" pitchFamily="34" charset="-122"/>
                <a:cs typeface="Montserrat Light" pitchFamily="34" charset="-120"/>
              </a:rPr>
              <a:t>04</a:t>
            </a:r>
            <a:endParaRPr lang="en-US" sz="1900" dirty="0"/>
          </a:p>
        </p:txBody>
      </p:sp>
      <p:sp>
        <p:nvSpPr>
          <p:cNvPr id="16" name="Shape 14"/>
          <p:cNvSpPr/>
          <p:nvPr/>
        </p:nvSpPr>
        <p:spPr>
          <a:xfrm>
            <a:off x="7438549" y="5575221"/>
            <a:ext cx="6328053" cy="30480"/>
          </a:xfrm>
          <a:prstGeom prst="rect">
            <a:avLst/>
          </a:prstGeom>
          <a:solidFill>
            <a:srgbClr val="2D2E34"/>
          </a:solidFill>
          <a:ln/>
        </p:spPr>
      </p:sp>
      <p:sp>
        <p:nvSpPr>
          <p:cNvPr id="17" name="Text 15"/>
          <p:cNvSpPr/>
          <p:nvPr/>
        </p:nvSpPr>
        <p:spPr>
          <a:xfrm>
            <a:off x="7438549" y="5759529"/>
            <a:ext cx="319992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Material Optimization</a:t>
            </a:r>
            <a:endParaRPr lang="en-US" sz="2200" dirty="0"/>
          </a:p>
        </p:txBody>
      </p:sp>
      <p:sp>
        <p:nvSpPr>
          <p:cNvPr id="18" name="Text 16"/>
          <p:cNvSpPr/>
          <p:nvPr/>
        </p:nvSpPr>
        <p:spPr>
          <a:xfrm>
            <a:off x="7438549" y="6258163"/>
            <a:ext cx="632805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Final selection framework balancing strength, ductility, weight, and corrosion resistance for EV chassis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1148834"/>
            <a:ext cx="12902803" cy="1402556"/>
          </a:xfrm>
          <a:prstGeom prst="rect">
            <a:avLst/>
          </a:prstGeom>
          <a:noFill/>
          <a:ln/>
        </p:spPr>
        <p:txBody>
          <a:bodyPr wrap="squar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Understanding the Data: Two Complementary Datasets</a:t>
            </a:r>
            <a:endParaRPr lang="en-US" sz="4400" dirty="0"/>
          </a:p>
        </p:txBody>
      </p:sp>
      <p:sp>
        <p:nvSpPr>
          <p:cNvPr id="3" name="Text 1"/>
          <p:cNvSpPr/>
          <p:nvPr/>
        </p:nvSpPr>
        <p:spPr>
          <a:xfrm>
            <a:off x="863798" y="3168372"/>
            <a:ext cx="5200888" cy="420648"/>
          </a:xfrm>
          <a:prstGeom prst="rect">
            <a:avLst/>
          </a:prstGeom>
          <a:noFill/>
          <a:ln/>
        </p:spPr>
        <p:txBody>
          <a:bodyPr wrap="none" lIns="0" tIns="0" rIns="0" bIns="0" rtlCol="0" anchor="t"/>
          <a:lstStyle/>
          <a:p>
            <a:pPr algn="l" indent="0" marL="0">
              <a:lnSpc>
                <a:spcPts val="3300"/>
              </a:lnSpc>
              <a:buNone/>
            </a:pPr>
            <a:r>
              <a:rPr lang="en-US" sz="2650" b="1" dirty="0">
                <a:solidFill>
                  <a:srgbClr val="000000"/>
                </a:solidFill>
                <a:latin typeface="Montserrat Bold" pitchFamily="34" charset="0"/>
                <a:ea typeface="Montserrat Bold" pitchFamily="34" charset="-122"/>
                <a:cs typeface="Montserrat Bold" pitchFamily="34" charset="-120"/>
              </a:rPr>
              <a:t>Dataset 1: Detailed Properties</a:t>
            </a:r>
            <a:endParaRPr lang="en-US" sz="2650" dirty="0"/>
          </a:p>
        </p:txBody>
      </p:sp>
      <p:sp>
        <p:nvSpPr>
          <p:cNvPr id="4" name="Text 2"/>
          <p:cNvSpPr/>
          <p:nvPr/>
        </p:nvSpPr>
        <p:spPr>
          <a:xfrm>
            <a:off x="863798" y="3835837"/>
            <a:ext cx="6150293"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1,552 materials</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with comprehensive specifications</a:t>
            </a:r>
            <a:endParaRPr lang="en-US" sz="1900" dirty="0"/>
          </a:p>
        </p:txBody>
      </p:sp>
      <p:sp>
        <p:nvSpPr>
          <p:cNvPr id="5" name="Text 3"/>
          <p:cNvSpPr/>
          <p:nvPr/>
        </p:nvSpPr>
        <p:spPr>
          <a:xfrm>
            <a:off x="863798" y="4428053"/>
            <a:ext cx="6150293" cy="740331"/>
          </a:xfrm>
          <a:prstGeom prst="rect">
            <a:avLst/>
          </a:prstGeom>
          <a:noFill/>
          <a:ln/>
        </p:spPr>
        <p:txBody>
          <a:bodyPr wrap="square" lIns="0" tIns="0" rIns="0" bIns="0" rtlCol="0" anchor="t"/>
          <a:lstStyle/>
          <a:p>
            <a:pPr algn="l" marL="342900" indent="-342900">
              <a:lnSpc>
                <a:spcPts val="2900"/>
              </a:lnSpc>
              <a:buSzPct val="100000"/>
              <a:buChar char="•"/>
            </a:pPr>
            <a:r>
              <a:rPr lang="en-US" sz="1900" b="1" dirty="0">
                <a:solidFill>
                  <a:srgbClr val="3D3838"/>
                </a:solidFill>
                <a:latin typeface="Source Sans 3" pitchFamily="34" charset="0"/>
                <a:ea typeface="Source Sans 3" pitchFamily="34" charset="-122"/>
                <a:cs typeface="Source Sans 3" pitchFamily="34" charset="-120"/>
              </a:rPr>
              <a:t>Mechanical:</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Su, Sy, A5, E, G (strength, elasticity, ductility)</a:t>
            </a:r>
            <a:endParaRPr lang="en-US" sz="1900" dirty="0"/>
          </a:p>
        </p:txBody>
      </p:sp>
      <p:sp>
        <p:nvSpPr>
          <p:cNvPr id="6" name="Text 4"/>
          <p:cNvSpPr/>
          <p:nvPr/>
        </p:nvSpPr>
        <p:spPr>
          <a:xfrm>
            <a:off x="863798" y="5254704"/>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b="1" dirty="0">
                <a:solidFill>
                  <a:srgbClr val="3D3838"/>
                </a:solidFill>
                <a:latin typeface="Source Sans 3" pitchFamily="34" charset="0"/>
                <a:ea typeface="Source Sans 3" pitchFamily="34" charset="-122"/>
                <a:cs typeface="Source Sans 3" pitchFamily="34" charset="-120"/>
              </a:rPr>
              <a:t>Hardness:</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Bhn, HV (surface resistance metrics)</a:t>
            </a:r>
            <a:endParaRPr lang="en-US" sz="1900" dirty="0"/>
          </a:p>
        </p:txBody>
      </p:sp>
      <p:sp>
        <p:nvSpPr>
          <p:cNvPr id="7" name="Text 5"/>
          <p:cNvSpPr/>
          <p:nvPr/>
        </p:nvSpPr>
        <p:spPr>
          <a:xfrm>
            <a:off x="863798" y="5711190"/>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b="1" dirty="0">
                <a:solidFill>
                  <a:srgbClr val="3D3838"/>
                </a:solidFill>
                <a:latin typeface="Source Sans 3" pitchFamily="34" charset="0"/>
                <a:ea typeface="Source Sans 3" pitchFamily="34" charset="-122"/>
                <a:cs typeface="Source Sans 3" pitchFamily="34" charset="-120"/>
              </a:rPr>
              <a:t>Physical:</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ρ (density), μ (friction coefficient)</a:t>
            </a:r>
            <a:endParaRPr lang="en-US" sz="1900" dirty="0"/>
          </a:p>
        </p:txBody>
      </p:sp>
      <p:sp>
        <p:nvSpPr>
          <p:cNvPr id="8" name="Text 6"/>
          <p:cNvSpPr/>
          <p:nvPr/>
        </p:nvSpPr>
        <p:spPr>
          <a:xfrm>
            <a:off x="863798" y="6167676"/>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b="1" dirty="0">
                <a:solidFill>
                  <a:srgbClr val="3D3838"/>
                </a:solidFill>
                <a:latin typeface="Source Sans 3" pitchFamily="34" charset="0"/>
                <a:ea typeface="Source Sans 3" pitchFamily="34" charset="-122"/>
                <a:cs typeface="Source Sans 3" pitchFamily="34" charset="-120"/>
              </a:rPr>
              <a:t>Environmental:</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pH compatibility indicators</a:t>
            </a:r>
            <a:endParaRPr lang="en-US" sz="1900" dirty="0"/>
          </a:p>
        </p:txBody>
      </p:sp>
      <p:sp>
        <p:nvSpPr>
          <p:cNvPr id="9" name="Text 7"/>
          <p:cNvSpPr/>
          <p:nvPr/>
        </p:nvSpPr>
        <p:spPr>
          <a:xfrm>
            <a:off x="863798" y="6624161"/>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b="1" dirty="0">
                <a:solidFill>
                  <a:srgbClr val="3D3838"/>
                </a:solidFill>
                <a:latin typeface="Source Sans 3" pitchFamily="34" charset="0"/>
                <a:ea typeface="Source Sans 3" pitchFamily="34" charset="-122"/>
                <a:cs typeface="Source Sans 3" pitchFamily="34" charset="-120"/>
              </a:rPr>
              <a:t>Metadata:</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Standards, heat treatments, descriptions</a:t>
            </a:r>
            <a:endParaRPr lang="en-US" sz="1900" dirty="0"/>
          </a:p>
        </p:txBody>
      </p:sp>
      <p:sp>
        <p:nvSpPr>
          <p:cNvPr id="10" name="Text 8"/>
          <p:cNvSpPr/>
          <p:nvPr/>
        </p:nvSpPr>
        <p:spPr>
          <a:xfrm>
            <a:off x="7623929" y="3168372"/>
            <a:ext cx="5495330" cy="420648"/>
          </a:xfrm>
          <a:prstGeom prst="rect">
            <a:avLst/>
          </a:prstGeom>
          <a:noFill/>
          <a:ln/>
        </p:spPr>
        <p:txBody>
          <a:bodyPr wrap="none" lIns="0" tIns="0" rIns="0" bIns="0" rtlCol="0" anchor="t"/>
          <a:lstStyle/>
          <a:p>
            <a:pPr algn="l" indent="0" marL="0">
              <a:lnSpc>
                <a:spcPts val="3300"/>
              </a:lnSpc>
              <a:buNone/>
            </a:pPr>
            <a:r>
              <a:rPr lang="en-US" sz="2650" b="1" dirty="0">
                <a:solidFill>
                  <a:srgbClr val="000000"/>
                </a:solidFill>
                <a:latin typeface="Montserrat Bold" pitchFamily="34" charset="0"/>
                <a:ea typeface="Montserrat Bold" pitchFamily="34" charset="-122"/>
                <a:cs typeface="Montserrat Bold" pitchFamily="34" charset="-120"/>
              </a:rPr>
              <a:t>Dataset 2: Simplified Suitability</a:t>
            </a:r>
            <a:endParaRPr lang="en-US" sz="2650" dirty="0"/>
          </a:p>
        </p:txBody>
      </p:sp>
      <p:sp>
        <p:nvSpPr>
          <p:cNvPr id="11" name="Text 9"/>
          <p:cNvSpPr/>
          <p:nvPr/>
        </p:nvSpPr>
        <p:spPr>
          <a:xfrm>
            <a:off x="7623929" y="3835837"/>
            <a:ext cx="6150293"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1,548 materials</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with binary classification</a:t>
            </a:r>
            <a:endParaRPr lang="en-US" sz="1900" dirty="0"/>
          </a:p>
        </p:txBody>
      </p:sp>
      <p:sp>
        <p:nvSpPr>
          <p:cNvPr id="12" name="Text 10"/>
          <p:cNvSpPr/>
          <p:nvPr/>
        </p:nvSpPr>
        <p:spPr>
          <a:xfrm>
            <a:off x="7623929" y="4428053"/>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Core mechanical properties (Su, Sy, E, G)</a:t>
            </a:r>
            <a:endParaRPr lang="en-US" sz="1900" dirty="0"/>
          </a:p>
        </p:txBody>
      </p:sp>
      <p:sp>
        <p:nvSpPr>
          <p:cNvPr id="13" name="Text 11"/>
          <p:cNvSpPr/>
          <p:nvPr/>
        </p:nvSpPr>
        <p:spPr>
          <a:xfrm>
            <a:off x="7623929" y="4884539"/>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Physical properties (μ, ρ)</a:t>
            </a:r>
            <a:endParaRPr lang="en-US" sz="1900" dirty="0"/>
          </a:p>
        </p:txBody>
      </p:sp>
      <p:sp>
        <p:nvSpPr>
          <p:cNvPr id="14" name="Text 12"/>
          <p:cNvSpPr/>
          <p:nvPr/>
        </p:nvSpPr>
        <p:spPr>
          <a:xfrm>
            <a:off x="7623929" y="5341025"/>
            <a:ext cx="6150293" cy="740331"/>
          </a:xfrm>
          <a:prstGeom prst="rect">
            <a:avLst/>
          </a:prstGeom>
          <a:noFill/>
          <a:ln/>
        </p:spPr>
        <p:txBody>
          <a:bodyPr wrap="square" lIns="0" tIns="0" rIns="0" bIns="0" rtlCol="0" anchor="t"/>
          <a:lstStyle/>
          <a:p>
            <a:pPr algn="l" marL="342900" indent="-342900">
              <a:lnSpc>
                <a:spcPts val="2900"/>
              </a:lnSpc>
              <a:buSzPct val="100000"/>
              <a:buChar char="•"/>
            </a:pPr>
            <a:r>
              <a:rPr lang="en-US" sz="1900" b="1" dirty="0">
                <a:solidFill>
                  <a:srgbClr val="3D3838"/>
                </a:solidFill>
                <a:latin typeface="Source Sans 3" pitchFamily="34" charset="0"/>
                <a:ea typeface="Source Sans 3" pitchFamily="34" charset="-122"/>
                <a:cs typeface="Source Sans 3" pitchFamily="34" charset="-120"/>
              </a:rPr>
              <a:t>Critical addition:</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Use Flag (True/False) indicating engineering suitability</a:t>
            </a:r>
            <a:endParaRPr lang="en-US" sz="1900" dirty="0"/>
          </a:p>
        </p:txBody>
      </p:sp>
      <p:sp>
        <p:nvSpPr>
          <p:cNvPr id="15" name="Text 13"/>
          <p:cNvSpPr/>
          <p:nvPr/>
        </p:nvSpPr>
        <p:spPr>
          <a:xfrm>
            <a:off x="7623929" y="6167676"/>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Enables validation and cross-verification</a:t>
            </a:r>
            <a:endParaRPr lang="en-US" sz="1900" dirty="0"/>
          </a:p>
        </p:txBody>
      </p:sp>
      <p:sp>
        <p:nvSpPr>
          <p:cNvPr id="16" name="Text 14"/>
          <p:cNvSpPr/>
          <p:nvPr/>
        </p:nvSpPr>
        <p:spPr>
          <a:xfrm>
            <a:off x="7623929" y="6624161"/>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Supports binary classification modeling</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3798" y="1054656"/>
            <a:ext cx="12902803" cy="1402556"/>
          </a:xfrm>
          <a:prstGeom prst="rect">
            <a:avLst/>
          </a:prstGeom>
          <a:noFill/>
          <a:ln/>
        </p:spPr>
        <p:txBody>
          <a:bodyPr wrap="squar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Data Quality Foundation: Initial Exploration Results</a:t>
            </a:r>
            <a:endParaRPr lang="en-US" sz="4400" dirty="0"/>
          </a:p>
        </p:txBody>
      </p:sp>
      <p:sp>
        <p:nvSpPr>
          <p:cNvPr id="3" name="Text 1"/>
          <p:cNvSpPr/>
          <p:nvPr/>
        </p:nvSpPr>
        <p:spPr>
          <a:xfrm>
            <a:off x="863798" y="3074194"/>
            <a:ext cx="2994303" cy="814507"/>
          </a:xfrm>
          <a:prstGeom prst="rect">
            <a:avLst/>
          </a:prstGeom>
          <a:noFill/>
          <a:ln/>
        </p:spPr>
        <p:txBody>
          <a:bodyPr wrap="none" lIns="0" tIns="0" rIns="0" bIns="0" rtlCol="0" anchor="t"/>
          <a:lstStyle/>
          <a:p>
            <a:pPr algn="ctr" indent="0" marL="0">
              <a:lnSpc>
                <a:spcPts val="6400"/>
              </a:lnSpc>
              <a:buNone/>
            </a:pPr>
            <a:r>
              <a:rPr lang="en-US" sz="6400" b="1" dirty="0">
                <a:solidFill>
                  <a:srgbClr val="3D3838"/>
                </a:solidFill>
                <a:latin typeface="Montserrat Bold" pitchFamily="34" charset="0"/>
                <a:ea typeface="Montserrat Bold" pitchFamily="34" charset="-122"/>
                <a:cs typeface="Montserrat Bold" pitchFamily="34" charset="-120"/>
              </a:rPr>
              <a:t>1552</a:t>
            </a:r>
            <a:endParaRPr lang="en-US" sz="6400" dirty="0"/>
          </a:p>
        </p:txBody>
      </p:sp>
      <p:sp>
        <p:nvSpPr>
          <p:cNvPr id="4" name="Text 2"/>
          <p:cNvSpPr/>
          <p:nvPr/>
        </p:nvSpPr>
        <p:spPr>
          <a:xfrm>
            <a:off x="863798" y="4197072"/>
            <a:ext cx="2994303" cy="701278"/>
          </a:xfrm>
          <a:prstGeom prst="rect">
            <a:avLst/>
          </a:prstGeom>
          <a:noFill/>
          <a:ln/>
        </p:spPr>
        <p:txBody>
          <a:bodyPr wrap="squar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Total materials analyzed</a:t>
            </a:r>
            <a:endParaRPr lang="en-US" sz="2200" dirty="0"/>
          </a:p>
        </p:txBody>
      </p:sp>
      <p:sp>
        <p:nvSpPr>
          <p:cNvPr id="5" name="Text 3"/>
          <p:cNvSpPr/>
          <p:nvPr/>
        </p:nvSpPr>
        <p:spPr>
          <a:xfrm>
            <a:off x="863798" y="5046345"/>
            <a:ext cx="2994303" cy="740331"/>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Spanning 1,225 unique material types</a:t>
            </a:r>
            <a:endParaRPr lang="en-US" sz="1900" dirty="0"/>
          </a:p>
        </p:txBody>
      </p:sp>
      <p:sp>
        <p:nvSpPr>
          <p:cNvPr id="6" name="Text 4"/>
          <p:cNvSpPr/>
          <p:nvPr/>
        </p:nvSpPr>
        <p:spPr>
          <a:xfrm>
            <a:off x="4166592" y="3074194"/>
            <a:ext cx="2994303" cy="814507"/>
          </a:xfrm>
          <a:prstGeom prst="rect">
            <a:avLst/>
          </a:prstGeom>
          <a:noFill/>
          <a:ln/>
        </p:spPr>
        <p:txBody>
          <a:bodyPr wrap="none" lIns="0" tIns="0" rIns="0" bIns="0" rtlCol="0" anchor="t"/>
          <a:lstStyle/>
          <a:p>
            <a:pPr algn="ctr" indent="0" marL="0">
              <a:lnSpc>
                <a:spcPts val="6400"/>
              </a:lnSpc>
              <a:buNone/>
            </a:pPr>
            <a:r>
              <a:rPr lang="en-US" sz="6400" b="1" dirty="0">
                <a:solidFill>
                  <a:srgbClr val="3D3838"/>
                </a:solidFill>
                <a:latin typeface="Montserrat Bold" pitchFamily="34" charset="0"/>
                <a:ea typeface="Montserrat Bold" pitchFamily="34" charset="-122"/>
                <a:cs typeface="Montserrat Bold" pitchFamily="34" charset="-120"/>
              </a:rPr>
              <a:t>44</a:t>
            </a:r>
            <a:endParaRPr lang="en-US" sz="6400" dirty="0"/>
          </a:p>
        </p:txBody>
      </p:sp>
      <p:sp>
        <p:nvSpPr>
          <p:cNvPr id="7" name="Text 5"/>
          <p:cNvSpPr/>
          <p:nvPr/>
        </p:nvSpPr>
        <p:spPr>
          <a:xfrm>
            <a:off x="4166592" y="4197072"/>
            <a:ext cx="2994303" cy="701278"/>
          </a:xfrm>
          <a:prstGeom prst="rect">
            <a:avLst/>
          </a:prstGeom>
          <a:noFill/>
          <a:ln/>
        </p:spPr>
        <p:txBody>
          <a:bodyPr wrap="squar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Heat treatment variants</a:t>
            </a:r>
            <a:endParaRPr lang="en-US" sz="2200" dirty="0"/>
          </a:p>
        </p:txBody>
      </p:sp>
      <p:sp>
        <p:nvSpPr>
          <p:cNvPr id="8" name="Text 6"/>
          <p:cNvSpPr/>
          <p:nvPr/>
        </p:nvSpPr>
        <p:spPr>
          <a:xfrm>
            <a:off x="4166592" y="5046345"/>
            <a:ext cx="2994303" cy="740331"/>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From annealing to tempering at various temperatures</a:t>
            </a:r>
            <a:endParaRPr lang="en-US" sz="1900" dirty="0"/>
          </a:p>
        </p:txBody>
      </p:sp>
      <p:sp>
        <p:nvSpPr>
          <p:cNvPr id="9" name="Text 7"/>
          <p:cNvSpPr/>
          <p:nvPr/>
        </p:nvSpPr>
        <p:spPr>
          <a:xfrm>
            <a:off x="7469386" y="3074194"/>
            <a:ext cx="2994303" cy="814507"/>
          </a:xfrm>
          <a:prstGeom prst="rect">
            <a:avLst/>
          </a:prstGeom>
          <a:noFill/>
          <a:ln/>
        </p:spPr>
        <p:txBody>
          <a:bodyPr wrap="none" lIns="0" tIns="0" rIns="0" bIns="0" rtlCol="0" anchor="t"/>
          <a:lstStyle/>
          <a:p>
            <a:pPr algn="ctr" indent="0" marL="0">
              <a:lnSpc>
                <a:spcPts val="6400"/>
              </a:lnSpc>
              <a:buNone/>
            </a:pPr>
            <a:r>
              <a:rPr lang="en-US" sz="6400" b="1" dirty="0">
                <a:solidFill>
                  <a:srgbClr val="3D3838"/>
                </a:solidFill>
                <a:latin typeface="Montserrat Bold" pitchFamily="34" charset="0"/>
                <a:ea typeface="Montserrat Bold" pitchFamily="34" charset="-122"/>
                <a:cs typeface="Montserrat Bold" pitchFamily="34" charset="-120"/>
              </a:rPr>
              <a:t>750</a:t>
            </a:r>
            <a:endParaRPr lang="en-US" sz="6400" dirty="0"/>
          </a:p>
        </p:txBody>
      </p:sp>
      <p:sp>
        <p:nvSpPr>
          <p:cNvPr id="10" name="Text 8"/>
          <p:cNvSpPr/>
          <p:nvPr/>
        </p:nvSpPr>
        <p:spPr>
          <a:xfrm>
            <a:off x="7469386" y="4197072"/>
            <a:ext cx="2994303" cy="701278"/>
          </a:xfrm>
          <a:prstGeom prst="rect">
            <a:avLst/>
          </a:prstGeom>
          <a:noFill/>
          <a:ln/>
        </p:spPr>
        <p:txBody>
          <a:bodyPr wrap="squar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Missing heat treatment entries</a:t>
            </a:r>
            <a:endParaRPr lang="en-US" sz="2200" dirty="0"/>
          </a:p>
        </p:txBody>
      </p:sp>
      <p:sp>
        <p:nvSpPr>
          <p:cNvPr id="11" name="Text 9"/>
          <p:cNvSpPr/>
          <p:nvPr/>
        </p:nvSpPr>
        <p:spPr>
          <a:xfrm>
            <a:off x="7469386" y="5046345"/>
            <a:ext cx="2994303" cy="740331"/>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Filled with 'Unknown' mode value</a:t>
            </a:r>
            <a:endParaRPr lang="en-US" sz="1900" dirty="0"/>
          </a:p>
        </p:txBody>
      </p:sp>
      <p:sp>
        <p:nvSpPr>
          <p:cNvPr id="12" name="Text 10"/>
          <p:cNvSpPr/>
          <p:nvPr/>
        </p:nvSpPr>
        <p:spPr>
          <a:xfrm>
            <a:off x="10772180" y="3074194"/>
            <a:ext cx="2994422" cy="814507"/>
          </a:xfrm>
          <a:prstGeom prst="rect">
            <a:avLst/>
          </a:prstGeom>
          <a:noFill/>
          <a:ln/>
        </p:spPr>
        <p:txBody>
          <a:bodyPr wrap="none" lIns="0" tIns="0" rIns="0" bIns="0" rtlCol="0" anchor="t"/>
          <a:lstStyle/>
          <a:p>
            <a:pPr algn="ctr" indent="0" marL="0">
              <a:lnSpc>
                <a:spcPts val="6400"/>
              </a:lnSpc>
              <a:buNone/>
            </a:pPr>
            <a:r>
              <a:rPr lang="en-US" sz="6400" b="1" dirty="0">
                <a:solidFill>
                  <a:srgbClr val="3D3838"/>
                </a:solidFill>
                <a:latin typeface="Montserrat Bold" pitchFamily="34" charset="0"/>
                <a:ea typeface="Montserrat Bold" pitchFamily="34" charset="-122"/>
                <a:cs typeface="Montserrat Bold" pitchFamily="34" charset="-120"/>
              </a:rPr>
              <a:t>9</a:t>
            </a:r>
            <a:endParaRPr lang="en-US" sz="6400" dirty="0"/>
          </a:p>
        </p:txBody>
      </p:sp>
      <p:sp>
        <p:nvSpPr>
          <p:cNvPr id="13" name="Text 11"/>
          <p:cNvSpPr/>
          <p:nvPr/>
        </p:nvSpPr>
        <p:spPr>
          <a:xfrm>
            <a:off x="10772180" y="4197072"/>
            <a:ext cx="2994422" cy="701278"/>
          </a:xfrm>
          <a:prstGeom prst="rect">
            <a:avLst/>
          </a:prstGeom>
          <a:noFill/>
          <a:ln/>
        </p:spPr>
        <p:txBody>
          <a:bodyPr wrap="squar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Properties with outliers</a:t>
            </a:r>
            <a:endParaRPr lang="en-US" sz="2200" dirty="0"/>
          </a:p>
        </p:txBody>
      </p:sp>
      <p:sp>
        <p:nvSpPr>
          <p:cNvPr id="14" name="Text 12"/>
          <p:cNvSpPr/>
          <p:nvPr/>
        </p:nvSpPr>
        <p:spPr>
          <a:xfrm>
            <a:off x="10772180" y="5046345"/>
            <a:ext cx="2994422" cy="740331"/>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Su, Sy, A5, Bhn, G, μ, ρ, pH, HV flagged for review</a:t>
            </a:r>
            <a:endParaRPr lang="en-US" sz="1900" dirty="0"/>
          </a:p>
        </p:txBody>
      </p:sp>
      <p:sp>
        <p:nvSpPr>
          <p:cNvPr id="15" name="Text 13"/>
          <p:cNvSpPr/>
          <p:nvPr/>
        </p:nvSpPr>
        <p:spPr>
          <a:xfrm>
            <a:off x="863798" y="6064329"/>
            <a:ext cx="12902803"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Key data quality actions: Missing values imputed using mode strategy, outliers capped using IQR method to preserve realistic engineering ranges, and duplicates removed to ensure analytical integrity. All string columns standardized by trimming whitespace.</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853678"/>
            <a:ext cx="12902803" cy="1402556"/>
          </a:xfrm>
          <a:prstGeom prst="rect">
            <a:avLst/>
          </a:prstGeom>
          <a:noFill/>
          <a:ln/>
        </p:spPr>
        <p:txBody>
          <a:bodyPr wrap="squar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Cleaning Impact: Ultimate Tensile Strength (Su)</a:t>
            </a:r>
            <a:endParaRPr lang="en-US" sz="4400" dirty="0"/>
          </a:p>
        </p:txBody>
      </p:sp>
      <p:sp>
        <p:nvSpPr>
          <p:cNvPr id="3" name="Shape 1"/>
          <p:cNvSpPr/>
          <p:nvPr/>
        </p:nvSpPr>
        <p:spPr>
          <a:xfrm>
            <a:off x="863798" y="2904053"/>
            <a:ext cx="7500699" cy="2756059"/>
          </a:xfrm>
          <a:prstGeom prst="roundRect">
            <a:avLst>
              <a:gd name="adj" fmla="val 1343"/>
            </a:avLst>
          </a:prstGeom>
          <a:noFill/>
          <a:ln w="15240">
            <a:solidFill>
              <a:srgbClr val="000000">
                <a:alpha val="8000"/>
              </a:srgbClr>
            </a:solidFill>
            <a:prstDash val="solid"/>
          </a:ln>
        </p:spPr>
      </p:sp>
      <p:sp>
        <p:nvSpPr>
          <p:cNvPr id="4" name="Shape 2"/>
          <p:cNvSpPr/>
          <p:nvPr/>
        </p:nvSpPr>
        <p:spPr>
          <a:xfrm>
            <a:off x="879038" y="2919293"/>
            <a:ext cx="7469386" cy="681395"/>
          </a:xfrm>
          <a:prstGeom prst="rect">
            <a:avLst/>
          </a:prstGeom>
          <a:solidFill>
            <a:srgbClr val="FFFFFF">
              <a:alpha val="4000"/>
            </a:srgbClr>
          </a:solidFill>
          <a:ln/>
        </p:spPr>
      </p:sp>
      <p:sp>
        <p:nvSpPr>
          <p:cNvPr id="5" name="Text 3"/>
          <p:cNvSpPr/>
          <p:nvPr/>
        </p:nvSpPr>
        <p:spPr>
          <a:xfrm>
            <a:off x="1126808" y="3074908"/>
            <a:ext cx="1992035"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Mean (MPa)</a:t>
            </a:r>
            <a:endParaRPr lang="en-US" sz="1900" dirty="0"/>
          </a:p>
        </p:txBody>
      </p:sp>
      <p:sp>
        <p:nvSpPr>
          <p:cNvPr id="6" name="Text 4"/>
          <p:cNvSpPr/>
          <p:nvPr/>
        </p:nvSpPr>
        <p:spPr>
          <a:xfrm>
            <a:off x="3620095" y="3074908"/>
            <a:ext cx="1988225"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572.75</a:t>
            </a:r>
            <a:endParaRPr lang="en-US" sz="1900" dirty="0"/>
          </a:p>
        </p:txBody>
      </p:sp>
      <p:sp>
        <p:nvSpPr>
          <p:cNvPr id="7" name="Text 5"/>
          <p:cNvSpPr/>
          <p:nvPr/>
        </p:nvSpPr>
        <p:spPr>
          <a:xfrm>
            <a:off x="6109573" y="3074908"/>
            <a:ext cx="1992035"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559.05</a:t>
            </a:r>
            <a:endParaRPr lang="en-US" sz="1900" dirty="0"/>
          </a:p>
        </p:txBody>
      </p:sp>
      <p:sp>
        <p:nvSpPr>
          <p:cNvPr id="8" name="Shape 6"/>
          <p:cNvSpPr/>
          <p:nvPr/>
        </p:nvSpPr>
        <p:spPr>
          <a:xfrm>
            <a:off x="879038" y="3600688"/>
            <a:ext cx="7469386" cy="681395"/>
          </a:xfrm>
          <a:prstGeom prst="rect">
            <a:avLst/>
          </a:prstGeom>
          <a:solidFill>
            <a:srgbClr val="000000">
              <a:alpha val="4000"/>
            </a:srgbClr>
          </a:solidFill>
          <a:ln/>
        </p:spPr>
      </p:sp>
      <p:sp>
        <p:nvSpPr>
          <p:cNvPr id="9" name="Text 7"/>
          <p:cNvSpPr/>
          <p:nvPr/>
        </p:nvSpPr>
        <p:spPr>
          <a:xfrm>
            <a:off x="1126808" y="3756303"/>
            <a:ext cx="1992035"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Std Dev</a:t>
            </a:r>
            <a:endParaRPr lang="en-US" sz="1900" dirty="0"/>
          </a:p>
        </p:txBody>
      </p:sp>
      <p:sp>
        <p:nvSpPr>
          <p:cNvPr id="10" name="Text 8"/>
          <p:cNvSpPr/>
          <p:nvPr/>
        </p:nvSpPr>
        <p:spPr>
          <a:xfrm>
            <a:off x="3620095" y="3756303"/>
            <a:ext cx="1988225"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326.83</a:t>
            </a:r>
            <a:endParaRPr lang="en-US" sz="1900" dirty="0"/>
          </a:p>
        </p:txBody>
      </p:sp>
      <p:sp>
        <p:nvSpPr>
          <p:cNvPr id="11" name="Text 9"/>
          <p:cNvSpPr/>
          <p:nvPr/>
        </p:nvSpPr>
        <p:spPr>
          <a:xfrm>
            <a:off x="6109573" y="3756303"/>
            <a:ext cx="1992035"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285.05</a:t>
            </a:r>
            <a:endParaRPr lang="en-US" sz="1900" dirty="0"/>
          </a:p>
        </p:txBody>
      </p:sp>
      <p:sp>
        <p:nvSpPr>
          <p:cNvPr id="12" name="Shape 10"/>
          <p:cNvSpPr/>
          <p:nvPr/>
        </p:nvSpPr>
        <p:spPr>
          <a:xfrm>
            <a:off x="879038" y="4282083"/>
            <a:ext cx="7469386" cy="681395"/>
          </a:xfrm>
          <a:prstGeom prst="rect">
            <a:avLst/>
          </a:prstGeom>
          <a:solidFill>
            <a:srgbClr val="FFFFFF">
              <a:alpha val="4000"/>
            </a:srgbClr>
          </a:solidFill>
          <a:ln/>
        </p:spPr>
      </p:sp>
      <p:sp>
        <p:nvSpPr>
          <p:cNvPr id="13" name="Text 11"/>
          <p:cNvSpPr/>
          <p:nvPr/>
        </p:nvSpPr>
        <p:spPr>
          <a:xfrm>
            <a:off x="1126808" y="4437698"/>
            <a:ext cx="1992035"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Maximum</a:t>
            </a:r>
            <a:endParaRPr lang="en-US" sz="1900" dirty="0"/>
          </a:p>
        </p:txBody>
      </p:sp>
      <p:sp>
        <p:nvSpPr>
          <p:cNvPr id="14" name="Text 12"/>
          <p:cNvSpPr/>
          <p:nvPr/>
        </p:nvSpPr>
        <p:spPr>
          <a:xfrm>
            <a:off x="3620095" y="4437698"/>
            <a:ext cx="1988225"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2220</a:t>
            </a:r>
            <a:endParaRPr lang="en-US" sz="1900" dirty="0"/>
          </a:p>
        </p:txBody>
      </p:sp>
      <p:sp>
        <p:nvSpPr>
          <p:cNvPr id="15" name="Text 13"/>
          <p:cNvSpPr/>
          <p:nvPr/>
        </p:nvSpPr>
        <p:spPr>
          <a:xfrm>
            <a:off x="6109573" y="4437698"/>
            <a:ext cx="1992035"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1252.5</a:t>
            </a:r>
            <a:endParaRPr lang="en-US" sz="1900" dirty="0"/>
          </a:p>
        </p:txBody>
      </p:sp>
      <p:sp>
        <p:nvSpPr>
          <p:cNvPr id="16" name="Shape 14"/>
          <p:cNvSpPr/>
          <p:nvPr/>
        </p:nvSpPr>
        <p:spPr>
          <a:xfrm>
            <a:off x="879038" y="4963478"/>
            <a:ext cx="7469386" cy="681395"/>
          </a:xfrm>
          <a:prstGeom prst="rect">
            <a:avLst/>
          </a:prstGeom>
          <a:solidFill>
            <a:srgbClr val="000000">
              <a:alpha val="4000"/>
            </a:srgbClr>
          </a:solidFill>
          <a:ln/>
        </p:spPr>
      </p:sp>
      <p:sp>
        <p:nvSpPr>
          <p:cNvPr id="17" name="Text 15"/>
          <p:cNvSpPr/>
          <p:nvPr/>
        </p:nvSpPr>
        <p:spPr>
          <a:xfrm>
            <a:off x="1126808" y="5119092"/>
            <a:ext cx="1992035"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Minimum</a:t>
            </a:r>
            <a:endParaRPr lang="en-US" sz="1900" dirty="0"/>
          </a:p>
        </p:txBody>
      </p:sp>
      <p:sp>
        <p:nvSpPr>
          <p:cNvPr id="18" name="Text 16"/>
          <p:cNvSpPr/>
          <p:nvPr/>
        </p:nvSpPr>
        <p:spPr>
          <a:xfrm>
            <a:off x="3620095" y="5119092"/>
            <a:ext cx="1988225"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69</a:t>
            </a:r>
            <a:endParaRPr lang="en-US" sz="1900" dirty="0"/>
          </a:p>
        </p:txBody>
      </p:sp>
      <p:sp>
        <p:nvSpPr>
          <p:cNvPr id="19" name="Text 17"/>
          <p:cNvSpPr/>
          <p:nvPr/>
        </p:nvSpPr>
        <p:spPr>
          <a:xfrm>
            <a:off x="6109573" y="5119092"/>
            <a:ext cx="1992035"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69</a:t>
            </a:r>
            <a:endParaRPr lang="en-US" sz="1900" dirty="0"/>
          </a:p>
        </p:txBody>
      </p:sp>
      <p:sp>
        <p:nvSpPr>
          <p:cNvPr id="20" name="Text 18"/>
          <p:cNvSpPr/>
          <p:nvPr/>
        </p:nvSpPr>
        <p:spPr>
          <a:xfrm>
            <a:off x="8974336" y="2873216"/>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Interpretation</a:t>
            </a:r>
            <a:endParaRPr lang="en-US" sz="2200" dirty="0"/>
          </a:p>
        </p:txBody>
      </p:sp>
      <p:sp>
        <p:nvSpPr>
          <p:cNvPr id="21" name="Text 19"/>
          <p:cNvSpPr/>
          <p:nvPr/>
        </p:nvSpPr>
        <p:spPr>
          <a:xfrm>
            <a:off x="8974336" y="3470672"/>
            <a:ext cx="4799767" cy="740331"/>
          </a:xfrm>
          <a:prstGeom prst="rect">
            <a:avLst/>
          </a:prstGeom>
          <a:noFill/>
          <a:ln/>
        </p:spPr>
        <p:txBody>
          <a:bodyPr wrap="squar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Mean decreased 2.4%</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 extreme outliers artificially inflated average strength</a:t>
            </a:r>
            <a:endParaRPr lang="en-US" sz="1900" dirty="0"/>
          </a:p>
        </p:txBody>
      </p:sp>
      <p:sp>
        <p:nvSpPr>
          <p:cNvPr id="22" name="Text 20"/>
          <p:cNvSpPr/>
          <p:nvPr/>
        </p:nvSpPr>
        <p:spPr>
          <a:xfrm>
            <a:off x="8974336" y="4433054"/>
            <a:ext cx="4799767" cy="740331"/>
          </a:xfrm>
          <a:prstGeom prst="rect">
            <a:avLst/>
          </a:prstGeom>
          <a:noFill/>
          <a:ln/>
        </p:spPr>
        <p:txBody>
          <a:bodyPr wrap="squar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Std dev reduced 12.8%</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 more consistent, reliable dataset for engineering decisions</a:t>
            </a:r>
            <a:endParaRPr lang="en-US" sz="1900" dirty="0"/>
          </a:p>
        </p:txBody>
      </p:sp>
      <p:sp>
        <p:nvSpPr>
          <p:cNvPr id="23" name="Text 21"/>
          <p:cNvSpPr/>
          <p:nvPr/>
        </p:nvSpPr>
        <p:spPr>
          <a:xfrm>
            <a:off x="8974336" y="5395436"/>
            <a:ext cx="4799767" cy="740331"/>
          </a:xfrm>
          <a:prstGeom prst="rect">
            <a:avLst/>
          </a:prstGeom>
          <a:noFill/>
          <a:ln/>
        </p:spPr>
        <p:txBody>
          <a:bodyPr wrap="squar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Max capped at 1252.5 MPa</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 unrealistic 2220 MPa value removed using IQR upper bound</a:t>
            </a:r>
            <a:endParaRPr lang="en-US" sz="1900" dirty="0"/>
          </a:p>
        </p:txBody>
      </p:sp>
      <p:sp>
        <p:nvSpPr>
          <p:cNvPr id="24" name="Text 22"/>
          <p:cNvSpPr/>
          <p:nvPr/>
        </p:nvSpPr>
        <p:spPr>
          <a:xfrm>
            <a:off x="863798" y="6635472"/>
            <a:ext cx="1290280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Outlier handling transformed an unreliable dataset into a practical engineering reference, eliminating exotic or erroneous values that could mislead material selection for EV chassis applications.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42724" y="1004173"/>
            <a:ext cx="12683847" cy="684133"/>
          </a:xfrm>
          <a:prstGeom prst="rect">
            <a:avLst/>
          </a:prstGeom>
          <a:noFill/>
          <a:ln/>
        </p:spPr>
        <p:txBody>
          <a:bodyPr wrap="none" lIns="0" tIns="0" rIns="0" bIns="0" rtlCol="0" anchor="t"/>
          <a:lstStyle/>
          <a:p>
            <a:pPr algn="l" indent="0" marL="0">
              <a:lnSpc>
                <a:spcPts val="5350"/>
              </a:lnSpc>
              <a:buNone/>
            </a:pPr>
            <a:r>
              <a:rPr lang="en-US" sz="4300" b="1" dirty="0">
                <a:solidFill>
                  <a:srgbClr val="000000"/>
                </a:solidFill>
                <a:latin typeface="Montserrat Bold" pitchFamily="34" charset="0"/>
                <a:ea typeface="Montserrat Bold" pitchFamily="34" charset="-122"/>
                <a:cs typeface="Montserrat Bold" pitchFamily="34" charset="-120"/>
              </a:rPr>
              <a:t>Yield Strength &amp; Ductility: Cleaned Statistics</a:t>
            </a:r>
            <a:endParaRPr lang="en-US" sz="4300" dirty="0"/>
          </a:p>
        </p:txBody>
      </p:sp>
      <p:sp>
        <p:nvSpPr>
          <p:cNvPr id="3" name="Shape 1"/>
          <p:cNvSpPr/>
          <p:nvPr/>
        </p:nvSpPr>
        <p:spPr>
          <a:xfrm>
            <a:off x="842724" y="2169914"/>
            <a:ext cx="6352103" cy="3062883"/>
          </a:xfrm>
          <a:prstGeom prst="roundRect">
            <a:avLst>
              <a:gd name="adj" fmla="val 1179"/>
            </a:avLst>
          </a:prstGeom>
          <a:solidFill>
            <a:srgbClr val="2D2E34"/>
          </a:solidFill>
          <a:ln/>
        </p:spPr>
      </p:sp>
      <p:sp>
        <p:nvSpPr>
          <p:cNvPr id="4" name="Text 2"/>
          <p:cNvSpPr/>
          <p:nvPr/>
        </p:nvSpPr>
        <p:spPr>
          <a:xfrm>
            <a:off x="1083469" y="2410658"/>
            <a:ext cx="2736413" cy="341948"/>
          </a:xfrm>
          <a:prstGeom prst="rect">
            <a:avLst/>
          </a:prstGeom>
          <a:noFill/>
          <a:ln/>
        </p:spPr>
        <p:txBody>
          <a:bodyPr wrap="none" lIns="0" tIns="0" rIns="0" bIns="0" rtlCol="0" anchor="t"/>
          <a:lstStyle/>
          <a:p>
            <a:pPr algn="l" indent="0" marL="0">
              <a:lnSpc>
                <a:spcPts val="2650"/>
              </a:lnSpc>
              <a:buNone/>
            </a:pPr>
            <a:r>
              <a:rPr lang="en-US" sz="2150" b="1" dirty="0">
                <a:solidFill>
                  <a:srgbClr val="FFFFFF"/>
                </a:solidFill>
                <a:latin typeface="Montserrat Bold" pitchFamily="34" charset="0"/>
                <a:ea typeface="Montserrat Bold" pitchFamily="34" charset="-122"/>
                <a:cs typeface="Montserrat Bold" pitchFamily="34" charset="-120"/>
              </a:rPr>
              <a:t>Yield Strength (Sy)</a:t>
            </a:r>
            <a:endParaRPr lang="en-US" sz="2150" dirty="0"/>
          </a:p>
        </p:txBody>
      </p:sp>
      <p:sp>
        <p:nvSpPr>
          <p:cNvPr id="5" name="Text 3"/>
          <p:cNvSpPr/>
          <p:nvPr/>
        </p:nvSpPr>
        <p:spPr>
          <a:xfrm>
            <a:off x="1083469" y="2897029"/>
            <a:ext cx="5870615" cy="361236"/>
          </a:xfrm>
          <a:prstGeom prst="rect">
            <a:avLst/>
          </a:prstGeom>
          <a:noFill/>
          <a:ln/>
        </p:spPr>
        <p:txBody>
          <a:bodyPr wrap="none" lIns="0" tIns="0" rIns="0" bIns="0" rtlCol="0" anchor="t"/>
          <a:lstStyle/>
          <a:p>
            <a:pPr algn="l" indent="0" marL="0">
              <a:lnSpc>
                <a:spcPts val="2800"/>
              </a:lnSpc>
              <a:buNone/>
            </a:pPr>
            <a:r>
              <a:rPr lang="en-US" sz="1850" b="1" dirty="0">
                <a:solidFill>
                  <a:srgbClr val="FFFFFF"/>
                </a:solidFill>
                <a:latin typeface="Source Sans 3" pitchFamily="34" charset="0"/>
                <a:ea typeface="Source Sans 3" pitchFamily="34" charset="-122"/>
                <a:cs typeface="Source Sans 3" pitchFamily="34" charset="-120"/>
              </a:rPr>
              <a:t>Before:</a:t>
            </a:r>
            <a:pPr algn="l" indent="0" marL="0">
              <a:lnSpc>
                <a:spcPts val="2800"/>
              </a:lnSpc>
              <a:buNone/>
            </a:pPr>
            <a:r>
              <a:rPr lang="en-US" sz="1850" dirty="0">
                <a:solidFill>
                  <a:srgbClr val="FFFFFF"/>
                </a:solidFill>
                <a:latin typeface="Source Sans 3" pitchFamily="34" charset="0"/>
                <a:ea typeface="Source Sans 3" pitchFamily="34" charset="-122"/>
                <a:cs typeface="Source Sans 3" pitchFamily="34" charset="-120"/>
              </a:rPr>
              <a:t> Mean 387 MPa, Max 2048 MPa</a:t>
            </a:r>
            <a:endParaRPr lang="en-US" sz="1850" dirty="0"/>
          </a:p>
        </p:txBody>
      </p:sp>
      <p:sp>
        <p:nvSpPr>
          <p:cNvPr id="6" name="Text 4"/>
          <p:cNvSpPr/>
          <p:nvPr/>
        </p:nvSpPr>
        <p:spPr>
          <a:xfrm>
            <a:off x="1083469" y="3402687"/>
            <a:ext cx="5870615" cy="361236"/>
          </a:xfrm>
          <a:prstGeom prst="rect">
            <a:avLst/>
          </a:prstGeom>
          <a:noFill/>
          <a:ln/>
        </p:spPr>
        <p:txBody>
          <a:bodyPr wrap="none" lIns="0" tIns="0" rIns="0" bIns="0" rtlCol="0" anchor="t"/>
          <a:lstStyle/>
          <a:p>
            <a:pPr algn="l" indent="0" marL="0">
              <a:lnSpc>
                <a:spcPts val="2800"/>
              </a:lnSpc>
              <a:buNone/>
            </a:pPr>
            <a:r>
              <a:rPr lang="en-US" sz="1850" b="1" dirty="0">
                <a:solidFill>
                  <a:srgbClr val="FFFFFF"/>
                </a:solidFill>
                <a:latin typeface="Source Sans 3" pitchFamily="34" charset="0"/>
                <a:ea typeface="Source Sans 3" pitchFamily="34" charset="-122"/>
                <a:cs typeface="Source Sans 3" pitchFamily="34" charset="-120"/>
              </a:rPr>
              <a:t>After:</a:t>
            </a:r>
            <a:pPr algn="l" indent="0" marL="0">
              <a:lnSpc>
                <a:spcPts val="2800"/>
              </a:lnSpc>
              <a:buNone/>
            </a:pPr>
            <a:r>
              <a:rPr lang="en-US" sz="1850" dirty="0">
                <a:solidFill>
                  <a:srgbClr val="FFFFFF"/>
                </a:solidFill>
                <a:latin typeface="Source Sans 3" pitchFamily="34" charset="0"/>
                <a:ea typeface="Source Sans 3" pitchFamily="34" charset="-122"/>
                <a:cs typeface="Source Sans 3" pitchFamily="34" charset="-120"/>
              </a:rPr>
              <a:t> Mean 364 MPa, Max 867.5 MPa</a:t>
            </a:r>
            <a:endParaRPr lang="en-US" sz="1850" dirty="0"/>
          </a:p>
        </p:txBody>
      </p:sp>
      <p:sp>
        <p:nvSpPr>
          <p:cNvPr id="7" name="Text 5"/>
          <p:cNvSpPr/>
          <p:nvPr/>
        </p:nvSpPr>
        <p:spPr>
          <a:xfrm>
            <a:off x="1083469" y="3908346"/>
            <a:ext cx="5870615" cy="722471"/>
          </a:xfrm>
          <a:prstGeom prst="rect">
            <a:avLst/>
          </a:prstGeom>
          <a:noFill/>
          <a:ln/>
        </p:spPr>
        <p:txBody>
          <a:bodyPr wrap="square" lIns="0" tIns="0" rIns="0" bIns="0" rtlCol="0" anchor="t"/>
          <a:lstStyle/>
          <a:p>
            <a:pPr algn="l" indent="0" marL="0">
              <a:lnSpc>
                <a:spcPts val="2800"/>
              </a:lnSpc>
              <a:buNone/>
            </a:pPr>
            <a:r>
              <a:rPr lang="en-US" sz="1850" dirty="0">
                <a:solidFill>
                  <a:srgbClr val="FFFFFF"/>
                </a:solidFill>
                <a:latin typeface="Source Sans 3" pitchFamily="34" charset="0"/>
                <a:ea typeface="Source Sans 3" pitchFamily="34" charset="-122"/>
                <a:cs typeface="Source Sans 3" pitchFamily="34" charset="-120"/>
              </a:rPr>
              <a:t>Maximum value capped 57.6% — removed super-alloy outliers not representative of standard automotive steels</a:t>
            </a:r>
            <a:endParaRPr lang="en-US" sz="1850" dirty="0"/>
          </a:p>
        </p:txBody>
      </p:sp>
      <p:sp>
        <p:nvSpPr>
          <p:cNvPr id="8" name="Shape 6"/>
          <p:cNvSpPr/>
          <p:nvPr/>
        </p:nvSpPr>
        <p:spPr>
          <a:xfrm>
            <a:off x="7435572" y="2169914"/>
            <a:ext cx="6352103" cy="3062883"/>
          </a:xfrm>
          <a:prstGeom prst="roundRect">
            <a:avLst>
              <a:gd name="adj" fmla="val 1179"/>
            </a:avLst>
          </a:prstGeom>
          <a:solidFill>
            <a:srgbClr val="2D2E34"/>
          </a:solidFill>
          <a:ln/>
        </p:spPr>
      </p:sp>
      <p:sp>
        <p:nvSpPr>
          <p:cNvPr id="9" name="Text 7"/>
          <p:cNvSpPr/>
          <p:nvPr/>
        </p:nvSpPr>
        <p:spPr>
          <a:xfrm>
            <a:off x="7676317" y="2410658"/>
            <a:ext cx="3494842" cy="341948"/>
          </a:xfrm>
          <a:prstGeom prst="rect">
            <a:avLst/>
          </a:prstGeom>
          <a:noFill/>
          <a:ln/>
        </p:spPr>
        <p:txBody>
          <a:bodyPr wrap="none" lIns="0" tIns="0" rIns="0" bIns="0" rtlCol="0" anchor="t"/>
          <a:lstStyle/>
          <a:p>
            <a:pPr algn="l" indent="0" marL="0">
              <a:lnSpc>
                <a:spcPts val="2650"/>
              </a:lnSpc>
              <a:buNone/>
            </a:pPr>
            <a:r>
              <a:rPr lang="en-US" sz="2150" b="1" dirty="0">
                <a:solidFill>
                  <a:srgbClr val="FFFFFF"/>
                </a:solidFill>
                <a:latin typeface="Montserrat Bold" pitchFamily="34" charset="0"/>
                <a:ea typeface="Montserrat Bold" pitchFamily="34" charset="-122"/>
                <a:cs typeface="Montserrat Bold" pitchFamily="34" charset="-120"/>
              </a:rPr>
              <a:t>Elongation at Break (A5)</a:t>
            </a:r>
            <a:endParaRPr lang="en-US" sz="2150" dirty="0"/>
          </a:p>
        </p:txBody>
      </p:sp>
      <p:sp>
        <p:nvSpPr>
          <p:cNvPr id="10" name="Text 8"/>
          <p:cNvSpPr/>
          <p:nvPr/>
        </p:nvSpPr>
        <p:spPr>
          <a:xfrm>
            <a:off x="7676317" y="2897029"/>
            <a:ext cx="5870615" cy="361236"/>
          </a:xfrm>
          <a:prstGeom prst="rect">
            <a:avLst/>
          </a:prstGeom>
          <a:noFill/>
          <a:ln/>
        </p:spPr>
        <p:txBody>
          <a:bodyPr wrap="none" lIns="0" tIns="0" rIns="0" bIns="0" rtlCol="0" anchor="t"/>
          <a:lstStyle/>
          <a:p>
            <a:pPr algn="l" indent="0" marL="0">
              <a:lnSpc>
                <a:spcPts val="2800"/>
              </a:lnSpc>
              <a:buNone/>
            </a:pPr>
            <a:r>
              <a:rPr lang="en-US" sz="1850" b="1" dirty="0">
                <a:solidFill>
                  <a:srgbClr val="FFFFFF"/>
                </a:solidFill>
                <a:latin typeface="Source Sans 3" pitchFamily="34" charset="0"/>
                <a:ea typeface="Source Sans 3" pitchFamily="34" charset="-122"/>
                <a:cs typeface="Source Sans 3" pitchFamily="34" charset="-120"/>
              </a:rPr>
              <a:t>Before:</a:t>
            </a:r>
            <a:pPr algn="l" indent="0" marL="0">
              <a:lnSpc>
                <a:spcPts val="2800"/>
              </a:lnSpc>
              <a:buNone/>
            </a:pPr>
            <a:r>
              <a:rPr lang="en-US" sz="1850" dirty="0">
                <a:solidFill>
                  <a:srgbClr val="FFFFFF"/>
                </a:solidFill>
                <a:latin typeface="Source Sans 3" pitchFamily="34" charset="0"/>
                <a:ea typeface="Source Sans 3" pitchFamily="34" charset="-122"/>
                <a:cs typeface="Source Sans 3" pitchFamily="34" charset="-120"/>
              </a:rPr>
              <a:t> Mean 19.3%, Max 70%</a:t>
            </a:r>
            <a:endParaRPr lang="en-US" sz="1850" dirty="0"/>
          </a:p>
        </p:txBody>
      </p:sp>
      <p:sp>
        <p:nvSpPr>
          <p:cNvPr id="11" name="Text 9"/>
          <p:cNvSpPr/>
          <p:nvPr/>
        </p:nvSpPr>
        <p:spPr>
          <a:xfrm>
            <a:off x="7676317" y="3402687"/>
            <a:ext cx="5870615" cy="361236"/>
          </a:xfrm>
          <a:prstGeom prst="rect">
            <a:avLst/>
          </a:prstGeom>
          <a:noFill/>
          <a:ln/>
        </p:spPr>
        <p:txBody>
          <a:bodyPr wrap="none" lIns="0" tIns="0" rIns="0" bIns="0" rtlCol="0" anchor="t"/>
          <a:lstStyle/>
          <a:p>
            <a:pPr algn="l" indent="0" marL="0">
              <a:lnSpc>
                <a:spcPts val="2800"/>
              </a:lnSpc>
              <a:buNone/>
            </a:pPr>
            <a:r>
              <a:rPr lang="en-US" sz="1850" b="1" dirty="0">
                <a:solidFill>
                  <a:srgbClr val="FFFFFF"/>
                </a:solidFill>
                <a:latin typeface="Source Sans 3" pitchFamily="34" charset="0"/>
                <a:ea typeface="Source Sans 3" pitchFamily="34" charset="-122"/>
                <a:cs typeface="Source Sans 3" pitchFamily="34" charset="-120"/>
              </a:rPr>
              <a:t>After:</a:t>
            </a:r>
            <a:pPr algn="l" indent="0" marL="0">
              <a:lnSpc>
                <a:spcPts val="2800"/>
              </a:lnSpc>
              <a:buNone/>
            </a:pPr>
            <a:r>
              <a:rPr lang="en-US" sz="1850" dirty="0">
                <a:solidFill>
                  <a:srgbClr val="FFFFFF"/>
                </a:solidFill>
                <a:latin typeface="Source Sans 3" pitchFamily="34" charset="0"/>
                <a:ea typeface="Source Sans 3" pitchFamily="34" charset="-122"/>
                <a:cs typeface="Source Sans 3" pitchFamily="34" charset="-120"/>
              </a:rPr>
              <a:t> Mean 17.5%, Max 37%</a:t>
            </a:r>
            <a:endParaRPr lang="en-US" sz="1850" dirty="0"/>
          </a:p>
        </p:txBody>
      </p:sp>
      <p:sp>
        <p:nvSpPr>
          <p:cNvPr id="12" name="Text 10"/>
          <p:cNvSpPr/>
          <p:nvPr/>
        </p:nvSpPr>
        <p:spPr>
          <a:xfrm>
            <a:off x="7676317" y="3908346"/>
            <a:ext cx="5870615" cy="1083707"/>
          </a:xfrm>
          <a:prstGeom prst="rect">
            <a:avLst/>
          </a:prstGeom>
          <a:noFill/>
          <a:ln/>
        </p:spPr>
        <p:txBody>
          <a:bodyPr wrap="square" lIns="0" tIns="0" rIns="0" bIns="0" rtlCol="0" anchor="t"/>
          <a:lstStyle/>
          <a:p>
            <a:pPr algn="l" indent="0" marL="0">
              <a:lnSpc>
                <a:spcPts val="2800"/>
              </a:lnSpc>
              <a:buNone/>
            </a:pPr>
            <a:r>
              <a:rPr lang="en-US" sz="1850" dirty="0">
                <a:solidFill>
                  <a:srgbClr val="FFFFFF"/>
                </a:solidFill>
                <a:latin typeface="Source Sans 3" pitchFamily="34" charset="0"/>
                <a:ea typeface="Source Sans 3" pitchFamily="34" charset="-122"/>
                <a:cs typeface="Source Sans 3" pitchFamily="34" charset="-120"/>
              </a:rPr>
              <a:t>Extreme ductility values (likely polymers or errors) removed — realistic metal behavior restored for crash analysis</a:t>
            </a:r>
            <a:endParaRPr lang="en-US" sz="1850" dirty="0"/>
          </a:p>
        </p:txBody>
      </p:sp>
      <p:sp>
        <p:nvSpPr>
          <p:cNvPr id="13" name="Shape 11"/>
          <p:cNvSpPr/>
          <p:nvPr/>
        </p:nvSpPr>
        <p:spPr>
          <a:xfrm>
            <a:off x="842724" y="5503664"/>
            <a:ext cx="12944951" cy="1721644"/>
          </a:xfrm>
          <a:prstGeom prst="roundRect">
            <a:avLst>
              <a:gd name="adj" fmla="val 2098"/>
            </a:avLst>
          </a:prstGeom>
          <a:solidFill>
            <a:srgbClr val="D6D7DC"/>
          </a:solidFill>
          <a:ln/>
        </p:spPr>
      </p:sp>
      <p:pic>
        <p:nvPicPr>
          <p:cNvPr id="14" name="Image 0" descr="preencoded.png">    </p:cNvPr>
          <p:cNvPicPr>
            <a:picLocks noChangeAspect="1"/>
          </p:cNvPicPr>
          <p:nvPr/>
        </p:nvPicPr>
        <p:blipFill>
          <a:blip r:embed="rId1"/>
          <a:stretch>
            <a:fillRect/>
          </a:stretch>
        </p:blipFill>
        <p:spPr>
          <a:xfrm>
            <a:off x="1083469" y="5845254"/>
            <a:ext cx="300990" cy="240744"/>
          </a:xfrm>
          <a:prstGeom prst="rect">
            <a:avLst/>
          </a:prstGeom>
        </p:spPr>
      </p:pic>
      <p:sp>
        <p:nvSpPr>
          <p:cNvPr id="15" name="Text 12"/>
          <p:cNvSpPr/>
          <p:nvPr/>
        </p:nvSpPr>
        <p:spPr>
          <a:xfrm>
            <a:off x="1625203" y="5804535"/>
            <a:ext cx="11921728" cy="1083707"/>
          </a:xfrm>
          <a:prstGeom prst="rect">
            <a:avLst/>
          </a:prstGeom>
          <a:noFill/>
          <a:ln/>
        </p:spPr>
        <p:txBody>
          <a:bodyPr wrap="square" lIns="0" tIns="0" rIns="0" bIns="0" rtlCol="0" anchor="t"/>
          <a:lstStyle/>
          <a:p>
            <a:pPr algn="l" indent="0" marL="0">
              <a:lnSpc>
                <a:spcPts val="2800"/>
              </a:lnSpc>
              <a:buNone/>
            </a:pPr>
            <a:r>
              <a:rPr lang="en-US" sz="1850" b="1" dirty="0">
                <a:solidFill>
                  <a:srgbClr val="000000"/>
                </a:solidFill>
                <a:latin typeface="Source Sans 3" pitchFamily="34" charset="0"/>
                <a:ea typeface="Source Sans 3" pitchFamily="34" charset="-122"/>
                <a:cs typeface="Source Sans 3" pitchFamily="34" charset="-120"/>
              </a:rPr>
              <a:t>Data quality note:</a:t>
            </a:r>
            <a:pPr algn="l" indent="0" marL="0">
              <a:lnSpc>
                <a:spcPts val="2800"/>
              </a:lnSpc>
              <a:buNone/>
            </a:pPr>
            <a:r>
              <a:rPr lang="en-US" sz="1850" dirty="0">
                <a:solidFill>
                  <a:srgbClr val="000000"/>
                </a:solidFill>
                <a:latin typeface="Source Sans 3" pitchFamily="34" charset="0"/>
                <a:ea typeface="Source Sans 3" pitchFamily="34" charset="-122"/>
                <a:cs typeface="Source Sans 3" pitchFamily="34" charset="-120"/>
              </a:rPr>
              <a:t> Source data contained non-integer Sy anomalies (e.g., "280 max", "25 max") requiring type conversion and validation before statistical processing. Cleaning reduced standard deviation across all metrics, improving dataset reliability for multi-criteria optimization.</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7362" y="1101209"/>
            <a:ext cx="12526923" cy="647224"/>
          </a:xfrm>
          <a:prstGeom prst="rect">
            <a:avLst/>
          </a:prstGeom>
          <a:noFill/>
          <a:ln/>
        </p:spPr>
        <p:txBody>
          <a:bodyPr wrap="none" lIns="0" tIns="0" rIns="0" bIns="0" rtlCol="0" anchor="t"/>
          <a:lstStyle/>
          <a:p>
            <a:pPr algn="l" indent="0" marL="0">
              <a:lnSpc>
                <a:spcPts val="5050"/>
              </a:lnSpc>
              <a:buNone/>
            </a:pPr>
            <a:r>
              <a:rPr lang="en-US" sz="4050" b="1" dirty="0">
                <a:solidFill>
                  <a:srgbClr val="000000"/>
                </a:solidFill>
                <a:latin typeface="Montserrat Bold" pitchFamily="34" charset="0"/>
                <a:ea typeface="Montserrat Bold" pitchFamily="34" charset="-122"/>
                <a:cs typeface="Montserrat Bold" pitchFamily="34" charset="-120"/>
              </a:rPr>
              <a:t>Material-Treatment Efficiency: Top Performers</a:t>
            </a:r>
            <a:endParaRPr lang="en-US" sz="4050" dirty="0"/>
          </a:p>
        </p:txBody>
      </p:sp>
      <p:sp>
        <p:nvSpPr>
          <p:cNvPr id="3" name="Shape 1"/>
          <p:cNvSpPr/>
          <p:nvPr/>
        </p:nvSpPr>
        <p:spPr>
          <a:xfrm>
            <a:off x="797362" y="2204085"/>
            <a:ext cx="4193381" cy="3642598"/>
          </a:xfrm>
          <a:prstGeom prst="roundRect">
            <a:avLst>
              <a:gd name="adj" fmla="val 938"/>
            </a:avLst>
          </a:prstGeom>
          <a:solidFill>
            <a:srgbClr val="FFFFFF"/>
          </a:solidFill>
          <a:ln w="30480">
            <a:solidFill>
              <a:srgbClr val="D8D4D4"/>
            </a:solidFill>
            <a:prstDash val="solid"/>
          </a:ln>
        </p:spPr>
      </p:sp>
      <p:sp>
        <p:nvSpPr>
          <p:cNvPr id="4" name="Shape 2"/>
          <p:cNvSpPr/>
          <p:nvPr/>
        </p:nvSpPr>
        <p:spPr>
          <a:xfrm>
            <a:off x="827842" y="2234565"/>
            <a:ext cx="4132421" cy="683419"/>
          </a:xfrm>
          <a:prstGeom prst="rect">
            <a:avLst/>
          </a:prstGeom>
          <a:solidFill>
            <a:srgbClr val="F2EEEE"/>
          </a:solidFill>
          <a:ln/>
        </p:spPr>
      </p:sp>
      <p:sp>
        <p:nvSpPr>
          <p:cNvPr id="5" name="Text 3"/>
          <p:cNvSpPr/>
          <p:nvPr/>
        </p:nvSpPr>
        <p:spPr>
          <a:xfrm>
            <a:off x="2723198" y="2362676"/>
            <a:ext cx="341709" cy="427077"/>
          </a:xfrm>
          <a:prstGeom prst="rect">
            <a:avLst/>
          </a:prstGeom>
          <a:noFill/>
          <a:ln/>
        </p:spPr>
        <p:txBody>
          <a:bodyPr wrap="none" lIns="0" tIns="0" rIns="0" bIns="0" rtlCol="0" anchor="t"/>
          <a:lstStyle/>
          <a:p>
            <a:pPr algn="l" indent="0" marL="0">
              <a:lnSpc>
                <a:spcPts val="2650"/>
              </a:lnSpc>
              <a:buNone/>
            </a:pPr>
            <a:r>
              <a:rPr lang="en-US" sz="2650" b="1" dirty="0">
                <a:solidFill>
                  <a:srgbClr val="3D3838"/>
                </a:solidFill>
                <a:latin typeface="Montserrat Bold" pitchFamily="34" charset="0"/>
                <a:ea typeface="Montserrat Bold" pitchFamily="34" charset="-122"/>
                <a:cs typeface="Montserrat Bold" pitchFamily="34" charset="-120"/>
              </a:rPr>
              <a:t>1</a:t>
            </a:r>
            <a:endParaRPr lang="en-US" sz="2650" dirty="0"/>
          </a:p>
        </p:txBody>
      </p:sp>
      <p:sp>
        <p:nvSpPr>
          <p:cNvPr id="6" name="Text 4"/>
          <p:cNvSpPr/>
          <p:nvPr/>
        </p:nvSpPr>
        <p:spPr>
          <a:xfrm>
            <a:off x="1055608" y="3145750"/>
            <a:ext cx="3493651" cy="323493"/>
          </a:xfrm>
          <a:prstGeom prst="rect">
            <a:avLst/>
          </a:prstGeom>
          <a:noFill/>
          <a:ln/>
        </p:spPr>
        <p:txBody>
          <a:bodyPr wrap="none" lIns="0" tIns="0" rIns="0" bIns="0" rtlCol="0" anchor="t"/>
          <a:lstStyle/>
          <a:p>
            <a:pPr algn="l" indent="0" marL="0">
              <a:lnSpc>
                <a:spcPts val="2500"/>
              </a:lnSpc>
              <a:buNone/>
            </a:pPr>
            <a:r>
              <a:rPr lang="en-US" sz="2000" b="1" dirty="0">
                <a:solidFill>
                  <a:srgbClr val="3D3838"/>
                </a:solidFill>
                <a:latin typeface="Montserrat Bold" pitchFamily="34" charset="0"/>
                <a:ea typeface="Montserrat Bold" pitchFamily="34" charset="-122"/>
                <a:cs typeface="Montserrat Bold" pitchFamily="34" charset="-120"/>
              </a:rPr>
              <a:t>Highest Overall Efficiency</a:t>
            </a:r>
            <a:endParaRPr lang="en-US" sz="2000" dirty="0"/>
          </a:p>
        </p:txBody>
      </p:sp>
      <p:sp>
        <p:nvSpPr>
          <p:cNvPr id="7" name="Text 5"/>
          <p:cNvSpPr/>
          <p:nvPr/>
        </p:nvSpPr>
        <p:spPr>
          <a:xfrm>
            <a:off x="1055608" y="3605927"/>
            <a:ext cx="3676888" cy="341828"/>
          </a:xfrm>
          <a:prstGeom prst="rect">
            <a:avLst/>
          </a:prstGeom>
          <a:noFill/>
          <a:ln/>
        </p:spPr>
        <p:txBody>
          <a:bodyPr wrap="none" lIns="0" tIns="0" rIns="0" bIns="0" rtlCol="0" anchor="t"/>
          <a:lstStyle/>
          <a:p>
            <a:pPr algn="l" indent="0" marL="0">
              <a:lnSpc>
                <a:spcPts val="2650"/>
              </a:lnSpc>
              <a:buNone/>
            </a:pPr>
            <a:r>
              <a:rPr lang="en-US" sz="1750" b="1" dirty="0">
                <a:solidFill>
                  <a:srgbClr val="3D3838"/>
                </a:solidFill>
                <a:latin typeface="Source Sans 3" pitchFamily="34" charset="0"/>
                <a:ea typeface="Source Sans 3" pitchFamily="34" charset="-122"/>
                <a:cs typeface="Source Sans 3" pitchFamily="34" charset="-120"/>
              </a:rPr>
              <a:t>Steel SAE 51410 – Tempered at 400°F</a:t>
            </a:r>
            <a:endParaRPr lang="en-US" sz="1750" dirty="0"/>
          </a:p>
        </p:txBody>
      </p:sp>
      <p:sp>
        <p:nvSpPr>
          <p:cNvPr id="8" name="Text 6"/>
          <p:cNvSpPr/>
          <p:nvPr/>
        </p:nvSpPr>
        <p:spPr>
          <a:xfrm>
            <a:off x="1055608" y="4084439"/>
            <a:ext cx="3676888" cy="341828"/>
          </a:xfrm>
          <a:prstGeom prst="rect">
            <a:avLst/>
          </a:prstGeom>
          <a:noFill/>
          <a:ln/>
        </p:spPr>
        <p:txBody>
          <a:bodyPr wrap="non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Composite efficiency score: </a:t>
            </a:r>
            <a:pPr algn="l" indent="0" marL="0">
              <a:lnSpc>
                <a:spcPts val="2650"/>
              </a:lnSpc>
              <a:buNone/>
            </a:pPr>
            <a:r>
              <a:rPr lang="en-US" sz="1750" b="1" dirty="0">
                <a:solidFill>
                  <a:srgbClr val="3D3838"/>
                </a:solidFill>
                <a:latin typeface="Source Sans 3" pitchFamily="34" charset="0"/>
                <a:ea typeface="Source Sans 3" pitchFamily="34" charset="-122"/>
                <a:cs typeface="Source Sans 3" pitchFamily="34" charset="-120"/>
              </a:rPr>
              <a:t>85,530</a:t>
            </a:r>
            <a:endParaRPr lang="en-US" sz="1750" dirty="0"/>
          </a:p>
        </p:txBody>
      </p:sp>
      <p:sp>
        <p:nvSpPr>
          <p:cNvPr id="9" name="Text 7"/>
          <p:cNvSpPr/>
          <p:nvPr/>
        </p:nvSpPr>
        <p:spPr>
          <a:xfrm>
            <a:off x="1055608" y="4562951"/>
            <a:ext cx="3676888" cy="683657"/>
          </a:xfrm>
          <a:prstGeom prst="rect">
            <a:avLst/>
          </a:prstGeom>
          <a:noFill/>
          <a:ln/>
        </p:spPr>
        <p:txBody>
          <a:bodyPr wrap="squar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Combines Su, Sy, E, G for maximum structural performance</a:t>
            </a:r>
            <a:endParaRPr lang="en-US" sz="1750" dirty="0"/>
          </a:p>
        </p:txBody>
      </p:sp>
      <p:sp>
        <p:nvSpPr>
          <p:cNvPr id="10" name="Shape 8"/>
          <p:cNvSpPr/>
          <p:nvPr/>
        </p:nvSpPr>
        <p:spPr>
          <a:xfrm>
            <a:off x="5218509" y="2204085"/>
            <a:ext cx="4193381" cy="3642598"/>
          </a:xfrm>
          <a:prstGeom prst="roundRect">
            <a:avLst>
              <a:gd name="adj" fmla="val 938"/>
            </a:avLst>
          </a:prstGeom>
          <a:solidFill>
            <a:srgbClr val="FFFFFF"/>
          </a:solidFill>
          <a:ln w="30480">
            <a:solidFill>
              <a:srgbClr val="D8D4D4"/>
            </a:solidFill>
            <a:prstDash val="solid"/>
          </a:ln>
        </p:spPr>
      </p:sp>
      <p:sp>
        <p:nvSpPr>
          <p:cNvPr id="11" name="Shape 9"/>
          <p:cNvSpPr/>
          <p:nvPr/>
        </p:nvSpPr>
        <p:spPr>
          <a:xfrm>
            <a:off x="5248989" y="2234565"/>
            <a:ext cx="4132421" cy="683419"/>
          </a:xfrm>
          <a:prstGeom prst="rect">
            <a:avLst/>
          </a:prstGeom>
          <a:solidFill>
            <a:srgbClr val="F2EEEE"/>
          </a:solidFill>
          <a:ln/>
        </p:spPr>
      </p:sp>
      <p:sp>
        <p:nvSpPr>
          <p:cNvPr id="12" name="Text 10"/>
          <p:cNvSpPr/>
          <p:nvPr/>
        </p:nvSpPr>
        <p:spPr>
          <a:xfrm>
            <a:off x="7144345" y="2362676"/>
            <a:ext cx="341709" cy="427077"/>
          </a:xfrm>
          <a:prstGeom prst="rect">
            <a:avLst/>
          </a:prstGeom>
          <a:noFill/>
          <a:ln/>
        </p:spPr>
        <p:txBody>
          <a:bodyPr wrap="none" lIns="0" tIns="0" rIns="0" bIns="0" rtlCol="0" anchor="t"/>
          <a:lstStyle/>
          <a:p>
            <a:pPr algn="l" indent="0" marL="0">
              <a:lnSpc>
                <a:spcPts val="2650"/>
              </a:lnSpc>
              <a:buNone/>
            </a:pPr>
            <a:r>
              <a:rPr lang="en-US" sz="2650" b="1" dirty="0">
                <a:solidFill>
                  <a:srgbClr val="3D3838"/>
                </a:solidFill>
                <a:latin typeface="Montserrat Bold" pitchFamily="34" charset="0"/>
                <a:ea typeface="Montserrat Bold" pitchFamily="34" charset="-122"/>
                <a:cs typeface="Montserrat Bold" pitchFamily="34" charset="-120"/>
              </a:rPr>
              <a:t>2</a:t>
            </a:r>
            <a:endParaRPr lang="en-US" sz="2650" dirty="0"/>
          </a:p>
        </p:txBody>
      </p:sp>
      <p:sp>
        <p:nvSpPr>
          <p:cNvPr id="13" name="Text 11"/>
          <p:cNvSpPr/>
          <p:nvPr/>
        </p:nvSpPr>
        <p:spPr>
          <a:xfrm>
            <a:off x="5476756" y="3145750"/>
            <a:ext cx="2588895" cy="323493"/>
          </a:xfrm>
          <a:prstGeom prst="rect">
            <a:avLst/>
          </a:prstGeom>
          <a:noFill/>
          <a:ln/>
        </p:spPr>
        <p:txBody>
          <a:bodyPr wrap="none" lIns="0" tIns="0" rIns="0" bIns="0" rtlCol="0" anchor="t"/>
          <a:lstStyle/>
          <a:p>
            <a:pPr algn="l" indent="0" marL="0">
              <a:lnSpc>
                <a:spcPts val="2500"/>
              </a:lnSpc>
              <a:buNone/>
            </a:pPr>
            <a:r>
              <a:rPr lang="en-US" sz="2000" b="1" dirty="0">
                <a:solidFill>
                  <a:srgbClr val="3D3838"/>
                </a:solidFill>
                <a:latin typeface="Montserrat Bold" pitchFamily="34" charset="0"/>
                <a:ea typeface="Montserrat Bold" pitchFamily="34" charset="-122"/>
                <a:cs typeface="Montserrat Bold" pitchFamily="34" charset="-120"/>
              </a:rPr>
              <a:t>Best Ductility</a:t>
            </a:r>
            <a:endParaRPr lang="en-US" sz="2000" dirty="0"/>
          </a:p>
        </p:txBody>
      </p:sp>
      <p:sp>
        <p:nvSpPr>
          <p:cNvPr id="14" name="Text 12"/>
          <p:cNvSpPr/>
          <p:nvPr/>
        </p:nvSpPr>
        <p:spPr>
          <a:xfrm>
            <a:off x="5476756" y="3605927"/>
            <a:ext cx="3676888" cy="683657"/>
          </a:xfrm>
          <a:prstGeom prst="rect">
            <a:avLst/>
          </a:prstGeom>
          <a:noFill/>
          <a:ln/>
        </p:spPr>
        <p:txBody>
          <a:bodyPr wrap="square" lIns="0" tIns="0" rIns="0" bIns="0" rtlCol="0" anchor="t"/>
          <a:lstStyle/>
          <a:p>
            <a:pPr algn="l" indent="0" marL="0">
              <a:lnSpc>
                <a:spcPts val="2650"/>
              </a:lnSpc>
              <a:buNone/>
            </a:pPr>
            <a:r>
              <a:rPr lang="en-US" sz="1750" b="1" dirty="0">
                <a:solidFill>
                  <a:srgbClr val="3D3838"/>
                </a:solidFill>
                <a:latin typeface="Source Sans 3" pitchFamily="34" charset="0"/>
                <a:ea typeface="Source Sans 3" pitchFamily="34" charset="-122"/>
                <a:cs typeface="Source Sans 3" pitchFamily="34" charset="-120"/>
              </a:rPr>
              <a:t>DIN X6CrNiTi1810 – Unknown treatment</a:t>
            </a:r>
            <a:endParaRPr lang="en-US" sz="1750" dirty="0"/>
          </a:p>
        </p:txBody>
      </p:sp>
      <p:sp>
        <p:nvSpPr>
          <p:cNvPr id="15" name="Text 13"/>
          <p:cNvSpPr/>
          <p:nvPr/>
        </p:nvSpPr>
        <p:spPr>
          <a:xfrm>
            <a:off x="5476756" y="4426268"/>
            <a:ext cx="3676888" cy="341828"/>
          </a:xfrm>
          <a:prstGeom prst="rect">
            <a:avLst/>
          </a:prstGeom>
          <a:noFill/>
          <a:ln/>
        </p:spPr>
        <p:txBody>
          <a:bodyPr wrap="non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A5 efficiency: </a:t>
            </a:r>
            <a:pPr algn="l" indent="0" marL="0">
              <a:lnSpc>
                <a:spcPts val="2650"/>
              </a:lnSpc>
              <a:buNone/>
            </a:pPr>
            <a:r>
              <a:rPr lang="en-US" sz="1750" b="1" dirty="0">
                <a:solidFill>
                  <a:srgbClr val="3D3838"/>
                </a:solidFill>
                <a:latin typeface="Source Sans 3" pitchFamily="34" charset="0"/>
                <a:ea typeface="Source Sans 3" pitchFamily="34" charset="-122"/>
                <a:cs typeface="Source Sans 3" pitchFamily="34" charset="-120"/>
              </a:rPr>
              <a:t>37.0%</a:t>
            </a:r>
            <a:endParaRPr lang="en-US" sz="1750" dirty="0"/>
          </a:p>
        </p:txBody>
      </p:sp>
      <p:sp>
        <p:nvSpPr>
          <p:cNvPr id="16" name="Text 14"/>
          <p:cNvSpPr/>
          <p:nvPr/>
        </p:nvSpPr>
        <p:spPr>
          <a:xfrm>
            <a:off x="5476756" y="4904780"/>
            <a:ext cx="3676888" cy="683657"/>
          </a:xfrm>
          <a:prstGeom prst="rect">
            <a:avLst/>
          </a:prstGeom>
          <a:noFill/>
          <a:ln/>
        </p:spPr>
        <p:txBody>
          <a:bodyPr wrap="squar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Ideal for energy-absorbing crumple zones requiring high elongation</a:t>
            </a:r>
            <a:endParaRPr lang="en-US" sz="1750" dirty="0"/>
          </a:p>
        </p:txBody>
      </p:sp>
      <p:sp>
        <p:nvSpPr>
          <p:cNvPr id="17" name="Shape 15"/>
          <p:cNvSpPr/>
          <p:nvPr/>
        </p:nvSpPr>
        <p:spPr>
          <a:xfrm>
            <a:off x="9639657" y="2204085"/>
            <a:ext cx="4193381" cy="3642598"/>
          </a:xfrm>
          <a:prstGeom prst="roundRect">
            <a:avLst>
              <a:gd name="adj" fmla="val 938"/>
            </a:avLst>
          </a:prstGeom>
          <a:solidFill>
            <a:srgbClr val="FFFFFF"/>
          </a:solidFill>
          <a:ln w="30480">
            <a:solidFill>
              <a:srgbClr val="D8D4D4"/>
            </a:solidFill>
            <a:prstDash val="solid"/>
          </a:ln>
        </p:spPr>
      </p:sp>
      <p:sp>
        <p:nvSpPr>
          <p:cNvPr id="18" name="Shape 16"/>
          <p:cNvSpPr/>
          <p:nvPr/>
        </p:nvSpPr>
        <p:spPr>
          <a:xfrm>
            <a:off x="9670137" y="2234565"/>
            <a:ext cx="4132421" cy="683419"/>
          </a:xfrm>
          <a:prstGeom prst="rect">
            <a:avLst/>
          </a:prstGeom>
          <a:solidFill>
            <a:srgbClr val="F2EEEE"/>
          </a:solidFill>
          <a:ln/>
        </p:spPr>
      </p:sp>
      <p:sp>
        <p:nvSpPr>
          <p:cNvPr id="19" name="Text 17"/>
          <p:cNvSpPr/>
          <p:nvPr/>
        </p:nvSpPr>
        <p:spPr>
          <a:xfrm>
            <a:off x="11565493" y="2362676"/>
            <a:ext cx="341709" cy="427077"/>
          </a:xfrm>
          <a:prstGeom prst="rect">
            <a:avLst/>
          </a:prstGeom>
          <a:noFill/>
          <a:ln/>
        </p:spPr>
        <p:txBody>
          <a:bodyPr wrap="none" lIns="0" tIns="0" rIns="0" bIns="0" rtlCol="0" anchor="t"/>
          <a:lstStyle/>
          <a:p>
            <a:pPr algn="l" indent="0" marL="0">
              <a:lnSpc>
                <a:spcPts val="2650"/>
              </a:lnSpc>
              <a:buNone/>
            </a:pPr>
            <a:r>
              <a:rPr lang="en-US" sz="2650" b="1" dirty="0">
                <a:solidFill>
                  <a:srgbClr val="3D3838"/>
                </a:solidFill>
                <a:latin typeface="Montserrat Bold" pitchFamily="34" charset="0"/>
                <a:ea typeface="Montserrat Bold" pitchFamily="34" charset="-122"/>
                <a:cs typeface="Montserrat Bold" pitchFamily="34" charset="-120"/>
              </a:rPr>
              <a:t>3</a:t>
            </a:r>
            <a:endParaRPr lang="en-US" sz="2650" dirty="0"/>
          </a:p>
        </p:txBody>
      </p:sp>
      <p:sp>
        <p:nvSpPr>
          <p:cNvPr id="20" name="Text 18"/>
          <p:cNvSpPr/>
          <p:nvPr/>
        </p:nvSpPr>
        <p:spPr>
          <a:xfrm>
            <a:off x="9897904" y="3145750"/>
            <a:ext cx="2588895" cy="323493"/>
          </a:xfrm>
          <a:prstGeom prst="rect">
            <a:avLst/>
          </a:prstGeom>
          <a:noFill/>
          <a:ln/>
        </p:spPr>
        <p:txBody>
          <a:bodyPr wrap="none" lIns="0" tIns="0" rIns="0" bIns="0" rtlCol="0" anchor="t"/>
          <a:lstStyle/>
          <a:p>
            <a:pPr algn="l" indent="0" marL="0">
              <a:lnSpc>
                <a:spcPts val="2500"/>
              </a:lnSpc>
              <a:buNone/>
            </a:pPr>
            <a:r>
              <a:rPr lang="en-US" sz="2000" b="1" dirty="0">
                <a:solidFill>
                  <a:srgbClr val="3D3838"/>
                </a:solidFill>
                <a:latin typeface="Montserrat Bold" pitchFamily="34" charset="0"/>
                <a:ea typeface="Montserrat Bold" pitchFamily="34" charset="-122"/>
                <a:cs typeface="Montserrat Bold" pitchFamily="34" charset="-120"/>
              </a:rPr>
              <a:t>Optimal Hardness</a:t>
            </a:r>
            <a:endParaRPr lang="en-US" sz="2000" dirty="0"/>
          </a:p>
        </p:txBody>
      </p:sp>
      <p:sp>
        <p:nvSpPr>
          <p:cNvPr id="21" name="Text 19"/>
          <p:cNvSpPr/>
          <p:nvPr/>
        </p:nvSpPr>
        <p:spPr>
          <a:xfrm>
            <a:off x="9897904" y="3605927"/>
            <a:ext cx="3676888" cy="683657"/>
          </a:xfrm>
          <a:prstGeom prst="rect">
            <a:avLst/>
          </a:prstGeom>
          <a:noFill/>
          <a:ln/>
        </p:spPr>
        <p:txBody>
          <a:bodyPr wrap="square" lIns="0" tIns="0" rIns="0" bIns="0" rtlCol="0" anchor="t"/>
          <a:lstStyle/>
          <a:p>
            <a:pPr algn="l" indent="0" marL="0">
              <a:lnSpc>
                <a:spcPts val="2650"/>
              </a:lnSpc>
              <a:buNone/>
            </a:pPr>
            <a:r>
              <a:rPr lang="en-US" sz="1750" b="1" dirty="0">
                <a:solidFill>
                  <a:srgbClr val="3D3838"/>
                </a:solidFill>
                <a:latin typeface="Source Sans 3" pitchFamily="34" charset="0"/>
                <a:ea typeface="Source Sans 3" pitchFamily="34" charset="-122"/>
                <a:cs typeface="Source Sans 3" pitchFamily="34" charset="-120"/>
              </a:rPr>
              <a:t>Yellow brass C26800 – Unknown treatment</a:t>
            </a:r>
            <a:endParaRPr lang="en-US" sz="1750" dirty="0"/>
          </a:p>
        </p:txBody>
      </p:sp>
      <p:sp>
        <p:nvSpPr>
          <p:cNvPr id="22" name="Text 20"/>
          <p:cNvSpPr/>
          <p:nvPr/>
        </p:nvSpPr>
        <p:spPr>
          <a:xfrm>
            <a:off x="9897904" y="4426268"/>
            <a:ext cx="3676888" cy="341828"/>
          </a:xfrm>
          <a:prstGeom prst="rect">
            <a:avLst/>
          </a:prstGeom>
          <a:noFill/>
          <a:ln/>
        </p:spPr>
        <p:txBody>
          <a:bodyPr wrap="non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Bhn/HV efficiency: </a:t>
            </a:r>
            <a:pPr algn="l" indent="0" marL="0">
              <a:lnSpc>
                <a:spcPts val="2650"/>
              </a:lnSpc>
              <a:buNone/>
            </a:pPr>
            <a:r>
              <a:rPr lang="en-US" sz="1750" b="1" dirty="0">
                <a:solidFill>
                  <a:srgbClr val="3D3838"/>
                </a:solidFill>
                <a:latin typeface="Source Sans 3" pitchFamily="34" charset="0"/>
                <a:ea typeface="Source Sans 3" pitchFamily="34" charset="-122"/>
                <a:cs typeface="Source Sans 3" pitchFamily="34" charset="-120"/>
              </a:rPr>
              <a:t>223.5</a:t>
            </a:r>
            <a:endParaRPr lang="en-US" sz="1750" dirty="0"/>
          </a:p>
        </p:txBody>
      </p:sp>
      <p:sp>
        <p:nvSpPr>
          <p:cNvPr id="23" name="Text 21"/>
          <p:cNvSpPr/>
          <p:nvPr/>
        </p:nvSpPr>
        <p:spPr>
          <a:xfrm>
            <a:off x="9897904" y="4904780"/>
            <a:ext cx="3676888" cy="683657"/>
          </a:xfrm>
          <a:prstGeom prst="rect">
            <a:avLst/>
          </a:prstGeom>
          <a:noFill/>
          <a:ln/>
        </p:spPr>
        <p:txBody>
          <a:bodyPr wrap="squar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Superior wear resistance for contact surfaces and bushings</a:t>
            </a:r>
            <a:endParaRPr lang="en-US" sz="1750" dirty="0"/>
          </a:p>
        </p:txBody>
      </p:sp>
      <p:sp>
        <p:nvSpPr>
          <p:cNvPr id="24" name="Text 22"/>
          <p:cNvSpPr/>
          <p:nvPr/>
        </p:nvSpPr>
        <p:spPr>
          <a:xfrm>
            <a:off x="797362" y="6102906"/>
            <a:ext cx="13035677" cy="1025485"/>
          </a:xfrm>
          <a:prstGeom prst="rect">
            <a:avLst/>
          </a:prstGeom>
          <a:noFill/>
          <a:ln/>
        </p:spPr>
        <p:txBody>
          <a:bodyPr wrap="square" lIns="0" tIns="0" rIns="0" bIns="0" rtlCol="0" anchor="t"/>
          <a:lstStyle/>
          <a:p>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When analyzing materials individually by type, </a:t>
            </a:r>
            <a:pPr algn="l" indent="0" marL="0">
              <a:lnSpc>
                <a:spcPts val="2650"/>
              </a:lnSpc>
              <a:buNone/>
            </a:pPr>
            <a:r>
              <a:rPr lang="en-US" sz="1750" b="1" dirty="0">
                <a:solidFill>
                  <a:srgbClr val="3D3838"/>
                </a:solidFill>
                <a:latin typeface="Source Sans 3" pitchFamily="34" charset="0"/>
                <a:ea typeface="Source Sans 3" pitchFamily="34" charset="-122"/>
                <a:cs typeface="Source Sans 3" pitchFamily="34" charset="-120"/>
              </a:rPr>
              <a:t>Steel SAE 51431</a:t>
            </a:r>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 achieved the highest efficiency (57,011), while heat treatment analysis revealed </a:t>
            </a:r>
            <a:pPr algn="l" indent="0" marL="0">
              <a:lnSpc>
                <a:spcPts val="2650"/>
              </a:lnSpc>
              <a:buNone/>
            </a:pPr>
            <a:r>
              <a:rPr lang="en-US" sz="1750" b="1" dirty="0">
                <a:solidFill>
                  <a:srgbClr val="3D3838"/>
                </a:solidFill>
                <a:latin typeface="Source Sans 3" pitchFamily="34" charset="0"/>
                <a:ea typeface="Source Sans 3" pitchFamily="34" charset="-122"/>
                <a:cs typeface="Source Sans 3" pitchFamily="34" charset="-120"/>
              </a:rPr>
              <a:t>Full-hard</a:t>
            </a:r>
            <a:pPr algn="l" indent="0" marL="0">
              <a:lnSpc>
                <a:spcPts val="2650"/>
              </a:lnSpc>
              <a:buNone/>
            </a:pPr>
            <a:r>
              <a:rPr lang="en-US" sz="1750" dirty="0">
                <a:solidFill>
                  <a:srgbClr val="3D3838"/>
                </a:solidFill>
                <a:latin typeface="Source Sans 3" pitchFamily="34" charset="0"/>
                <a:ea typeface="Source Sans 3" pitchFamily="34" charset="-122"/>
                <a:cs typeface="Source Sans 3" pitchFamily="34" charset="-120"/>
              </a:rPr>
              <a:t> processing as most effective (55,892.67). However, combined Material × Treatment analysis provides more actionable insights for application-specific selection.</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3798" y="1269087"/>
            <a:ext cx="12891849"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Design Ratio Analysis: Three Critical Metrics</a:t>
            </a:r>
            <a:endParaRPr lang="en-US" sz="4400" dirty="0"/>
          </a:p>
        </p:txBody>
      </p:sp>
      <p:pic>
        <p:nvPicPr>
          <p:cNvPr id="3" name="Image 0" descr="preencoded.png">    </p:cNvPr>
          <p:cNvPicPr>
            <a:picLocks noChangeAspect="1"/>
          </p:cNvPicPr>
          <p:nvPr/>
        </p:nvPicPr>
        <p:blipFill>
          <a:blip r:embed="rId1"/>
          <a:stretch>
            <a:fillRect/>
          </a:stretch>
        </p:blipFill>
        <p:spPr>
          <a:xfrm>
            <a:off x="863798" y="2463998"/>
            <a:ext cx="4300895" cy="987266"/>
          </a:xfrm>
          <a:prstGeom prst="rect">
            <a:avLst/>
          </a:prstGeom>
        </p:spPr>
      </p:pic>
      <p:sp>
        <p:nvSpPr>
          <p:cNvPr id="4" name="Text 1"/>
          <p:cNvSpPr/>
          <p:nvPr/>
        </p:nvSpPr>
        <p:spPr>
          <a:xfrm>
            <a:off x="1110615" y="3698081"/>
            <a:ext cx="3207425"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Strength-to-Hardness</a:t>
            </a:r>
            <a:endParaRPr lang="en-US" sz="2200" dirty="0"/>
          </a:p>
        </p:txBody>
      </p:sp>
      <p:sp>
        <p:nvSpPr>
          <p:cNvPr id="5" name="Text 2"/>
          <p:cNvSpPr/>
          <p:nvPr/>
        </p:nvSpPr>
        <p:spPr>
          <a:xfrm>
            <a:off x="1110615" y="4196715"/>
            <a:ext cx="3807262"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Su / Bhn</a:t>
            </a:r>
            <a:endParaRPr lang="en-US" sz="1900" dirty="0"/>
          </a:p>
        </p:txBody>
      </p:sp>
      <p:sp>
        <p:nvSpPr>
          <p:cNvPr id="6" name="Text 3"/>
          <p:cNvSpPr/>
          <p:nvPr/>
        </p:nvSpPr>
        <p:spPr>
          <a:xfrm>
            <a:off x="1110615" y="4714875"/>
            <a:ext cx="3807262"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Balances tensile strength against wear resistance — critical for machinability and forming operations</a:t>
            </a:r>
            <a:endParaRPr lang="en-US" sz="1900" dirty="0"/>
          </a:p>
        </p:txBody>
      </p:sp>
      <p:sp>
        <p:nvSpPr>
          <p:cNvPr id="7" name="Text 4"/>
          <p:cNvSpPr/>
          <p:nvPr/>
        </p:nvSpPr>
        <p:spPr>
          <a:xfrm>
            <a:off x="1110615" y="6343531"/>
            <a:ext cx="3807262"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Top:</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Steel SAE 1141 (5.77)</a:t>
            </a:r>
            <a:endParaRPr lang="en-US" sz="1900" dirty="0"/>
          </a:p>
        </p:txBody>
      </p:sp>
      <p:pic>
        <p:nvPicPr>
          <p:cNvPr id="8" name="Image 1" descr="preencoded.png">    </p:cNvPr>
          <p:cNvPicPr>
            <a:picLocks noChangeAspect="1"/>
          </p:cNvPicPr>
          <p:nvPr/>
        </p:nvPicPr>
        <p:blipFill>
          <a:blip r:embed="rId2"/>
          <a:stretch>
            <a:fillRect/>
          </a:stretch>
        </p:blipFill>
        <p:spPr>
          <a:xfrm>
            <a:off x="5164693" y="2463998"/>
            <a:ext cx="4300895" cy="987266"/>
          </a:xfrm>
          <a:prstGeom prst="rect">
            <a:avLst/>
          </a:prstGeom>
        </p:spPr>
      </p:pic>
      <p:sp>
        <p:nvSpPr>
          <p:cNvPr id="9" name="Text 5"/>
          <p:cNvSpPr/>
          <p:nvPr/>
        </p:nvSpPr>
        <p:spPr>
          <a:xfrm>
            <a:off x="5411510" y="3698081"/>
            <a:ext cx="3561278"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Strength-Ductility Index</a:t>
            </a:r>
            <a:endParaRPr lang="en-US" sz="2200" dirty="0"/>
          </a:p>
        </p:txBody>
      </p:sp>
      <p:sp>
        <p:nvSpPr>
          <p:cNvPr id="10" name="Text 6"/>
          <p:cNvSpPr/>
          <p:nvPr/>
        </p:nvSpPr>
        <p:spPr>
          <a:xfrm>
            <a:off x="5411510" y="4196715"/>
            <a:ext cx="3807262"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Su × A5</a:t>
            </a:r>
            <a:endParaRPr lang="en-US" sz="1900" dirty="0"/>
          </a:p>
        </p:txBody>
      </p:sp>
      <p:sp>
        <p:nvSpPr>
          <p:cNvPr id="11" name="Text 7"/>
          <p:cNvSpPr/>
          <p:nvPr/>
        </p:nvSpPr>
        <p:spPr>
          <a:xfrm>
            <a:off x="5411510" y="4714875"/>
            <a:ext cx="3807262"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Measures energy absorption capacity — vital for crash structures requiring controlled deformation</a:t>
            </a:r>
            <a:endParaRPr lang="en-US" sz="1900" dirty="0"/>
          </a:p>
        </p:txBody>
      </p:sp>
      <p:sp>
        <p:nvSpPr>
          <p:cNvPr id="12" name="Text 8"/>
          <p:cNvSpPr/>
          <p:nvPr/>
        </p:nvSpPr>
        <p:spPr>
          <a:xfrm>
            <a:off x="5411510" y="5973366"/>
            <a:ext cx="3807262"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Top:</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Steel SAE 30201 (29,341)</a:t>
            </a:r>
            <a:endParaRPr lang="en-US" sz="1900" dirty="0"/>
          </a:p>
        </p:txBody>
      </p:sp>
      <p:pic>
        <p:nvPicPr>
          <p:cNvPr id="13" name="Image 2" descr="preencoded.png">    </p:cNvPr>
          <p:cNvPicPr>
            <a:picLocks noChangeAspect="1"/>
          </p:cNvPicPr>
          <p:nvPr/>
        </p:nvPicPr>
        <p:blipFill>
          <a:blip r:embed="rId3"/>
          <a:stretch>
            <a:fillRect/>
          </a:stretch>
        </p:blipFill>
        <p:spPr>
          <a:xfrm>
            <a:off x="9465588" y="2463998"/>
            <a:ext cx="4301014" cy="987266"/>
          </a:xfrm>
          <a:prstGeom prst="rect">
            <a:avLst/>
          </a:prstGeom>
        </p:spPr>
      </p:pic>
      <p:sp>
        <p:nvSpPr>
          <p:cNvPr id="14" name="Text 9"/>
          <p:cNvSpPr/>
          <p:nvPr/>
        </p:nvSpPr>
        <p:spPr>
          <a:xfrm>
            <a:off x="9712404" y="3698081"/>
            <a:ext cx="2902625"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Strength-to-Weight</a:t>
            </a:r>
            <a:endParaRPr lang="en-US" sz="2200" dirty="0"/>
          </a:p>
        </p:txBody>
      </p:sp>
      <p:sp>
        <p:nvSpPr>
          <p:cNvPr id="15" name="Text 10"/>
          <p:cNvSpPr/>
          <p:nvPr/>
        </p:nvSpPr>
        <p:spPr>
          <a:xfrm>
            <a:off x="9712404" y="4196715"/>
            <a:ext cx="3807381"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Su / ρ</a:t>
            </a:r>
            <a:endParaRPr lang="en-US" sz="1900" dirty="0"/>
          </a:p>
        </p:txBody>
      </p:sp>
      <p:sp>
        <p:nvSpPr>
          <p:cNvPr id="16" name="Text 11"/>
          <p:cNvSpPr/>
          <p:nvPr/>
        </p:nvSpPr>
        <p:spPr>
          <a:xfrm>
            <a:off x="9712404" y="4714875"/>
            <a:ext cx="3807381"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Optimizes structural efficiency per unit mass — directly impacts vehicle range and handling</a:t>
            </a:r>
            <a:endParaRPr lang="en-US" sz="1900" dirty="0"/>
          </a:p>
        </p:txBody>
      </p:sp>
      <p:sp>
        <p:nvSpPr>
          <p:cNvPr id="17" name="Text 12"/>
          <p:cNvSpPr/>
          <p:nvPr/>
        </p:nvSpPr>
        <p:spPr>
          <a:xfrm>
            <a:off x="9712404" y="5973366"/>
            <a:ext cx="3807381"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Top:</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Steel 20ChGNR GOST (0.161)</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3798" y="960715"/>
            <a:ext cx="9927431"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Engineering Application Mapping</a:t>
            </a:r>
            <a:endParaRPr lang="en-US" sz="4400" dirty="0"/>
          </a:p>
        </p:txBody>
      </p:sp>
      <p:sp>
        <p:nvSpPr>
          <p:cNvPr id="3" name="Text 1"/>
          <p:cNvSpPr/>
          <p:nvPr/>
        </p:nvSpPr>
        <p:spPr>
          <a:xfrm>
            <a:off x="863798" y="2278975"/>
            <a:ext cx="3158966"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Chassis &amp; Suspension</a:t>
            </a:r>
            <a:endParaRPr lang="en-US" sz="2200" dirty="0"/>
          </a:p>
        </p:txBody>
      </p:sp>
      <p:sp>
        <p:nvSpPr>
          <p:cNvPr id="4" name="Text 2"/>
          <p:cNvSpPr/>
          <p:nvPr/>
        </p:nvSpPr>
        <p:spPr>
          <a:xfrm>
            <a:off x="863798" y="2876431"/>
            <a:ext cx="3854410" cy="740331"/>
          </a:xfrm>
          <a:prstGeom prst="rect">
            <a:avLst/>
          </a:prstGeom>
          <a:noFill/>
          <a:ln/>
        </p:spPr>
        <p:txBody>
          <a:bodyPr wrap="squar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Requirement:</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High machinability + strength</a:t>
            </a:r>
            <a:endParaRPr lang="en-US" sz="1900" dirty="0"/>
          </a:p>
        </p:txBody>
      </p:sp>
      <p:sp>
        <p:nvSpPr>
          <p:cNvPr id="5" name="Text 3"/>
          <p:cNvSpPr/>
          <p:nvPr/>
        </p:nvSpPr>
        <p:spPr>
          <a:xfrm>
            <a:off x="863798" y="3838813"/>
            <a:ext cx="3854410"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Optimal materials:</a:t>
            </a:r>
            <a:endParaRPr lang="en-US" sz="1900" dirty="0"/>
          </a:p>
        </p:txBody>
      </p:sp>
      <p:sp>
        <p:nvSpPr>
          <p:cNvPr id="6" name="Text 4"/>
          <p:cNvSpPr/>
          <p:nvPr/>
        </p:nvSpPr>
        <p:spPr>
          <a:xfrm>
            <a:off x="863798" y="4431030"/>
            <a:ext cx="385441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Steel SAE 1141</a:t>
            </a:r>
            <a:endParaRPr lang="en-US" sz="1900" dirty="0"/>
          </a:p>
        </p:txBody>
      </p:sp>
      <p:sp>
        <p:nvSpPr>
          <p:cNvPr id="7" name="Text 5"/>
          <p:cNvSpPr/>
          <p:nvPr/>
        </p:nvSpPr>
        <p:spPr>
          <a:xfrm>
            <a:off x="863798" y="4887516"/>
            <a:ext cx="385441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DIN 55Cr3</a:t>
            </a:r>
            <a:endParaRPr lang="en-US" sz="1900" dirty="0"/>
          </a:p>
        </p:txBody>
      </p:sp>
      <p:sp>
        <p:nvSpPr>
          <p:cNvPr id="8" name="Text 6"/>
          <p:cNvSpPr/>
          <p:nvPr/>
        </p:nvSpPr>
        <p:spPr>
          <a:xfrm>
            <a:off x="863798" y="5344001"/>
            <a:ext cx="385441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DIN 37Cr4</a:t>
            </a:r>
            <a:endParaRPr lang="en-US" sz="1900" dirty="0"/>
          </a:p>
        </p:txBody>
      </p:sp>
      <p:sp>
        <p:nvSpPr>
          <p:cNvPr id="9" name="Text 7"/>
          <p:cNvSpPr/>
          <p:nvPr/>
        </p:nvSpPr>
        <p:spPr>
          <a:xfrm>
            <a:off x="863798" y="5936218"/>
            <a:ext cx="3854410"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Strength-to-Hardness ratio of 5.77 enables efficient forming while maintaining structural integrity</a:t>
            </a:r>
            <a:endParaRPr lang="en-US" sz="1900" dirty="0"/>
          </a:p>
        </p:txBody>
      </p:sp>
      <p:sp>
        <p:nvSpPr>
          <p:cNvPr id="10" name="Text 8"/>
          <p:cNvSpPr/>
          <p:nvPr/>
        </p:nvSpPr>
        <p:spPr>
          <a:xfrm>
            <a:off x="5328047" y="2278975"/>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Crumple Zones</a:t>
            </a:r>
            <a:endParaRPr lang="en-US" sz="2200" dirty="0"/>
          </a:p>
        </p:txBody>
      </p:sp>
      <p:sp>
        <p:nvSpPr>
          <p:cNvPr id="11" name="Text 9"/>
          <p:cNvSpPr/>
          <p:nvPr/>
        </p:nvSpPr>
        <p:spPr>
          <a:xfrm>
            <a:off x="5328047" y="2876431"/>
            <a:ext cx="3854410" cy="740331"/>
          </a:xfrm>
          <a:prstGeom prst="rect">
            <a:avLst/>
          </a:prstGeom>
          <a:noFill/>
          <a:ln/>
        </p:spPr>
        <p:txBody>
          <a:bodyPr wrap="squar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Requirement:</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Maximum energy absorption</a:t>
            </a:r>
            <a:endParaRPr lang="en-US" sz="1900" dirty="0"/>
          </a:p>
        </p:txBody>
      </p:sp>
      <p:sp>
        <p:nvSpPr>
          <p:cNvPr id="12" name="Text 10"/>
          <p:cNvSpPr/>
          <p:nvPr/>
        </p:nvSpPr>
        <p:spPr>
          <a:xfrm>
            <a:off x="5328047" y="3838813"/>
            <a:ext cx="3854410"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Optimal materials:</a:t>
            </a:r>
            <a:endParaRPr lang="en-US" sz="1900" dirty="0"/>
          </a:p>
        </p:txBody>
      </p:sp>
      <p:sp>
        <p:nvSpPr>
          <p:cNvPr id="13" name="Text 11"/>
          <p:cNvSpPr/>
          <p:nvPr/>
        </p:nvSpPr>
        <p:spPr>
          <a:xfrm>
            <a:off x="5328047" y="4431030"/>
            <a:ext cx="385441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Steel SAE 30201</a:t>
            </a:r>
            <a:endParaRPr lang="en-US" sz="1900" dirty="0"/>
          </a:p>
        </p:txBody>
      </p:sp>
      <p:sp>
        <p:nvSpPr>
          <p:cNvPr id="14" name="Text 12"/>
          <p:cNvSpPr/>
          <p:nvPr/>
        </p:nvSpPr>
        <p:spPr>
          <a:xfrm>
            <a:off x="5328047" y="4887516"/>
            <a:ext cx="385441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Steel SAE 30301</a:t>
            </a:r>
            <a:endParaRPr lang="en-US" sz="1900" dirty="0"/>
          </a:p>
        </p:txBody>
      </p:sp>
      <p:sp>
        <p:nvSpPr>
          <p:cNvPr id="15" name="Text 13"/>
          <p:cNvSpPr/>
          <p:nvPr/>
        </p:nvSpPr>
        <p:spPr>
          <a:xfrm>
            <a:off x="5328047" y="5344001"/>
            <a:ext cx="385441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Steel SAE 30202</a:t>
            </a:r>
            <a:endParaRPr lang="en-US" sz="1900" dirty="0"/>
          </a:p>
        </p:txBody>
      </p:sp>
      <p:sp>
        <p:nvSpPr>
          <p:cNvPr id="16" name="Text 14"/>
          <p:cNvSpPr/>
          <p:nvPr/>
        </p:nvSpPr>
        <p:spPr>
          <a:xfrm>
            <a:off x="5328047" y="5936218"/>
            <a:ext cx="3854410"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Strength-Ductility indices above 26,000 ensure controlled deformation before failure</a:t>
            </a:r>
            <a:endParaRPr lang="en-US" sz="1900" dirty="0"/>
          </a:p>
        </p:txBody>
      </p:sp>
      <p:sp>
        <p:nvSpPr>
          <p:cNvPr id="17" name="Text 15"/>
          <p:cNvSpPr/>
          <p:nvPr/>
        </p:nvSpPr>
        <p:spPr>
          <a:xfrm>
            <a:off x="9792295" y="2278975"/>
            <a:ext cx="3415189"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Lightweight Structures</a:t>
            </a:r>
            <a:endParaRPr lang="en-US" sz="2200" dirty="0"/>
          </a:p>
        </p:txBody>
      </p:sp>
      <p:sp>
        <p:nvSpPr>
          <p:cNvPr id="18" name="Text 16"/>
          <p:cNvSpPr/>
          <p:nvPr/>
        </p:nvSpPr>
        <p:spPr>
          <a:xfrm>
            <a:off x="9792295" y="2876431"/>
            <a:ext cx="3989427" cy="740331"/>
          </a:xfrm>
          <a:prstGeom prst="rect">
            <a:avLst/>
          </a:prstGeom>
          <a:noFill/>
          <a:ln/>
        </p:spPr>
        <p:txBody>
          <a:bodyPr wrap="squar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Requirement:</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Minimize weight without sacrificing strength</a:t>
            </a:r>
            <a:endParaRPr lang="en-US" sz="1900" dirty="0"/>
          </a:p>
        </p:txBody>
      </p:sp>
      <p:sp>
        <p:nvSpPr>
          <p:cNvPr id="19" name="Text 17"/>
          <p:cNvSpPr/>
          <p:nvPr/>
        </p:nvSpPr>
        <p:spPr>
          <a:xfrm>
            <a:off x="9792295" y="3838813"/>
            <a:ext cx="3989427"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Optimal materials:</a:t>
            </a:r>
            <a:endParaRPr lang="en-US" sz="1900" dirty="0"/>
          </a:p>
        </p:txBody>
      </p:sp>
      <p:sp>
        <p:nvSpPr>
          <p:cNvPr id="20" name="Text 18"/>
          <p:cNvSpPr/>
          <p:nvPr/>
        </p:nvSpPr>
        <p:spPr>
          <a:xfrm>
            <a:off x="9792295" y="4431030"/>
            <a:ext cx="3989427"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Steel 20ChGNR GOST</a:t>
            </a:r>
            <a:endParaRPr lang="en-US" sz="1900" dirty="0"/>
          </a:p>
        </p:txBody>
      </p:sp>
      <p:sp>
        <p:nvSpPr>
          <p:cNvPr id="21" name="Text 19"/>
          <p:cNvSpPr/>
          <p:nvPr/>
        </p:nvSpPr>
        <p:spPr>
          <a:xfrm>
            <a:off x="9792295" y="4887516"/>
            <a:ext cx="3989427"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Steel 40ChFA GOST</a:t>
            </a:r>
            <a:endParaRPr lang="en-US" sz="1900" dirty="0"/>
          </a:p>
        </p:txBody>
      </p:sp>
      <p:sp>
        <p:nvSpPr>
          <p:cNvPr id="22" name="Text 20"/>
          <p:cNvSpPr/>
          <p:nvPr/>
        </p:nvSpPr>
        <p:spPr>
          <a:xfrm>
            <a:off x="9792295" y="5344001"/>
            <a:ext cx="3989427"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Steel 30ChGT GOST</a:t>
            </a:r>
            <a:endParaRPr lang="en-US" sz="1900" dirty="0"/>
          </a:p>
        </p:txBody>
      </p:sp>
      <p:sp>
        <p:nvSpPr>
          <p:cNvPr id="23" name="Text 21"/>
          <p:cNvSpPr/>
          <p:nvPr/>
        </p:nvSpPr>
        <p:spPr>
          <a:xfrm>
            <a:off x="9792295" y="5936218"/>
            <a:ext cx="3989427"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Strength-to-Weight ratios above 0.160 directly extend EV range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56868" y="516136"/>
            <a:ext cx="9465350" cy="533162"/>
          </a:xfrm>
          <a:prstGeom prst="rect">
            <a:avLst/>
          </a:prstGeom>
          <a:noFill/>
          <a:ln/>
        </p:spPr>
        <p:txBody>
          <a:bodyPr wrap="none" lIns="0" tIns="0" rIns="0" bIns="0" rtlCol="0" anchor="t"/>
          <a:lstStyle/>
          <a:p>
            <a:pPr algn="l" indent="0" marL="0">
              <a:lnSpc>
                <a:spcPts val="4150"/>
              </a:lnSpc>
              <a:buNone/>
            </a:pPr>
            <a:r>
              <a:rPr lang="en-US" sz="3350" b="1" dirty="0">
                <a:solidFill>
                  <a:srgbClr val="000000"/>
                </a:solidFill>
                <a:latin typeface="Montserrat Bold" pitchFamily="34" charset="0"/>
                <a:ea typeface="Montserrat Bold" pitchFamily="34" charset="-122"/>
                <a:cs typeface="Montserrat Bold" pitchFamily="34" charset="-120"/>
              </a:rPr>
              <a:t>Hardness Analysis: Critical Data Limitation</a:t>
            </a:r>
            <a:endParaRPr lang="en-US" sz="3350" dirty="0"/>
          </a:p>
        </p:txBody>
      </p:sp>
      <p:sp>
        <p:nvSpPr>
          <p:cNvPr id="3" name="Text 1"/>
          <p:cNvSpPr/>
          <p:nvPr/>
        </p:nvSpPr>
        <p:spPr>
          <a:xfrm>
            <a:off x="1643658" y="2644616"/>
            <a:ext cx="2308622" cy="469225"/>
          </a:xfrm>
          <a:prstGeom prst="rect">
            <a:avLst/>
          </a:prstGeom>
          <a:noFill/>
          <a:ln/>
        </p:spPr>
        <p:txBody>
          <a:bodyPr wrap="none" lIns="0" tIns="0" rIns="0" bIns="0" rtlCol="0" anchor="t"/>
          <a:lstStyle/>
          <a:p>
            <a:pPr algn="ctr" indent="0" marL="0">
              <a:lnSpc>
                <a:spcPts val="3650"/>
              </a:lnSpc>
              <a:buNone/>
            </a:pPr>
            <a:r>
              <a:rPr lang="en-US" sz="3650" b="1" dirty="0">
                <a:solidFill>
                  <a:srgbClr val="3D3838"/>
                </a:solidFill>
                <a:latin typeface="Montserrat Bold" pitchFamily="34" charset="0"/>
                <a:ea typeface="Montserrat Bold" pitchFamily="34" charset="-122"/>
                <a:cs typeface="Montserrat Bold" pitchFamily="34" charset="-120"/>
              </a:rPr>
              <a:t>217</a:t>
            </a:r>
            <a:endParaRPr lang="en-US" sz="3650" dirty="0"/>
          </a:p>
        </p:txBody>
      </p:sp>
      <p:pic>
        <p:nvPicPr>
          <p:cNvPr id="4" name="Image 0" descr="preencoded.png">    </p:cNvPr>
          <p:cNvPicPr>
            <a:picLocks noChangeAspect="1"/>
          </p:cNvPicPr>
          <p:nvPr/>
        </p:nvPicPr>
        <p:blipFill>
          <a:blip r:embed="rId1"/>
          <a:stretch>
            <a:fillRect/>
          </a:stretch>
        </p:blipFill>
        <p:spPr>
          <a:xfrm>
            <a:off x="1390293" y="1471612"/>
            <a:ext cx="2815471" cy="2815471"/>
          </a:xfrm>
          <a:prstGeom prst="rect">
            <a:avLst/>
          </a:prstGeom>
        </p:spPr>
      </p:pic>
      <p:sp>
        <p:nvSpPr>
          <p:cNvPr id="5" name="Text 2"/>
          <p:cNvSpPr/>
          <p:nvPr/>
        </p:nvSpPr>
        <p:spPr>
          <a:xfrm>
            <a:off x="1542455" y="4521637"/>
            <a:ext cx="2511147" cy="266462"/>
          </a:xfrm>
          <a:prstGeom prst="rect">
            <a:avLst/>
          </a:prstGeom>
          <a:noFill/>
          <a:ln/>
        </p:spPr>
        <p:txBody>
          <a:bodyPr wrap="none" lIns="0" tIns="0" rIns="0" bIns="0" rtlCol="0" anchor="t"/>
          <a:lstStyle/>
          <a:p>
            <a:pPr algn="ctr" indent="0" marL="0">
              <a:lnSpc>
                <a:spcPts val="2050"/>
              </a:lnSpc>
              <a:buNone/>
            </a:pPr>
            <a:r>
              <a:rPr lang="en-US" sz="1650" b="1" dirty="0">
                <a:solidFill>
                  <a:srgbClr val="3D3838"/>
                </a:solidFill>
                <a:latin typeface="Montserrat Bold" pitchFamily="34" charset="0"/>
                <a:ea typeface="Montserrat Bold" pitchFamily="34" charset="-122"/>
                <a:cs typeface="Montserrat Bold" pitchFamily="34" charset="-120"/>
              </a:rPr>
              <a:t>Brinell Hardness (Bhn)</a:t>
            </a:r>
            <a:endParaRPr lang="en-US" sz="1650" dirty="0"/>
          </a:p>
        </p:txBody>
      </p:sp>
      <p:sp>
        <p:nvSpPr>
          <p:cNvPr id="6" name="Text 3"/>
          <p:cNvSpPr/>
          <p:nvPr/>
        </p:nvSpPr>
        <p:spPr>
          <a:xfrm>
            <a:off x="656868" y="4900613"/>
            <a:ext cx="4282440" cy="281583"/>
          </a:xfrm>
          <a:prstGeom prst="rect">
            <a:avLst/>
          </a:prstGeom>
          <a:noFill/>
          <a:ln/>
        </p:spPr>
        <p:txBody>
          <a:bodyPr wrap="none" lIns="0" tIns="0" rIns="0" bIns="0" rtlCol="0" anchor="t"/>
          <a:lstStyle/>
          <a:p>
            <a:pPr algn="ctr" indent="0" marL="0">
              <a:lnSpc>
                <a:spcPts val="2200"/>
              </a:lnSpc>
              <a:buNone/>
            </a:pPr>
            <a:r>
              <a:rPr lang="en-US" sz="1450" dirty="0">
                <a:solidFill>
                  <a:srgbClr val="3D3838"/>
                </a:solidFill>
                <a:latin typeface="Source Sans 3" pitchFamily="34" charset="0"/>
                <a:ea typeface="Source Sans 3" pitchFamily="34" charset="-122"/>
                <a:cs typeface="Source Sans 3" pitchFamily="34" charset="-120"/>
              </a:rPr>
              <a:t>All materials show identical value after cleaning</a:t>
            </a:r>
            <a:endParaRPr lang="en-US" sz="1450" dirty="0"/>
          </a:p>
        </p:txBody>
      </p:sp>
      <p:sp>
        <p:nvSpPr>
          <p:cNvPr id="7" name="Text 4"/>
          <p:cNvSpPr/>
          <p:nvPr/>
        </p:nvSpPr>
        <p:spPr>
          <a:xfrm>
            <a:off x="6160770" y="2644616"/>
            <a:ext cx="2308622" cy="469225"/>
          </a:xfrm>
          <a:prstGeom prst="rect">
            <a:avLst/>
          </a:prstGeom>
          <a:noFill/>
          <a:ln/>
        </p:spPr>
        <p:txBody>
          <a:bodyPr wrap="none" lIns="0" tIns="0" rIns="0" bIns="0" rtlCol="0" anchor="t"/>
          <a:lstStyle/>
          <a:p>
            <a:pPr algn="ctr" indent="0" marL="0">
              <a:lnSpc>
                <a:spcPts val="3650"/>
              </a:lnSpc>
              <a:buNone/>
            </a:pPr>
            <a:r>
              <a:rPr lang="en-US" sz="3650" b="1" dirty="0">
                <a:solidFill>
                  <a:srgbClr val="3D3838"/>
                </a:solidFill>
                <a:latin typeface="Montserrat Bold" pitchFamily="34" charset="0"/>
                <a:ea typeface="Montserrat Bold" pitchFamily="34" charset="-122"/>
                <a:cs typeface="Montserrat Bold" pitchFamily="34" charset="-120"/>
              </a:rPr>
              <a:t>230</a:t>
            </a:r>
            <a:endParaRPr lang="en-US" sz="3650" dirty="0"/>
          </a:p>
        </p:txBody>
      </p:sp>
      <p:pic>
        <p:nvPicPr>
          <p:cNvPr id="8" name="Image 1" descr="preencoded.png">    </p:cNvPr>
          <p:cNvPicPr>
            <a:picLocks noChangeAspect="1"/>
          </p:cNvPicPr>
          <p:nvPr/>
        </p:nvPicPr>
        <p:blipFill>
          <a:blip r:embed="rId2"/>
          <a:stretch>
            <a:fillRect/>
          </a:stretch>
        </p:blipFill>
        <p:spPr>
          <a:xfrm>
            <a:off x="5907405" y="1471612"/>
            <a:ext cx="2815471" cy="2815471"/>
          </a:xfrm>
          <a:prstGeom prst="rect">
            <a:avLst/>
          </a:prstGeom>
        </p:spPr>
      </p:pic>
      <p:sp>
        <p:nvSpPr>
          <p:cNvPr id="9" name="Text 5"/>
          <p:cNvSpPr/>
          <p:nvPr/>
        </p:nvSpPr>
        <p:spPr>
          <a:xfrm>
            <a:off x="6076831" y="4521637"/>
            <a:ext cx="2476619" cy="266462"/>
          </a:xfrm>
          <a:prstGeom prst="rect">
            <a:avLst/>
          </a:prstGeom>
          <a:noFill/>
          <a:ln/>
        </p:spPr>
        <p:txBody>
          <a:bodyPr wrap="none" lIns="0" tIns="0" rIns="0" bIns="0" rtlCol="0" anchor="t"/>
          <a:lstStyle/>
          <a:p>
            <a:pPr algn="ctr" indent="0" marL="0">
              <a:lnSpc>
                <a:spcPts val="2050"/>
              </a:lnSpc>
              <a:buNone/>
            </a:pPr>
            <a:r>
              <a:rPr lang="en-US" sz="1650" b="1" dirty="0">
                <a:solidFill>
                  <a:srgbClr val="3D3838"/>
                </a:solidFill>
                <a:latin typeface="Montserrat Bold" pitchFamily="34" charset="0"/>
                <a:ea typeface="Montserrat Bold" pitchFamily="34" charset="-122"/>
                <a:cs typeface="Montserrat Bold" pitchFamily="34" charset="-120"/>
              </a:rPr>
              <a:t>Vickers Hardness (HV)</a:t>
            </a:r>
            <a:endParaRPr lang="en-US" sz="1650" dirty="0"/>
          </a:p>
        </p:txBody>
      </p:sp>
      <p:sp>
        <p:nvSpPr>
          <p:cNvPr id="10" name="Text 6"/>
          <p:cNvSpPr/>
          <p:nvPr/>
        </p:nvSpPr>
        <p:spPr>
          <a:xfrm>
            <a:off x="5173861" y="4900613"/>
            <a:ext cx="4282559" cy="281583"/>
          </a:xfrm>
          <a:prstGeom prst="rect">
            <a:avLst/>
          </a:prstGeom>
          <a:noFill/>
          <a:ln/>
        </p:spPr>
        <p:txBody>
          <a:bodyPr wrap="none" lIns="0" tIns="0" rIns="0" bIns="0" rtlCol="0" anchor="t"/>
          <a:lstStyle/>
          <a:p>
            <a:pPr algn="ctr" indent="0" marL="0">
              <a:lnSpc>
                <a:spcPts val="2200"/>
              </a:lnSpc>
              <a:buNone/>
            </a:pPr>
            <a:r>
              <a:rPr lang="en-US" sz="1450" dirty="0">
                <a:solidFill>
                  <a:srgbClr val="3D3838"/>
                </a:solidFill>
                <a:latin typeface="Source Sans 3" pitchFamily="34" charset="0"/>
                <a:ea typeface="Source Sans 3" pitchFamily="34" charset="-122"/>
                <a:cs typeface="Source Sans 3" pitchFamily="34" charset="-120"/>
              </a:rPr>
              <a:t>Uniform across entire dataset post-processing</a:t>
            </a:r>
            <a:endParaRPr lang="en-US" sz="1450" dirty="0"/>
          </a:p>
        </p:txBody>
      </p:sp>
      <p:sp>
        <p:nvSpPr>
          <p:cNvPr id="11" name="Text 7"/>
          <p:cNvSpPr/>
          <p:nvPr/>
        </p:nvSpPr>
        <p:spPr>
          <a:xfrm>
            <a:off x="10677882" y="2644616"/>
            <a:ext cx="2308622" cy="469225"/>
          </a:xfrm>
          <a:prstGeom prst="rect">
            <a:avLst/>
          </a:prstGeom>
          <a:noFill/>
          <a:ln/>
        </p:spPr>
        <p:txBody>
          <a:bodyPr wrap="none" lIns="0" tIns="0" rIns="0" bIns="0" rtlCol="0" anchor="t"/>
          <a:lstStyle/>
          <a:p>
            <a:pPr algn="ctr" indent="0" marL="0">
              <a:lnSpc>
                <a:spcPts val="3650"/>
              </a:lnSpc>
              <a:buNone/>
            </a:pPr>
            <a:r>
              <a:rPr lang="en-US" sz="3650" b="1" dirty="0">
                <a:solidFill>
                  <a:srgbClr val="3D3838"/>
                </a:solidFill>
                <a:latin typeface="Montserrat Bold" pitchFamily="34" charset="0"/>
                <a:ea typeface="Montserrat Bold" pitchFamily="34" charset="-122"/>
                <a:cs typeface="Montserrat Bold" pitchFamily="34" charset="-120"/>
              </a:rPr>
              <a:t>13</a:t>
            </a:r>
            <a:endParaRPr lang="en-US" sz="3650" dirty="0"/>
          </a:p>
        </p:txBody>
      </p:sp>
      <p:pic>
        <p:nvPicPr>
          <p:cNvPr id="12" name="Image 2" descr="preencoded.png">    </p:cNvPr>
          <p:cNvPicPr>
            <a:picLocks noChangeAspect="1"/>
          </p:cNvPicPr>
          <p:nvPr/>
        </p:nvPicPr>
        <p:blipFill>
          <a:blip r:embed="rId3"/>
          <a:stretch>
            <a:fillRect/>
          </a:stretch>
        </p:blipFill>
        <p:spPr>
          <a:xfrm>
            <a:off x="10424517" y="1471612"/>
            <a:ext cx="2815471" cy="2815471"/>
          </a:xfrm>
          <a:prstGeom prst="rect">
            <a:avLst/>
          </a:prstGeom>
        </p:spPr>
      </p:pic>
      <p:sp>
        <p:nvSpPr>
          <p:cNvPr id="13" name="Text 8"/>
          <p:cNvSpPr/>
          <p:nvPr/>
        </p:nvSpPr>
        <p:spPr>
          <a:xfrm>
            <a:off x="10730508" y="4521637"/>
            <a:ext cx="2203490" cy="266462"/>
          </a:xfrm>
          <a:prstGeom prst="rect">
            <a:avLst/>
          </a:prstGeom>
          <a:noFill/>
          <a:ln/>
        </p:spPr>
        <p:txBody>
          <a:bodyPr wrap="none" lIns="0" tIns="0" rIns="0" bIns="0" rtlCol="0" anchor="t"/>
          <a:lstStyle/>
          <a:p>
            <a:pPr algn="ctr" indent="0" marL="0">
              <a:lnSpc>
                <a:spcPts val="2050"/>
              </a:lnSpc>
              <a:buNone/>
            </a:pPr>
            <a:r>
              <a:rPr lang="en-US" sz="1650" b="1" dirty="0">
                <a:solidFill>
                  <a:srgbClr val="3D3838"/>
                </a:solidFill>
                <a:latin typeface="Montserrat Bold" pitchFamily="34" charset="0"/>
                <a:ea typeface="Montserrat Bold" pitchFamily="34" charset="-122"/>
                <a:cs typeface="Montserrat Bold" pitchFamily="34" charset="-120"/>
              </a:rPr>
              <a:t>HV-Bhn Divergence</a:t>
            </a:r>
            <a:endParaRPr lang="en-US" sz="1650" dirty="0"/>
          </a:p>
        </p:txBody>
      </p:sp>
      <p:sp>
        <p:nvSpPr>
          <p:cNvPr id="14" name="Text 9"/>
          <p:cNvSpPr/>
          <p:nvPr/>
        </p:nvSpPr>
        <p:spPr>
          <a:xfrm>
            <a:off x="9690973" y="4900613"/>
            <a:ext cx="4282559" cy="563166"/>
          </a:xfrm>
          <a:prstGeom prst="rect">
            <a:avLst/>
          </a:prstGeom>
          <a:noFill/>
          <a:ln/>
        </p:spPr>
        <p:txBody>
          <a:bodyPr wrap="square" lIns="0" tIns="0" rIns="0" bIns="0" rtlCol="0" anchor="t"/>
          <a:lstStyle/>
          <a:p>
            <a:pPr algn="ctr" indent="0" marL="0">
              <a:lnSpc>
                <a:spcPts val="2200"/>
              </a:lnSpc>
              <a:buNone/>
            </a:pPr>
            <a:r>
              <a:rPr lang="en-US" sz="1450" dirty="0">
                <a:solidFill>
                  <a:srgbClr val="3D3838"/>
                </a:solidFill>
                <a:latin typeface="Source Sans 3" pitchFamily="34" charset="0"/>
                <a:ea typeface="Source Sans 3" pitchFamily="34" charset="-122"/>
                <a:cs typeface="Source Sans 3" pitchFamily="34" charset="-120"/>
              </a:rPr>
              <a:t>Consistent 13-unit difference suggests surface-hardened materials</a:t>
            </a:r>
            <a:endParaRPr lang="en-US" sz="1450" dirty="0"/>
          </a:p>
        </p:txBody>
      </p:sp>
      <p:sp>
        <p:nvSpPr>
          <p:cNvPr id="15" name="Text 10"/>
          <p:cNvSpPr/>
          <p:nvPr/>
        </p:nvSpPr>
        <p:spPr>
          <a:xfrm>
            <a:off x="938332" y="5885974"/>
            <a:ext cx="13035201" cy="844748"/>
          </a:xfrm>
          <a:prstGeom prst="rect">
            <a:avLst/>
          </a:prstGeom>
          <a:noFill/>
          <a:ln/>
        </p:spPr>
        <p:txBody>
          <a:bodyPr wrap="square" lIns="0" tIns="0" rIns="0" bIns="0" rtlCol="0" anchor="t"/>
          <a:lstStyle/>
          <a:p>
            <a:pPr algn="l" indent="0" marL="0">
              <a:lnSpc>
                <a:spcPts val="2200"/>
              </a:lnSpc>
              <a:buNone/>
            </a:pPr>
            <a:r>
              <a:rPr lang="en-US" sz="1450" b="1" dirty="0">
                <a:solidFill>
                  <a:srgbClr val="3D3838"/>
                </a:solidFill>
                <a:latin typeface="Source Sans 3" pitchFamily="34" charset="0"/>
                <a:ea typeface="Source Sans 3" pitchFamily="34" charset="-122"/>
                <a:cs typeface="Source Sans 3" pitchFamily="34" charset="-120"/>
              </a:rPr>
              <a:t>Analytical constraint:</a:t>
            </a:r>
            <a:pPr algn="l" indent="0" marL="0">
              <a:lnSpc>
                <a:spcPts val="2200"/>
              </a:lnSpc>
              <a:buNone/>
            </a:pPr>
            <a:r>
              <a:rPr lang="en-US" sz="1450" dirty="0">
                <a:solidFill>
                  <a:srgbClr val="3D3838"/>
                </a:solidFill>
                <a:latin typeface="Source Sans 3" pitchFamily="34" charset="0"/>
                <a:ea typeface="Source Sans 3" pitchFamily="34" charset="-122"/>
                <a:cs typeface="Source Sans 3" pitchFamily="34" charset="-120"/>
              </a:rPr>
              <a:t> Zero variation in hardness metrics prevents correlation analysis and comparative evaluation. This suggests the dataset contains placeholder values, over-normalized data, or represents a single material class. The 13-unit divergence (HV &gt; Bhn) indicates surface hardening — beneficial for wear-resistant applications like gears and pistons.</a:t>
            </a:r>
            <a:endParaRPr lang="en-US" sz="1450" dirty="0"/>
          </a:p>
        </p:txBody>
      </p:sp>
      <p:sp>
        <p:nvSpPr>
          <p:cNvPr id="16" name="Shape 11"/>
          <p:cNvSpPr/>
          <p:nvPr/>
        </p:nvSpPr>
        <p:spPr>
          <a:xfrm>
            <a:off x="656868" y="5674876"/>
            <a:ext cx="22860" cy="1266944"/>
          </a:xfrm>
          <a:prstGeom prst="rect">
            <a:avLst/>
          </a:prstGeom>
          <a:solidFill>
            <a:srgbClr val="2D2E34"/>
          </a:solidFill>
          <a:ln/>
        </p:spPr>
      </p:sp>
      <p:sp>
        <p:nvSpPr>
          <p:cNvPr id="17" name="Text 12"/>
          <p:cNvSpPr/>
          <p:nvPr/>
        </p:nvSpPr>
        <p:spPr>
          <a:xfrm>
            <a:off x="656868" y="7152918"/>
            <a:ext cx="13316664" cy="563166"/>
          </a:xfrm>
          <a:prstGeom prst="rect">
            <a:avLst/>
          </a:prstGeom>
          <a:noFill/>
          <a:ln/>
        </p:spPr>
        <p:txBody>
          <a:bodyPr wrap="square" lIns="0" tIns="0" rIns="0" bIns="0" rtlCol="0" anchor="t"/>
          <a:lstStyle/>
          <a:p>
            <a:pPr algn="l" indent="0" marL="0">
              <a:lnSpc>
                <a:spcPts val="2200"/>
              </a:lnSpc>
              <a:buNone/>
            </a:pPr>
            <a:r>
              <a:rPr lang="en-US" sz="1450" b="1" dirty="0">
                <a:solidFill>
                  <a:srgbClr val="3D3838"/>
                </a:solidFill>
                <a:latin typeface="Source Sans 3" pitchFamily="34" charset="0"/>
                <a:ea typeface="Source Sans 3" pitchFamily="34" charset="-122"/>
                <a:cs typeface="Source Sans 3" pitchFamily="34" charset="-120"/>
              </a:rPr>
              <a:t>Implication:</a:t>
            </a:r>
            <a:pPr algn="l" indent="0" marL="0">
              <a:lnSpc>
                <a:spcPts val="2200"/>
              </a:lnSpc>
              <a:buNone/>
            </a:pPr>
            <a:r>
              <a:rPr lang="en-US" sz="1450" dirty="0">
                <a:solidFill>
                  <a:srgbClr val="3D3838"/>
                </a:solidFill>
                <a:latin typeface="Source Sans 3" pitchFamily="34" charset="0"/>
                <a:ea typeface="Source Sans 3" pitchFamily="34" charset="-122"/>
                <a:cs typeface="Source Sans 3" pitchFamily="34" charset="-120"/>
              </a:rPr>
              <a:t> Hardness cannot be used as a differentiating factor in material selection. Design decisions must rely on strength, ductility, and density metrics where variation exists.</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61417" y="676870"/>
            <a:ext cx="10191512" cy="699254"/>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Elasticity Relationships: E, G, and μ</a:t>
            </a:r>
            <a:endParaRPr lang="en-US" sz="4400" dirty="0"/>
          </a:p>
        </p:txBody>
      </p:sp>
      <p:sp>
        <p:nvSpPr>
          <p:cNvPr id="3" name="Text 1"/>
          <p:cNvSpPr/>
          <p:nvPr/>
        </p:nvSpPr>
        <p:spPr>
          <a:xfrm>
            <a:off x="861417" y="1991439"/>
            <a:ext cx="5666661" cy="419457"/>
          </a:xfrm>
          <a:prstGeom prst="rect">
            <a:avLst/>
          </a:prstGeom>
          <a:noFill/>
          <a:ln/>
        </p:spPr>
        <p:txBody>
          <a:bodyPr wrap="none" lIns="0" tIns="0" rIns="0" bIns="0" rtlCol="0" anchor="t"/>
          <a:lstStyle/>
          <a:p>
            <a:pPr algn="l" indent="0" marL="0">
              <a:lnSpc>
                <a:spcPts val="3300"/>
              </a:lnSpc>
              <a:buNone/>
            </a:pPr>
            <a:r>
              <a:rPr lang="en-US" sz="2600" b="1" dirty="0">
                <a:solidFill>
                  <a:srgbClr val="000000"/>
                </a:solidFill>
                <a:latin typeface="Montserrat Bold" pitchFamily="34" charset="0"/>
                <a:ea typeface="Montserrat Bold" pitchFamily="34" charset="-122"/>
                <a:cs typeface="Montserrat Bold" pitchFamily="34" charset="-120"/>
              </a:rPr>
              <a:t>Strong Linear Correlation: E vs G</a:t>
            </a:r>
            <a:endParaRPr lang="en-US" sz="2600" dirty="0"/>
          </a:p>
        </p:txBody>
      </p:sp>
      <p:sp>
        <p:nvSpPr>
          <p:cNvPr id="4" name="Text 2"/>
          <p:cNvSpPr/>
          <p:nvPr/>
        </p:nvSpPr>
        <p:spPr>
          <a:xfrm>
            <a:off x="861417" y="2656999"/>
            <a:ext cx="6828830" cy="110728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Elastic Modulus (E) and Shear Modulus (G) exhibit proportional relationship, confirming </a:t>
            </a:r>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isotropic material behavior</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across the dataset.</a:t>
            </a:r>
            <a:endParaRPr lang="en-US" sz="1900" dirty="0"/>
          </a:p>
        </p:txBody>
      </p:sp>
      <p:sp>
        <p:nvSpPr>
          <p:cNvPr id="5" name="Text 3"/>
          <p:cNvSpPr/>
          <p:nvPr/>
        </p:nvSpPr>
        <p:spPr>
          <a:xfrm>
            <a:off x="861417" y="3985736"/>
            <a:ext cx="6828830" cy="369094"/>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Theoretical relationship:</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E = 2G(1 + μ)</a:t>
            </a:r>
            <a:endParaRPr lang="en-US" sz="1900" dirty="0"/>
          </a:p>
        </p:txBody>
      </p:sp>
      <p:sp>
        <p:nvSpPr>
          <p:cNvPr id="6" name="Text 4"/>
          <p:cNvSpPr/>
          <p:nvPr/>
        </p:nvSpPr>
        <p:spPr>
          <a:xfrm>
            <a:off x="861417" y="4576286"/>
            <a:ext cx="6828830" cy="110728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Linear distribution validates dataset consistency — materials behave predictably under tension and shear, critical for finite element analysis of chassis loading scenarios.</a:t>
            </a:r>
            <a:endParaRPr lang="en-US" sz="1900" dirty="0"/>
          </a:p>
        </p:txBody>
      </p:sp>
      <p:sp>
        <p:nvSpPr>
          <p:cNvPr id="7" name="Text 5"/>
          <p:cNvSpPr/>
          <p:nvPr/>
        </p:nvSpPr>
        <p:spPr>
          <a:xfrm>
            <a:off x="861417" y="5929670"/>
            <a:ext cx="4265176" cy="419457"/>
          </a:xfrm>
          <a:prstGeom prst="rect">
            <a:avLst/>
          </a:prstGeom>
          <a:noFill/>
          <a:ln/>
        </p:spPr>
        <p:txBody>
          <a:bodyPr wrap="none" lIns="0" tIns="0" rIns="0" bIns="0" rtlCol="0" anchor="t"/>
          <a:lstStyle/>
          <a:p>
            <a:pPr algn="l" indent="0" marL="0">
              <a:lnSpc>
                <a:spcPts val="3300"/>
              </a:lnSpc>
              <a:buNone/>
            </a:pPr>
            <a:r>
              <a:rPr lang="en-US" sz="2600" b="1" dirty="0">
                <a:solidFill>
                  <a:srgbClr val="000000"/>
                </a:solidFill>
                <a:latin typeface="Montserrat Bold" pitchFamily="34" charset="0"/>
                <a:ea typeface="Montserrat Bold" pitchFamily="34" charset="-122"/>
                <a:cs typeface="Montserrat Bold" pitchFamily="34" charset="-120"/>
              </a:rPr>
              <a:t>Weak Correlation: E vs μ</a:t>
            </a:r>
            <a:endParaRPr lang="en-US" sz="2600" dirty="0"/>
          </a:p>
        </p:txBody>
      </p:sp>
      <p:sp>
        <p:nvSpPr>
          <p:cNvPr id="8" name="Text 6"/>
          <p:cNvSpPr/>
          <p:nvPr/>
        </p:nvSpPr>
        <p:spPr>
          <a:xfrm>
            <a:off x="861417" y="6595229"/>
            <a:ext cx="6828830" cy="738188"/>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Poisson's ratio (μ) shows minimal variation with Elastic Modulus, suggesting μ is independent of stiffness in this material set.</a:t>
            </a:r>
            <a:endParaRPr lang="en-US" sz="1900" dirty="0"/>
          </a:p>
        </p:txBody>
      </p:sp>
      <p:sp>
        <p:nvSpPr>
          <p:cNvPr id="9" name="Text 7"/>
          <p:cNvSpPr/>
          <p:nvPr/>
        </p:nvSpPr>
        <p:spPr>
          <a:xfrm>
            <a:off x="8298418" y="1991439"/>
            <a:ext cx="2922270" cy="349568"/>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Design Implications</a:t>
            </a:r>
            <a:endParaRPr lang="en-US" sz="2200" dirty="0"/>
          </a:p>
        </p:txBody>
      </p:sp>
      <p:sp>
        <p:nvSpPr>
          <p:cNvPr id="10" name="Text 8"/>
          <p:cNvSpPr/>
          <p:nvPr/>
        </p:nvSpPr>
        <p:spPr>
          <a:xfrm>
            <a:off x="8298418" y="2587109"/>
            <a:ext cx="5478066" cy="738188"/>
          </a:xfrm>
          <a:prstGeom prst="rect">
            <a:avLst/>
          </a:prstGeom>
          <a:noFill/>
          <a:ln/>
        </p:spPr>
        <p:txBody>
          <a:bodyPr wrap="square" lIns="0" tIns="0" rIns="0" bIns="0" rtlCol="0" anchor="t"/>
          <a:lstStyle/>
          <a:p>
            <a:pPr algn="l" marL="342900" indent="-342900">
              <a:lnSpc>
                <a:spcPts val="2900"/>
              </a:lnSpc>
              <a:buSzPct val="100000"/>
              <a:buChar char="•"/>
            </a:pPr>
            <a:r>
              <a:rPr lang="en-US" sz="1900" b="1" dirty="0">
                <a:solidFill>
                  <a:srgbClr val="3D3838"/>
                </a:solidFill>
                <a:latin typeface="Source Sans 3" pitchFamily="34" charset="0"/>
                <a:ea typeface="Source Sans 3" pitchFamily="34" charset="-122"/>
                <a:cs typeface="Source Sans 3" pitchFamily="34" charset="-120"/>
              </a:rPr>
              <a:t>Isotropic confirmation:</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Simplifies FEA modeling — uniform stiffness in all directions</a:t>
            </a:r>
            <a:endParaRPr lang="en-US" sz="1900" dirty="0"/>
          </a:p>
        </p:txBody>
      </p:sp>
      <p:sp>
        <p:nvSpPr>
          <p:cNvPr id="11" name="Text 9"/>
          <p:cNvSpPr/>
          <p:nvPr/>
        </p:nvSpPr>
        <p:spPr>
          <a:xfrm>
            <a:off x="8298418" y="3411379"/>
            <a:ext cx="5478066" cy="738188"/>
          </a:xfrm>
          <a:prstGeom prst="rect">
            <a:avLst/>
          </a:prstGeom>
          <a:noFill/>
          <a:ln/>
        </p:spPr>
        <p:txBody>
          <a:bodyPr wrap="square" lIns="0" tIns="0" rIns="0" bIns="0" rtlCol="0" anchor="t"/>
          <a:lstStyle/>
          <a:p>
            <a:pPr algn="l" marL="342900" indent="-342900">
              <a:lnSpc>
                <a:spcPts val="2900"/>
              </a:lnSpc>
              <a:buSzPct val="100000"/>
              <a:buChar char="•"/>
            </a:pPr>
            <a:r>
              <a:rPr lang="en-US" sz="1900" b="1" dirty="0">
                <a:solidFill>
                  <a:srgbClr val="3D3838"/>
                </a:solidFill>
                <a:latin typeface="Source Sans 3" pitchFamily="34" charset="0"/>
                <a:ea typeface="Source Sans 3" pitchFamily="34" charset="-122"/>
                <a:cs typeface="Source Sans 3" pitchFamily="34" charset="-120"/>
              </a:rPr>
              <a:t>Predictable behavior:</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E/G ratio enables accurate shear load calculations</a:t>
            </a:r>
            <a:endParaRPr lang="en-US" sz="1900" dirty="0"/>
          </a:p>
        </p:txBody>
      </p:sp>
      <p:sp>
        <p:nvSpPr>
          <p:cNvPr id="12" name="Text 10"/>
          <p:cNvSpPr/>
          <p:nvPr/>
        </p:nvSpPr>
        <p:spPr>
          <a:xfrm>
            <a:off x="8298418" y="4235648"/>
            <a:ext cx="5478066" cy="738188"/>
          </a:xfrm>
          <a:prstGeom prst="rect">
            <a:avLst/>
          </a:prstGeom>
          <a:noFill/>
          <a:ln/>
        </p:spPr>
        <p:txBody>
          <a:bodyPr wrap="square" lIns="0" tIns="0" rIns="0" bIns="0" rtlCol="0" anchor="t"/>
          <a:lstStyle/>
          <a:p>
            <a:pPr algn="l" marL="342900" indent="-342900">
              <a:lnSpc>
                <a:spcPts val="2900"/>
              </a:lnSpc>
              <a:buSzPct val="100000"/>
              <a:buChar char="•"/>
            </a:pPr>
            <a:r>
              <a:rPr lang="en-US" sz="1900" b="1" dirty="0">
                <a:solidFill>
                  <a:srgbClr val="3D3838"/>
                </a:solidFill>
                <a:latin typeface="Source Sans 3" pitchFamily="34" charset="0"/>
                <a:ea typeface="Source Sans 3" pitchFamily="34" charset="-122"/>
                <a:cs typeface="Source Sans 3" pitchFamily="34" charset="-120"/>
              </a:rPr>
              <a:t>Poisson independence:</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Lateral strain behavior decoupled from axial stiffness</a:t>
            </a:r>
            <a:endParaRPr lang="en-US" sz="1900" dirty="0"/>
          </a:p>
        </p:txBody>
      </p:sp>
      <p:sp>
        <p:nvSpPr>
          <p:cNvPr id="13" name="Text 11"/>
          <p:cNvSpPr/>
          <p:nvPr/>
        </p:nvSpPr>
        <p:spPr>
          <a:xfrm>
            <a:off x="8298418" y="5195292"/>
            <a:ext cx="5478066" cy="1476375"/>
          </a:xfrm>
          <a:prstGeom prst="rect">
            <a:avLst/>
          </a:prstGeom>
          <a:noFill/>
          <a:ln/>
        </p:spPr>
        <p:txBody>
          <a:bodyPr wrap="squar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Application:</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Suspension components requiring torsional resistance (drive shafts, control arms) can be optimized using G values, while tensile loads (chassis rails) prioritize E.</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17352" y="563642"/>
            <a:ext cx="9692759" cy="582335"/>
          </a:xfrm>
          <a:prstGeom prst="rect">
            <a:avLst/>
          </a:prstGeom>
          <a:noFill/>
          <a:ln/>
        </p:spPr>
        <p:txBody>
          <a:bodyPr wrap="none" lIns="0" tIns="0" rIns="0" bIns="0" rtlCol="0" anchor="t"/>
          <a:lstStyle/>
          <a:p>
            <a:pPr algn="l" indent="0" marL="0">
              <a:lnSpc>
                <a:spcPts val="4550"/>
              </a:lnSpc>
              <a:buNone/>
            </a:pPr>
            <a:r>
              <a:rPr lang="en-US" sz="3650" b="1" dirty="0">
                <a:solidFill>
                  <a:srgbClr val="000000"/>
                </a:solidFill>
                <a:latin typeface="Montserrat Bold" pitchFamily="34" charset="0"/>
                <a:ea typeface="Montserrat Bold" pitchFamily="34" charset="-122"/>
                <a:cs typeface="Montserrat Bold" pitchFamily="34" charset="-120"/>
              </a:rPr>
              <a:t>Environmental Compatibility: pH Profile</a:t>
            </a:r>
            <a:endParaRPr lang="en-US" sz="3650" dirty="0"/>
          </a:p>
        </p:txBody>
      </p:sp>
      <p:sp>
        <p:nvSpPr>
          <p:cNvPr id="3" name="Shape 1"/>
          <p:cNvSpPr/>
          <p:nvPr/>
        </p:nvSpPr>
        <p:spPr>
          <a:xfrm>
            <a:off x="717352" y="1555909"/>
            <a:ext cx="6495336" cy="2258854"/>
          </a:xfrm>
          <a:prstGeom prst="roundRect">
            <a:avLst>
              <a:gd name="adj" fmla="val 1361"/>
            </a:avLst>
          </a:prstGeom>
          <a:solidFill>
            <a:srgbClr val="F2EEEE"/>
          </a:solidFill>
          <a:ln/>
        </p:spPr>
      </p:sp>
      <p:sp>
        <p:nvSpPr>
          <p:cNvPr id="4" name="Shape 2"/>
          <p:cNvSpPr/>
          <p:nvPr/>
        </p:nvSpPr>
        <p:spPr>
          <a:xfrm>
            <a:off x="922258" y="1760815"/>
            <a:ext cx="614958" cy="614958"/>
          </a:xfrm>
          <a:prstGeom prst="roundRect">
            <a:avLst>
              <a:gd name="adj" fmla="val 14867821"/>
            </a:avLst>
          </a:prstGeom>
          <a:solidFill>
            <a:srgbClr val="2D2E34"/>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91327" y="1929884"/>
            <a:ext cx="276701" cy="276701"/>
          </a:xfrm>
          <a:prstGeom prst="rect">
            <a:avLst/>
          </a:prstGeom>
        </p:spPr>
      </p:pic>
      <p:sp>
        <p:nvSpPr>
          <p:cNvPr id="6" name="Text 3"/>
          <p:cNvSpPr/>
          <p:nvPr/>
        </p:nvSpPr>
        <p:spPr>
          <a:xfrm>
            <a:off x="922258" y="2580680"/>
            <a:ext cx="3438882" cy="291108"/>
          </a:xfrm>
          <a:prstGeom prst="rect">
            <a:avLst/>
          </a:prstGeom>
          <a:noFill/>
          <a:ln/>
        </p:spPr>
        <p:txBody>
          <a:bodyPr wrap="none" lIns="0" tIns="0" rIns="0" bIns="0" rtlCol="0" anchor="t"/>
          <a:lstStyle/>
          <a:p>
            <a:pPr algn="l" indent="0" marL="0">
              <a:lnSpc>
                <a:spcPts val="2250"/>
              </a:lnSpc>
              <a:buNone/>
            </a:pPr>
            <a:r>
              <a:rPr lang="en-US" sz="1800" b="1" dirty="0">
                <a:solidFill>
                  <a:srgbClr val="3D3838"/>
                </a:solidFill>
                <a:latin typeface="Montserrat Bold" pitchFamily="34" charset="0"/>
                <a:ea typeface="Montserrat Bold" pitchFamily="34" charset="-122"/>
                <a:cs typeface="Montserrat Bold" pitchFamily="34" charset="-120"/>
              </a:rPr>
              <a:t>100% Basic pH Classification</a:t>
            </a:r>
            <a:endParaRPr lang="en-US" sz="1800" dirty="0"/>
          </a:p>
        </p:txBody>
      </p:sp>
      <p:sp>
        <p:nvSpPr>
          <p:cNvPr id="7" name="Text 4"/>
          <p:cNvSpPr/>
          <p:nvPr/>
        </p:nvSpPr>
        <p:spPr>
          <a:xfrm>
            <a:off x="922258" y="2994779"/>
            <a:ext cx="6085523" cy="615077"/>
          </a:xfrm>
          <a:prstGeom prst="rect">
            <a:avLst/>
          </a:prstGeom>
          <a:noFill/>
          <a:ln/>
        </p:spPr>
        <p:txBody>
          <a:bodyPr wrap="square" lIns="0" tIns="0" rIns="0" bIns="0" rtlCol="0" anchor="t"/>
          <a:lstStyle/>
          <a:p>
            <a:pPr algn="l" indent="0" marL="0">
              <a:lnSpc>
                <a:spcPts val="2400"/>
              </a:lnSpc>
              <a:buNone/>
            </a:pPr>
            <a:r>
              <a:rPr lang="en-US" sz="1600" dirty="0">
                <a:solidFill>
                  <a:srgbClr val="3D3838"/>
                </a:solidFill>
                <a:latin typeface="Source Sans 3" pitchFamily="34" charset="0"/>
                <a:ea typeface="Source Sans 3" pitchFamily="34" charset="-122"/>
                <a:cs typeface="Source Sans 3" pitchFamily="34" charset="-120"/>
              </a:rPr>
              <a:t>All materials in cleaned dataset exhibit alkaline characteristics (pH &gt; 7), optimizing corrosion resistance in basic environments</a:t>
            </a:r>
            <a:endParaRPr lang="en-US" sz="1600" dirty="0"/>
          </a:p>
        </p:txBody>
      </p:sp>
      <p:sp>
        <p:nvSpPr>
          <p:cNvPr id="8" name="Shape 5"/>
          <p:cNvSpPr/>
          <p:nvPr/>
        </p:nvSpPr>
        <p:spPr>
          <a:xfrm>
            <a:off x="7417594" y="1555909"/>
            <a:ext cx="6495455" cy="2258854"/>
          </a:xfrm>
          <a:prstGeom prst="roundRect">
            <a:avLst>
              <a:gd name="adj" fmla="val 1361"/>
            </a:avLst>
          </a:prstGeom>
          <a:solidFill>
            <a:srgbClr val="F2EEEE"/>
          </a:solidFill>
          <a:ln/>
        </p:spPr>
      </p:sp>
      <p:sp>
        <p:nvSpPr>
          <p:cNvPr id="9" name="Shape 6"/>
          <p:cNvSpPr/>
          <p:nvPr/>
        </p:nvSpPr>
        <p:spPr>
          <a:xfrm>
            <a:off x="7622500" y="1760815"/>
            <a:ext cx="614958" cy="614958"/>
          </a:xfrm>
          <a:prstGeom prst="roundRect">
            <a:avLst>
              <a:gd name="adj" fmla="val 14867821"/>
            </a:avLst>
          </a:prstGeom>
          <a:solidFill>
            <a:srgbClr val="2D2E34"/>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91569" y="1929884"/>
            <a:ext cx="276701" cy="276701"/>
          </a:xfrm>
          <a:prstGeom prst="rect">
            <a:avLst/>
          </a:prstGeom>
        </p:spPr>
      </p:pic>
      <p:sp>
        <p:nvSpPr>
          <p:cNvPr id="11" name="Text 7"/>
          <p:cNvSpPr/>
          <p:nvPr/>
        </p:nvSpPr>
        <p:spPr>
          <a:xfrm>
            <a:off x="7622500" y="2580680"/>
            <a:ext cx="2440186" cy="291108"/>
          </a:xfrm>
          <a:prstGeom prst="rect">
            <a:avLst/>
          </a:prstGeom>
          <a:noFill/>
          <a:ln/>
        </p:spPr>
        <p:txBody>
          <a:bodyPr wrap="none" lIns="0" tIns="0" rIns="0" bIns="0" rtlCol="0" anchor="t"/>
          <a:lstStyle/>
          <a:p>
            <a:pPr algn="l" indent="0" marL="0">
              <a:lnSpc>
                <a:spcPts val="2250"/>
              </a:lnSpc>
              <a:buNone/>
            </a:pPr>
            <a:r>
              <a:rPr lang="en-US" sz="1800" b="1" dirty="0">
                <a:solidFill>
                  <a:srgbClr val="3D3838"/>
                </a:solidFill>
                <a:latin typeface="Montserrat Bold" pitchFamily="34" charset="0"/>
                <a:ea typeface="Montserrat Bold" pitchFamily="34" charset="-122"/>
                <a:cs typeface="Montserrat Bold" pitchFamily="34" charset="-120"/>
              </a:rPr>
              <a:t>Marine Applications</a:t>
            </a:r>
            <a:endParaRPr lang="en-US" sz="1800" dirty="0"/>
          </a:p>
        </p:txBody>
      </p:sp>
      <p:sp>
        <p:nvSpPr>
          <p:cNvPr id="12" name="Text 8"/>
          <p:cNvSpPr/>
          <p:nvPr/>
        </p:nvSpPr>
        <p:spPr>
          <a:xfrm>
            <a:off x="7622500" y="2994779"/>
            <a:ext cx="6085642" cy="615077"/>
          </a:xfrm>
          <a:prstGeom prst="rect">
            <a:avLst/>
          </a:prstGeom>
          <a:noFill/>
          <a:ln/>
        </p:spPr>
        <p:txBody>
          <a:bodyPr wrap="square" lIns="0" tIns="0" rIns="0" bIns="0" rtlCol="0" anchor="t"/>
          <a:lstStyle/>
          <a:p>
            <a:pPr algn="l" indent="0" marL="0">
              <a:lnSpc>
                <a:spcPts val="2400"/>
              </a:lnSpc>
              <a:buNone/>
            </a:pPr>
            <a:r>
              <a:rPr lang="en-US" sz="1600" dirty="0">
                <a:solidFill>
                  <a:srgbClr val="3D3838"/>
                </a:solidFill>
                <a:latin typeface="Source Sans 3" pitchFamily="34" charset="0"/>
                <a:ea typeface="Source Sans 3" pitchFamily="34" charset="-122"/>
                <a:cs typeface="Source Sans 3" pitchFamily="34" charset="-120"/>
              </a:rPr>
              <a:t>Ideal for seawater exposure where salt and algae shift pH alkaline — suitable for coastal EV operations and ship components</a:t>
            </a:r>
            <a:endParaRPr lang="en-US" sz="1600" dirty="0"/>
          </a:p>
        </p:txBody>
      </p:sp>
      <p:sp>
        <p:nvSpPr>
          <p:cNvPr id="13" name="Shape 9"/>
          <p:cNvSpPr/>
          <p:nvPr/>
        </p:nvSpPr>
        <p:spPr>
          <a:xfrm>
            <a:off x="717352" y="4019669"/>
            <a:ext cx="6495336" cy="2258854"/>
          </a:xfrm>
          <a:prstGeom prst="roundRect">
            <a:avLst>
              <a:gd name="adj" fmla="val 1361"/>
            </a:avLst>
          </a:prstGeom>
          <a:solidFill>
            <a:srgbClr val="F2EEEE"/>
          </a:solidFill>
          <a:ln/>
        </p:spPr>
      </p:sp>
      <p:sp>
        <p:nvSpPr>
          <p:cNvPr id="14" name="Shape 10"/>
          <p:cNvSpPr/>
          <p:nvPr/>
        </p:nvSpPr>
        <p:spPr>
          <a:xfrm>
            <a:off x="922258" y="4224576"/>
            <a:ext cx="614958" cy="614958"/>
          </a:xfrm>
          <a:prstGeom prst="roundRect">
            <a:avLst>
              <a:gd name="adj" fmla="val 14867821"/>
            </a:avLst>
          </a:prstGeom>
          <a:solidFill>
            <a:srgbClr val="2D2E34"/>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1327" y="4393644"/>
            <a:ext cx="276701" cy="276701"/>
          </a:xfrm>
          <a:prstGeom prst="rect">
            <a:avLst/>
          </a:prstGeom>
        </p:spPr>
      </p:pic>
      <p:sp>
        <p:nvSpPr>
          <p:cNvPr id="16" name="Text 11"/>
          <p:cNvSpPr/>
          <p:nvPr/>
        </p:nvSpPr>
        <p:spPr>
          <a:xfrm>
            <a:off x="922258" y="5044440"/>
            <a:ext cx="2553414" cy="291108"/>
          </a:xfrm>
          <a:prstGeom prst="rect">
            <a:avLst/>
          </a:prstGeom>
          <a:noFill/>
          <a:ln/>
        </p:spPr>
        <p:txBody>
          <a:bodyPr wrap="none" lIns="0" tIns="0" rIns="0" bIns="0" rtlCol="0" anchor="t"/>
          <a:lstStyle/>
          <a:p>
            <a:pPr algn="l" indent="0" marL="0">
              <a:lnSpc>
                <a:spcPts val="2250"/>
              </a:lnSpc>
              <a:buNone/>
            </a:pPr>
            <a:r>
              <a:rPr lang="en-US" sz="1800" b="1" dirty="0">
                <a:solidFill>
                  <a:srgbClr val="3D3838"/>
                </a:solidFill>
                <a:latin typeface="Montserrat Bold" pitchFamily="34" charset="0"/>
                <a:ea typeface="Montserrat Bold" pitchFamily="34" charset="-122"/>
                <a:cs typeface="Montserrat Bold" pitchFamily="34" charset="-120"/>
              </a:rPr>
              <a:t>Chemical Processing</a:t>
            </a:r>
            <a:endParaRPr lang="en-US" sz="1800" dirty="0"/>
          </a:p>
        </p:txBody>
      </p:sp>
      <p:sp>
        <p:nvSpPr>
          <p:cNvPr id="17" name="Text 12"/>
          <p:cNvSpPr/>
          <p:nvPr/>
        </p:nvSpPr>
        <p:spPr>
          <a:xfrm>
            <a:off x="922258" y="5458539"/>
            <a:ext cx="6085523" cy="615077"/>
          </a:xfrm>
          <a:prstGeom prst="rect">
            <a:avLst/>
          </a:prstGeom>
          <a:noFill/>
          <a:ln/>
        </p:spPr>
        <p:txBody>
          <a:bodyPr wrap="square" lIns="0" tIns="0" rIns="0" bIns="0" rtlCol="0" anchor="t"/>
          <a:lstStyle/>
          <a:p>
            <a:pPr algn="l" indent="0" marL="0">
              <a:lnSpc>
                <a:spcPts val="2400"/>
              </a:lnSpc>
              <a:buNone/>
            </a:pPr>
            <a:r>
              <a:rPr lang="en-US" sz="1600" dirty="0">
                <a:solidFill>
                  <a:srgbClr val="3D3838"/>
                </a:solidFill>
                <a:latin typeface="Source Sans 3" pitchFamily="34" charset="0"/>
                <a:ea typeface="Source Sans 3" pitchFamily="34" charset="-122"/>
                <a:cs typeface="Source Sans 3" pitchFamily="34" charset="-120"/>
              </a:rPr>
              <a:t>Prevents corrosion in alkaline solutions — applicable for battery coolant systems and cleaning solution contact surfaces</a:t>
            </a:r>
            <a:endParaRPr lang="en-US" sz="1600" dirty="0"/>
          </a:p>
        </p:txBody>
      </p:sp>
      <p:sp>
        <p:nvSpPr>
          <p:cNvPr id="18" name="Shape 13"/>
          <p:cNvSpPr/>
          <p:nvPr/>
        </p:nvSpPr>
        <p:spPr>
          <a:xfrm>
            <a:off x="7417594" y="4019669"/>
            <a:ext cx="6495455" cy="2258854"/>
          </a:xfrm>
          <a:prstGeom prst="roundRect">
            <a:avLst>
              <a:gd name="adj" fmla="val 1361"/>
            </a:avLst>
          </a:prstGeom>
          <a:solidFill>
            <a:srgbClr val="F2EEEE"/>
          </a:solidFill>
          <a:ln/>
        </p:spPr>
      </p:sp>
      <p:sp>
        <p:nvSpPr>
          <p:cNvPr id="19" name="Shape 14"/>
          <p:cNvSpPr/>
          <p:nvPr/>
        </p:nvSpPr>
        <p:spPr>
          <a:xfrm>
            <a:off x="7622500" y="4224576"/>
            <a:ext cx="614958" cy="614958"/>
          </a:xfrm>
          <a:prstGeom prst="roundRect">
            <a:avLst>
              <a:gd name="adj" fmla="val 14867821"/>
            </a:avLst>
          </a:prstGeom>
          <a:solidFill>
            <a:srgbClr val="2D2E3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91569" y="4393644"/>
            <a:ext cx="276701" cy="276701"/>
          </a:xfrm>
          <a:prstGeom prst="rect">
            <a:avLst/>
          </a:prstGeom>
        </p:spPr>
      </p:pic>
      <p:sp>
        <p:nvSpPr>
          <p:cNvPr id="21" name="Text 15"/>
          <p:cNvSpPr/>
          <p:nvPr/>
        </p:nvSpPr>
        <p:spPr>
          <a:xfrm>
            <a:off x="7622500" y="5044440"/>
            <a:ext cx="3190161" cy="291108"/>
          </a:xfrm>
          <a:prstGeom prst="rect">
            <a:avLst/>
          </a:prstGeom>
          <a:noFill/>
          <a:ln/>
        </p:spPr>
        <p:txBody>
          <a:bodyPr wrap="none" lIns="0" tIns="0" rIns="0" bIns="0" rtlCol="0" anchor="t"/>
          <a:lstStyle/>
          <a:p>
            <a:pPr algn="l" indent="0" marL="0">
              <a:lnSpc>
                <a:spcPts val="2250"/>
              </a:lnSpc>
              <a:buNone/>
            </a:pPr>
            <a:r>
              <a:rPr lang="en-US" sz="1800" b="1" dirty="0">
                <a:solidFill>
                  <a:srgbClr val="3D3838"/>
                </a:solidFill>
                <a:latin typeface="Montserrat Bold" pitchFamily="34" charset="0"/>
                <a:ea typeface="Montserrat Bold" pitchFamily="34" charset="-122"/>
                <a:cs typeface="Montserrat Bold" pitchFamily="34" charset="-120"/>
              </a:rPr>
              <a:t>Biocompatibility Potential</a:t>
            </a:r>
            <a:endParaRPr lang="en-US" sz="1800" dirty="0"/>
          </a:p>
        </p:txBody>
      </p:sp>
      <p:sp>
        <p:nvSpPr>
          <p:cNvPr id="22" name="Text 16"/>
          <p:cNvSpPr/>
          <p:nvPr/>
        </p:nvSpPr>
        <p:spPr>
          <a:xfrm>
            <a:off x="7622500" y="5458539"/>
            <a:ext cx="6085642" cy="615077"/>
          </a:xfrm>
          <a:prstGeom prst="rect">
            <a:avLst/>
          </a:prstGeom>
          <a:noFill/>
          <a:ln/>
        </p:spPr>
        <p:txBody>
          <a:bodyPr wrap="square" lIns="0" tIns="0" rIns="0" bIns="0" rtlCol="0" anchor="t"/>
          <a:lstStyle/>
          <a:p>
            <a:pPr algn="l" indent="0" marL="0">
              <a:lnSpc>
                <a:spcPts val="2400"/>
              </a:lnSpc>
              <a:buNone/>
            </a:pPr>
            <a:r>
              <a:rPr lang="en-US" sz="1600" dirty="0">
                <a:solidFill>
                  <a:srgbClr val="3D3838"/>
                </a:solidFill>
                <a:latin typeface="Source Sans 3" pitchFamily="34" charset="0"/>
                <a:ea typeface="Source Sans 3" pitchFamily="34" charset="-122"/>
                <a:cs typeface="Source Sans 3" pitchFamily="34" charset="-120"/>
              </a:rPr>
              <a:t>Body fluids operate at pH ~7.4 (slightly basic) — materials suitable for medical device integration or biometric sensors</a:t>
            </a:r>
            <a:endParaRPr lang="en-US" sz="1600" dirty="0"/>
          </a:p>
        </p:txBody>
      </p:sp>
      <p:sp>
        <p:nvSpPr>
          <p:cNvPr id="23" name="Shape 17"/>
          <p:cNvSpPr/>
          <p:nvPr/>
        </p:nvSpPr>
        <p:spPr>
          <a:xfrm>
            <a:off x="717352" y="6509028"/>
            <a:ext cx="13195697" cy="1158002"/>
          </a:xfrm>
          <a:prstGeom prst="roundRect">
            <a:avLst>
              <a:gd name="adj" fmla="val 2655"/>
            </a:avLst>
          </a:prstGeom>
          <a:solidFill>
            <a:srgbClr val="D6D7DC"/>
          </a:solidFill>
          <a:ln/>
        </p:spPr>
      </p:sp>
      <p:pic>
        <p:nvPicPr>
          <p:cNvPr id="24" name="Image 4" descr="preencoded.png">    </p:cNvPr>
          <p:cNvPicPr>
            <a:picLocks noChangeAspect="1"/>
          </p:cNvPicPr>
          <p:nvPr/>
        </p:nvPicPr>
        <p:blipFill>
          <a:blip r:embed="rId9"/>
          <a:stretch>
            <a:fillRect/>
          </a:stretch>
        </p:blipFill>
        <p:spPr>
          <a:xfrm>
            <a:off x="922258" y="6799183"/>
            <a:ext cx="256223" cy="204907"/>
          </a:xfrm>
          <a:prstGeom prst="rect">
            <a:avLst/>
          </a:prstGeom>
        </p:spPr>
      </p:pic>
      <p:sp>
        <p:nvSpPr>
          <p:cNvPr id="25" name="Text 18"/>
          <p:cNvSpPr/>
          <p:nvPr/>
        </p:nvSpPr>
        <p:spPr>
          <a:xfrm>
            <a:off x="1383387" y="6765131"/>
            <a:ext cx="12324755" cy="615077"/>
          </a:xfrm>
          <a:prstGeom prst="rect">
            <a:avLst/>
          </a:prstGeom>
          <a:noFill/>
          <a:ln/>
        </p:spPr>
        <p:txBody>
          <a:bodyPr wrap="square" lIns="0" tIns="0" rIns="0" bIns="0" rtlCol="0" anchor="t"/>
          <a:lstStyle/>
          <a:p>
            <a:pPr algn="l" indent="0" marL="0">
              <a:lnSpc>
                <a:spcPts val="2400"/>
              </a:lnSpc>
              <a:buNone/>
            </a:pPr>
            <a:r>
              <a:rPr lang="en-US" sz="1600" b="1" dirty="0">
                <a:solidFill>
                  <a:srgbClr val="000000"/>
                </a:solidFill>
                <a:latin typeface="Source Sans 3" pitchFamily="34" charset="0"/>
                <a:ea typeface="Source Sans 3" pitchFamily="34" charset="-122"/>
                <a:cs typeface="Source Sans 3" pitchFamily="34" charset="-120"/>
              </a:rPr>
              <a:t>Surface treatment recommendation:</a:t>
            </a:r>
            <a:pPr algn="l" indent="0" marL="0">
              <a:lnSpc>
                <a:spcPts val="2400"/>
              </a:lnSpc>
              <a:buNone/>
            </a:pPr>
            <a:r>
              <a:rPr lang="en-US" sz="1600" dirty="0">
                <a:solidFill>
                  <a:srgbClr val="000000"/>
                </a:solidFill>
                <a:latin typeface="Source Sans 3" pitchFamily="34" charset="0"/>
                <a:ea typeface="Source Sans 3" pitchFamily="34" charset="-122"/>
                <a:cs typeface="Source Sans 3" pitchFamily="34" charset="-120"/>
              </a:rPr>
              <a:t> While inherent basic pH provides corrosion resistance, additional coatings (anodizing, galvanization) can extend durability in extreme alkaline environments or provide multi-environment versatility.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52475" y="889040"/>
            <a:ext cx="11297364" cy="610791"/>
          </a:xfrm>
          <a:prstGeom prst="rect">
            <a:avLst/>
          </a:prstGeom>
          <a:noFill/>
          <a:ln/>
        </p:spPr>
        <p:txBody>
          <a:bodyPr wrap="none" lIns="0" tIns="0" rIns="0" bIns="0" rtlCol="0" anchor="t"/>
          <a:lstStyle/>
          <a:p>
            <a:pPr algn="l" indent="0" marL="0">
              <a:lnSpc>
                <a:spcPts val="4800"/>
              </a:lnSpc>
              <a:buNone/>
            </a:pPr>
            <a:r>
              <a:rPr lang="en-US" sz="3800" b="1" dirty="0">
                <a:solidFill>
                  <a:srgbClr val="000000"/>
                </a:solidFill>
                <a:latin typeface="Montserrat Bold" pitchFamily="34" charset="0"/>
                <a:ea typeface="Montserrat Bold" pitchFamily="34" charset="-122"/>
                <a:cs typeface="Montserrat Bold" pitchFamily="34" charset="-120"/>
              </a:rPr>
              <a:t>Cross-Dataset Integration: Merging Strategy</a:t>
            </a:r>
            <a:endParaRPr lang="en-US" sz="3800" dirty="0"/>
          </a:p>
        </p:txBody>
      </p:sp>
      <p:sp>
        <p:nvSpPr>
          <p:cNvPr id="3" name="Shape 1"/>
          <p:cNvSpPr/>
          <p:nvPr/>
        </p:nvSpPr>
        <p:spPr>
          <a:xfrm>
            <a:off x="752475" y="4191714"/>
            <a:ext cx="13125450" cy="30480"/>
          </a:xfrm>
          <a:prstGeom prst="roundRect">
            <a:avLst>
              <a:gd name="adj" fmla="val 105808"/>
            </a:avLst>
          </a:prstGeom>
          <a:solidFill>
            <a:srgbClr val="D8D4D4"/>
          </a:solidFill>
          <a:ln/>
        </p:spPr>
      </p:sp>
      <p:sp>
        <p:nvSpPr>
          <p:cNvPr id="4" name="Shape 2"/>
          <p:cNvSpPr/>
          <p:nvPr/>
        </p:nvSpPr>
        <p:spPr>
          <a:xfrm>
            <a:off x="3281482" y="3546812"/>
            <a:ext cx="30480" cy="644962"/>
          </a:xfrm>
          <a:prstGeom prst="roundRect">
            <a:avLst>
              <a:gd name="adj" fmla="val 105808"/>
            </a:avLst>
          </a:prstGeom>
          <a:solidFill>
            <a:srgbClr val="D8D4D4"/>
          </a:solidFill>
          <a:ln/>
        </p:spPr>
      </p:sp>
      <p:sp>
        <p:nvSpPr>
          <p:cNvPr id="5" name="Shape 3"/>
          <p:cNvSpPr/>
          <p:nvPr/>
        </p:nvSpPr>
        <p:spPr>
          <a:xfrm>
            <a:off x="3054906" y="3949839"/>
            <a:ext cx="483751" cy="483751"/>
          </a:xfrm>
          <a:prstGeom prst="roundRect">
            <a:avLst>
              <a:gd name="adj" fmla="val 6667"/>
            </a:avLst>
          </a:prstGeom>
          <a:solidFill>
            <a:srgbClr val="F2EEEE"/>
          </a:solidFill>
          <a:ln/>
        </p:spPr>
      </p:sp>
      <p:sp>
        <p:nvSpPr>
          <p:cNvPr id="6" name="Text 4"/>
          <p:cNvSpPr/>
          <p:nvPr/>
        </p:nvSpPr>
        <p:spPr>
          <a:xfrm>
            <a:off x="3150156" y="4008418"/>
            <a:ext cx="293132" cy="366474"/>
          </a:xfrm>
          <a:prstGeom prst="rect">
            <a:avLst/>
          </a:prstGeom>
          <a:noFill/>
          <a:ln/>
        </p:spPr>
        <p:txBody>
          <a:bodyPr wrap="none" lIns="0" tIns="0" rIns="0" bIns="0" rtlCol="0" anchor="t"/>
          <a:lstStyle/>
          <a:p>
            <a:pPr algn="ctr" indent="0" marL="0">
              <a:lnSpc>
                <a:spcPts val="2300"/>
              </a:lnSpc>
              <a:buNone/>
            </a:pPr>
            <a:r>
              <a:rPr lang="en-US" sz="2300" b="1" dirty="0">
                <a:solidFill>
                  <a:srgbClr val="3D3838"/>
                </a:solidFill>
                <a:latin typeface="Montserrat Bold" pitchFamily="34" charset="0"/>
                <a:ea typeface="Montserrat Bold" pitchFamily="34" charset="-122"/>
                <a:cs typeface="Montserrat Bold" pitchFamily="34" charset="-120"/>
              </a:rPr>
              <a:t>1</a:t>
            </a:r>
            <a:endParaRPr lang="en-US" sz="2300" dirty="0"/>
          </a:p>
        </p:txBody>
      </p:sp>
      <p:sp>
        <p:nvSpPr>
          <p:cNvPr id="7" name="Text 5"/>
          <p:cNvSpPr/>
          <p:nvPr/>
        </p:nvSpPr>
        <p:spPr>
          <a:xfrm>
            <a:off x="2012275" y="1929765"/>
            <a:ext cx="2569250" cy="305395"/>
          </a:xfrm>
          <a:prstGeom prst="rect">
            <a:avLst/>
          </a:prstGeom>
          <a:noFill/>
          <a:ln/>
        </p:spPr>
        <p:txBody>
          <a:bodyPr wrap="none" lIns="0" tIns="0" rIns="0" bIns="0" rtlCol="0" anchor="t"/>
          <a:lstStyle/>
          <a:p>
            <a:pPr algn="ctr" indent="0" marL="0">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Dataset Preparation</a:t>
            </a:r>
            <a:endParaRPr lang="en-US" sz="1900" dirty="0"/>
          </a:p>
        </p:txBody>
      </p:sp>
      <p:sp>
        <p:nvSpPr>
          <p:cNvPr id="8" name="Text 6"/>
          <p:cNvSpPr/>
          <p:nvPr/>
        </p:nvSpPr>
        <p:spPr>
          <a:xfrm>
            <a:off x="967383" y="2364105"/>
            <a:ext cx="4659035" cy="967621"/>
          </a:xfrm>
          <a:prstGeom prst="rect">
            <a:avLst/>
          </a:prstGeom>
          <a:noFill/>
          <a:ln/>
        </p:spPr>
        <p:txBody>
          <a:bodyPr wrap="square" lIns="0" tIns="0" rIns="0" bIns="0" rtlCol="0" anchor="t"/>
          <a:lstStyle/>
          <a:p>
            <a:pPr algn="ctr"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D2: Removed 4 duplicate materials (NF variants), handled outliers in Su, Sy, G, μ, ρ, stripped whitespace from all string columns</a:t>
            </a:r>
            <a:endParaRPr lang="en-US" sz="1650" dirty="0"/>
          </a:p>
        </p:txBody>
      </p:sp>
      <p:sp>
        <p:nvSpPr>
          <p:cNvPr id="9" name="Shape 7"/>
          <p:cNvSpPr/>
          <p:nvPr/>
        </p:nvSpPr>
        <p:spPr>
          <a:xfrm>
            <a:off x="5960388" y="4191655"/>
            <a:ext cx="30480" cy="644962"/>
          </a:xfrm>
          <a:prstGeom prst="roundRect">
            <a:avLst>
              <a:gd name="adj" fmla="val 105808"/>
            </a:avLst>
          </a:prstGeom>
          <a:solidFill>
            <a:srgbClr val="D8D4D4"/>
          </a:solidFill>
          <a:ln/>
        </p:spPr>
      </p:sp>
      <p:sp>
        <p:nvSpPr>
          <p:cNvPr id="10" name="Shape 8"/>
          <p:cNvSpPr/>
          <p:nvPr/>
        </p:nvSpPr>
        <p:spPr>
          <a:xfrm>
            <a:off x="5733812" y="3949839"/>
            <a:ext cx="483751" cy="483751"/>
          </a:xfrm>
          <a:prstGeom prst="roundRect">
            <a:avLst>
              <a:gd name="adj" fmla="val 6667"/>
            </a:avLst>
          </a:prstGeom>
          <a:solidFill>
            <a:srgbClr val="F2EEEE"/>
          </a:solidFill>
          <a:ln/>
        </p:spPr>
      </p:sp>
      <p:sp>
        <p:nvSpPr>
          <p:cNvPr id="11" name="Text 9"/>
          <p:cNvSpPr/>
          <p:nvPr/>
        </p:nvSpPr>
        <p:spPr>
          <a:xfrm>
            <a:off x="5829062" y="4008418"/>
            <a:ext cx="293132" cy="366474"/>
          </a:xfrm>
          <a:prstGeom prst="rect">
            <a:avLst/>
          </a:prstGeom>
          <a:noFill/>
          <a:ln/>
        </p:spPr>
        <p:txBody>
          <a:bodyPr wrap="none" lIns="0" tIns="0" rIns="0" bIns="0" rtlCol="0" anchor="t"/>
          <a:lstStyle/>
          <a:p>
            <a:pPr algn="ctr" indent="0" marL="0">
              <a:lnSpc>
                <a:spcPts val="2300"/>
              </a:lnSpc>
              <a:buNone/>
            </a:pPr>
            <a:r>
              <a:rPr lang="en-US" sz="2300" b="1" dirty="0">
                <a:solidFill>
                  <a:srgbClr val="3D3838"/>
                </a:solidFill>
                <a:latin typeface="Montserrat Bold" pitchFamily="34" charset="0"/>
                <a:ea typeface="Montserrat Bold" pitchFamily="34" charset="-122"/>
                <a:cs typeface="Montserrat Bold" pitchFamily="34" charset="-120"/>
              </a:rPr>
              <a:t>2</a:t>
            </a:r>
            <a:endParaRPr lang="en-US" sz="2300" dirty="0"/>
          </a:p>
        </p:txBody>
      </p:sp>
      <p:sp>
        <p:nvSpPr>
          <p:cNvPr id="12" name="Text 10"/>
          <p:cNvSpPr/>
          <p:nvPr/>
        </p:nvSpPr>
        <p:spPr>
          <a:xfrm>
            <a:off x="4754166" y="5051703"/>
            <a:ext cx="2443163" cy="305395"/>
          </a:xfrm>
          <a:prstGeom prst="rect">
            <a:avLst/>
          </a:prstGeom>
          <a:noFill/>
          <a:ln/>
        </p:spPr>
        <p:txBody>
          <a:bodyPr wrap="none" lIns="0" tIns="0" rIns="0" bIns="0" rtlCol="0" anchor="t"/>
          <a:lstStyle/>
          <a:p>
            <a:pPr algn="ctr" indent="0" marL="0">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Identifier Creation</a:t>
            </a:r>
            <a:endParaRPr lang="en-US" sz="1900" dirty="0"/>
          </a:p>
        </p:txBody>
      </p:sp>
      <p:sp>
        <p:nvSpPr>
          <p:cNvPr id="13" name="Text 11"/>
          <p:cNvSpPr/>
          <p:nvPr/>
        </p:nvSpPr>
        <p:spPr>
          <a:xfrm>
            <a:off x="3646170" y="5486043"/>
            <a:ext cx="4659154" cy="967621"/>
          </a:xfrm>
          <a:prstGeom prst="rect">
            <a:avLst/>
          </a:prstGeom>
          <a:noFill/>
          <a:ln/>
        </p:spPr>
        <p:txBody>
          <a:bodyPr wrap="square" lIns="0" tIns="0" rIns="0" bIns="0" rtlCol="0" anchor="t"/>
          <a:lstStyle/>
          <a:p>
            <a:pPr algn="ctr"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Generated 'Material_Alias' by concatenating Std + Material + Heat treatment. Replaced 'Unknown' with blanks for D2 matching compatibility</a:t>
            </a:r>
            <a:endParaRPr lang="en-US" sz="1650" dirty="0"/>
          </a:p>
        </p:txBody>
      </p:sp>
      <p:sp>
        <p:nvSpPr>
          <p:cNvPr id="14" name="Shape 12"/>
          <p:cNvSpPr/>
          <p:nvPr/>
        </p:nvSpPr>
        <p:spPr>
          <a:xfrm>
            <a:off x="8639175" y="3546812"/>
            <a:ext cx="30480" cy="644962"/>
          </a:xfrm>
          <a:prstGeom prst="roundRect">
            <a:avLst>
              <a:gd name="adj" fmla="val 105808"/>
            </a:avLst>
          </a:prstGeom>
          <a:solidFill>
            <a:srgbClr val="D8D4D4"/>
          </a:solidFill>
          <a:ln/>
        </p:spPr>
      </p:sp>
      <p:sp>
        <p:nvSpPr>
          <p:cNvPr id="15" name="Shape 13"/>
          <p:cNvSpPr/>
          <p:nvPr/>
        </p:nvSpPr>
        <p:spPr>
          <a:xfrm>
            <a:off x="8412599" y="3949839"/>
            <a:ext cx="483751" cy="483751"/>
          </a:xfrm>
          <a:prstGeom prst="roundRect">
            <a:avLst>
              <a:gd name="adj" fmla="val 6667"/>
            </a:avLst>
          </a:prstGeom>
          <a:solidFill>
            <a:srgbClr val="F2EEEE"/>
          </a:solidFill>
          <a:ln/>
        </p:spPr>
      </p:sp>
      <p:sp>
        <p:nvSpPr>
          <p:cNvPr id="16" name="Text 14"/>
          <p:cNvSpPr/>
          <p:nvPr/>
        </p:nvSpPr>
        <p:spPr>
          <a:xfrm>
            <a:off x="8507849" y="4008418"/>
            <a:ext cx="293132" cy="366474"/>
          </a:xfrm>
          <a:prstGeom prst="rect">
            <a:avLst/>
          </a:prstGeom>
          <a:noFill/>
          <a:ln/>
        </p:spPr>
        <p:txBody>
          <a:bodyPr wrap="none" lIns="0" tIns="0" rIns="0" bIns="0" rtlCol="0" anchor="t"/>
          <a:lstStyle/>
          <a:p>
            <a:pPr algn="ctr" indent="0" marL="0">
              <a:lnSpc>
                <a:spcPts val="2300"/>
              </a:lnSpc>
              <a:buNone/>
            </a:pPr>
            <a:r>
              <a:rPr lang="en-US" sz="2300" b="1" dirty="0">
                <a:solidFill>
                  <a:srgbClr val="3D3838"/>
                </a:solidFill>
                <a:latin typeface="Montserrat Bold" pitchFamily="34" charset="0"/>
                <a:ea typeface="Montserrat Bold" pitchFamily="34" charset="-122"/>
                <a:cs typeface="Montserrat Bold" pitchFamily="34" charset="-120"/>
              </a:rPr>
              <a:t>3</a:t>
            </a:r>
            <a:endParaRPr lang="en-US" sz="2300" dirty="0"/>
          </a:p>
        </p:txBody>
      </p:sp>
      <p:sp>
        <p:nvSpPr>
          <p:cNvPr id="17" name="Text 15"/>
          <p:cNvSpPr/>
          <p:nvPr/>
        </p:nvSpPr>
        <p:spPr>
          <a:xfrm>
            <a:off x="7432953" y="1929765"/>
            <a:ext cx="2443163" cy="305395"/>
          </a:xfrm>
          <a:prstGeom prst="rect">
            <a:avLst/>
          </a:prstGeom>
          <a:noFill/>
          <a:ln/>
        </p:spPr>
        <p:txBody>
          <a:bodyPr wrap="none" lIns="0" tIns="0" rIns="0" bIns="0" rtlCol="0" anchor="t"/>
          <a:lstStyle/>
          <a:p>
            <a:pPr algn="ctr" indent="0" marL="0">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ID Mapping</a:t>
            </a:r>
            <a:endParaRPr lang="en-US" sz="1900" dirty="0"/>
          </a:p>
        </p:txBody>
      </p:sp>
      <p:sp>
        <p:nvSpPr>
          <p:cNvPr id="18" name="Text 16"/>
          <p:cNvSpPr/>
          <p:nvPr/>
        </p:nvSpPr>
        <p:spPr>
          <a:xfrm>
            <a:off x="6324957" y="2364105"/>
            <a:ext cx="4659154" cy="967621"/>
          </a:xfrm>
          <a:prstGeom prst="rect">
            <a:avLst/>
          </a:prstGeom>
          <a:noFill/>
          <a:ln/>
        </p:spPr>
        <p:txBody>
          <a:bodyPr wrap="square" lIns="0" tIns="0" rIns="0" bIns="0" rtlCol="0" anchor="t"/>
          <a:lstStyle/>
          <a:p>
            <a:pPr algn="ctr"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Created synthetic IDs in D2 by mapping from D1 using Material_Alias as key — ensures unique identification across datasets</a:t>
            </a:r>
            <a:endParaRPr lang="en-US" sz="1650" dirty="0"/>
          </a:p>
        </p:txBody>
      </p:sp>
      <p:sp>
        <p:nvSpPr>
          <p:cNvPr id="19" name="Shape 17"/>
          <p:cNvSpPr/>
          <p:nvPr/>
        </p:nvSpPr>
        <p:spPr>
          <a:xfrm>
            <a:off x="11318081" y="4191655"/>
            <a:ext cx="30480" cy="644962"/>
          </a:xfrm>
          <a:prstGeom prst="roundRect">
            <a:avLst>
              <a:gd name="adj" fmla="val 105808"/>
            </a:avLst>
          </a:prstGeom>
          <a:solidFill>
            <a:srgbClr val="D8D4D4"/>
          </a:solidFill>
          <a:ln/>
        </p:spPr>
      </p:sp>
      <p:sp>
        <p:nvSpPr>
          <p:cNvPr id="20" name="Shape 18"/>
          <p:cNvSpPr/>
          <p:nvPr/>
        </p:nvSpPr>
        <p:spPr>
          <a:xfrm>
            <a:off x="11091505" y="3949839"/>
            <a:ext cx="483751" cy="483751"/>
          </a:xfrm>
          <a:prstGeom prst="roundRect">
            <a:avLst>
              <a:gd name="adj" fmla="val 6667"/>
            </a:avLst>
          </a:prstGeom>
          <a:solidFill>
            <a:srgbClr val="F2EEEE"/>
          </a:solidFill>
          <a:ln/>
        </p:spPr>
      </p:sp>
      <p:sp>
        <p:nvSpPr>
          <p:cNvPr id="21" name="Text 19"/>
          <p:cNvSpPr/>
          <p:nvPr/>
        </p:nvSpPr>
        <p:spPr>
          <a:xfrm>
            <a:off x="11186755" y="4008418"/>
            <a:ext cx="293132" cy="366474"/>
          </a:xfrm>
          <a:prstGeom prst="rect">
            <a:avLst/>
          </a:prstGeom>
          <a:noFill/>
          <a:ln/>
        </p:spPr>
        <p:txBody>
          <a:bodyPr wrap="none" lIns="0" tIns="0" rIns="0" bIns="0" rtlCol="0" anchor="t"/>
          <a:lstStyle/>
          <a:p>
            <a:pPr algn="ctr" indent="0" marL="0">
              <a:lnSpc>
                <a:spcPts val="2300"/>
              </a:lnSpc>
              <a:buNone/>
            </a:pPr>
            <a:r>
              <a:rPr lang="en-US" sz="2300" b="1" dirty="0">
                <a:solidFill>
                  <a:srgbClr val="3D3838"/>
                </a:solidFill>
                <a:latin typeface="Montserrat Bold" pitchFamily="34" charset="0"/>
                <a:ea typeface="Montserrat Bold" pitchFamily="34" charset="-122"/>
                <a:cs typeface="Montserrat Bold" pitchFamily="34" charset="-120"/>
              </a:rPr>
              <a:t>4</a:t>
            </a:r>
            <a:endParaRPr lang="en-US" sz="2300" dirty="0"/>
          </a:p>
        </p:txBody>
      </p:sp>
      <p:sp>
        <p:nvSpPr>
          <p:cNvPr id="22" name="Text 20"/>
          <p:cNvSpPr/>
          <p:nvPr/>
        </p:nvSpPr>
        <p:spPr>
          <a:xfrm>
            <a:off x="10111859" y="5051703"/>
            <a:ext cx="2443163" cy="305395"/>
          </a:xfrm>
          <a:prstGeom prst="rect">
            <a:avLst/>
          </a:prstGeom>
          <a:noFill/>
          <a:ln/>
        </p:spPr>
        <p:txBody>
          <a:bodyPr wrap="none" lIns="0" tIns="0" rIns="0" bIns="0" rtlCol="0" anchor="t"/>
          <a:lstStyle/>
          <a:p>
            <a:pPr algn="ctr" indent="0" marL="0">
              <a:lnSpc>
                <a:spcPts val="2400"/>
              </a:lnSpc>
              <a:buNone/>
            </a:pPr>
            <a:r>
              <a:rPr lang="en-US" sz="1900" b="1" dirty="0">
                <a:solidFill>
                  <a:srgbClr val="3D3838"/>
                </a:solidFill>
                <a:latin typeface="Montserrat Bold" pitchFamily="34" charset="0"/>
                <a:ea typeface="Montserrat Bold" pitchFamily="34" charset="-122"/>
                <a:cs typeface="Montserrat Bold" pitchFamily="34" charset="-120"/>
              </a:rPr>
              <a:t>Inner Join Merge</a:t>
            </a:r>
            <a:endParaRPr lang="en-US" sz="1900" dirty="0"/>
          </a:p>
        </p:txBody>
      </p:sp>
      <p:sp>
        <p:nvSpPr>
          <p:cNvPr id="23" name="Text 21"/>
          <p:cNvSpPr/>
          <p:nvPr/>
        </p:nvSpPr>
        <p:spPr>
          <a:xfrm>
            <a:off x="9003863" y="5486043"/>
            <a:ext cx="4659154" cy="645081"/>
          </a:xfrm>
          <a:prstGeom prst="rect">
            <a:avLst/>
          </a:prstGeom>
          <a:noFill/>
          <a:ln/>
        </p:spPr>
        <p:txBody>
          <a:bodyPr wrap="square" lIns="0" tIns="0" rIns="0" bIns="0" rtlCol="0" anchor="t"/>
          <a:lstStyle/>
          <a:p>
            <a:pPr algn="ctr"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Final merge on Material_Alias + ID: D1 (1,552) + D2 (1,548) → Merged (1,548 records)</a:t>
            </a:r>
            <a:endParaRPr lang="en-US" sz="1650" dirty="0"/>
          </a:p>
        </p:txBody>
      </p:sp>
      <p:sp>
        <p:nvSpPr>
          <p:cNvPr id="24" name="Text 22"/>
          <p:cNvSpPr/>
          <p:nvPr/>
        </p:nvSpPr>
        <p:spPr>
          <a:xfrm>
            <a:off x="752475" y="6695480"/>
            <a:ext cx="13125450" cy="645081"/>
          </a:xfrm>
          <a:prstGeom prst="rect">
            <a:avLst/>
          </a:prstGeom>
          <a:noFill/>
          <a:ln/>
        </p:spPr>
        <p:txBody>
          <a:bodyPr wrap="square" lIns="0" tIns="0" rIns="0" bIns="0" rtlCol="0" anchor="t"/>
          <a:lstStyle/>
          <a:p>
            <a:pPr algn="l" indent="0" marL="0">
              <a:lnSpc>
                <a:spcPts val="2500"/>
              </a:lnSpc>
              <a:buNone/>
            </a:pPr>
            <a:r>
              <a:rPr lang="en-US" sz="1650" b="1" dirty="0">
                <a:solidFill>
                  <a:srgbClr val="3D3838"/>
                </a:solidFill>
                <a:latin typeface="Source Sans 3" pitchFamily="34" charset="0"/>
                <a:ea typeface="Source Sans 3" pitchFamily="34" charset="-122"/>
                <a:cs typeface="Source Sans 3" pitchFamily="34" charset="-120"/>
              </a:rPr>
              <a:t>Merge success rate:</a:t>
            </a:r>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 99.7% (1,548/1,552) — only 4 materials from D1 lacked D2 equivalents, likely due to duplicate removal. High overlap validates dataset compatibility and enables robust cross-verification analysis.</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77716" y="611029"/>
            <a:ext cx="13074968" cy="1262539"/>
          </a:xfrm>
          <a:prstGeom prst="rect">
            <a:avLst/>
          </a:prstGeom>
          <a:noFill/>
          <a:ln/>
        </p:spPr>
        <p:txBody>
          <a:bodyPr wrap="square" lIns="0" tIns="0" rIns="0" bIns="0" rtlCol="0" anchor="t"/>
          <a:lstStyle/>
          <a:p>
            <a:pPr algn="l" indent="0" marL="0">
              <a:lnSpc>
                <a:spcPts val="4950"/>
              </a:lnSpc>
              <a:buNone/>
            </a:pPr>
            <a:r>
              <a:rPr lang="en-US" sz="3950" b="1" dirty="0">
                <a:solidFill>
                  <a:srgbClr val="000000"/>
                </a:solidFill>
                <a:latin typeface="Montserrat Bold" pitchFamily="34" charset="0"/>
                <a:ea typeface="Montserrat Bold" pitchFamily="34" charset="-122"/>
                <a:cs typeface="Montserrat Bold" pitchFamily="34" charset="-120"/>
              </a:rPr>
              <a:t>Discrepancy Audit: Dataset Consistency Validation</a:t>
            </a:r>
            <a:endParaRPr lang="en-US" sz="3950" dirty="0"/>
          </a:p>
        </p:txBody>
      </p:sp>
      <p:sp>
        <p:nvSpPr>
          <p:cNvPr id="3" name="Shape 1"/>
          <p:cNvSpPr/>
          <p:nvPr/>
        </p:nvSpPr>
        <p:spPr>
          <a:xfrm>
            <a:off x="777716" y="2428994"/>
            <a:ext cx="5359122" cy="277654"/>
          </a:xfrm>
          <a:prstGeom prst="roundRect">
            <a:avLst>
              <a:gd name="adj" fmla="val 12005"/>
            </a:avLst>
          </a:prstGeom>
          <a:solidFill>
            <a:srgbClr val="F2EEEE"/>
          </a:solidFill>
          <a:ln/>
        </p:spPr>
      </p:sp>
      <p:sp>
        <p:nvSpPr>
          <p:cNvPr id="4" name="Shape 2"/>
          <p:cNvSpPr/>
          <p:nvPr/>
        </p:nvSpPr>
        <p:spPr>
          <a:xfrm>
            <a:off x="777716" y="2428994"/>
            <a:ext cx="5058966" cy="277654"/>
          </a:xfrm>
          <a:prstGeom prst="roundRect">
            <a:avLst>
              <a:gd name="adj" fmla="val 12005"/>
            </a:avLst>
          </a:prstGeom>
          <a:solidFill>
            <a:srgbClr val="2D2E34"/>
          </a:solidFill>
          <a:ln/>
        </p:spPr>
      </p:sp>
      <p:sp>
        <p:nvSpPr>
          <p:cNvPr id="5" name="Text 3"/>
          <p:cNvSpPr/>
          <p:nvPr/>
        </p:nvSpPr>
        <p:spPr>
          <a:xfrm>
            <a:off x="6303407" y="2428994"/>
            <a:ext cx="872966" cy="277654"/>
          </a:xfrm>
          <a:prstGeom prst="rect">
            <a:avLst/>
          </a:prstGeom>
          <a:noFill/>
          <a:ln/>
        </p:spPr>
        <p:txBody>
          <a:bodyPr wrap="none" lIns="0" tIns="0" rIns="0" bIns="0" rtlCol="0" anchor="t"/>
          <a:lstStyle/>
          <a:p>
            <a:pPr algn="l" indent="0" marL="0">
              <a:lnSpc>
                <a:spcPts val="2150"/>
              </a:lnSpc>
              <a:buNone/>
            </a:pPr>
            <a:r>
              <a:rPr lang="en-US" sz="2150" b="1" dirty="0">
                <a:solidFill>
                  <a:srgbClr val="3D3838"/>
                </a:solidFill>
                <a:latin typeface="Montserrat Bold" pitchFamily="34" charset="0"/>
                <a:ea typeface="Montserrat Bold" pitchFamily="34" charset="-122"/>
                <a:cs typeface="Montserrat Bold" pitchFamily="34" charset="-120"/>
              </a:rPr>
              <a:t>94.4%</a:t>
            </a:r>
            <a:endParaRPr lang="en-US" sz="2150" dirty="0"/>
          </a:p>
        </p:txBody>
      </p:sp>
      <p:sp>
        <p:nvSpPr>
          <p:cNvPr id="6" name="Text 4"/>
          <p:cNvSpPr/>
          <p:nvPr/>
        </p:nvSpPr>
        <p:spPr>
          <a:xfrm>
            <a:off x="777716" y="2984302"/>
            <a:ext cx="3405545" cy="315635"/>
          </a:xfrm>
          <a:prstGeom prst="rect">
            <a:avLst/>
          </a:prstGeom>
          <a:noFill/>
          <a:ln/>
        </p:spPr>
        <p:txBody>
          <a:bodyPr wrap="none" lIns="0" tIns="0" rIns="0" bIns="0" rtlCol="0" anchor="t"/>
          <a:lstStyle/>
          <a:p>
            <a:pPr algn="l" indent="0" marL="0">
              <a:lnSpc>
                <a:spcPts val="2450"/>
              </a:lnSpc>
              <a:buNone/>
            </a:pPr>
            <a:r>
              <a:rPr lang="en-US" sz="1950" b="1" dirty="0">
                <a:solidFill>
                  <a:srgbClr val="3D3838"/>
                </a:solidFill>
                <a:latin typeface="Montserrat Bold" pitchFamily="34" charset="0"/>
                <a:ea typeface="Montserrat Bold" pitchFamily="34" charset="-122"/>
                <a:cs typeface="Montserrat Bold" pitchFamily="34" charset="-120"/>
              </a:rPr>
              <a:t>Property Agreement Rate</a:t>
            </a:r>
            <a:endParaRPr lang="en-US" sz="1950" dirty="0"/>
          </a:p>
        </p:txBody>
      </p:sp>
      <p:sp>
        <p:nvSpPr>
          <p:cNvPr id="7" name="Text 5"/>
          <p:cNvSpPr/>
          <p:nvPr/>
        </p:nvSpPr>
        <p:spPr>
          <a:xfrm>
            <a:off x="777716" y="3433167"/>
            <a:ext cx="6398657" cy="666512"/>
          </a:xfrm>
          <a:prstGeom prst="rect">
            <a:avLst/>
          </a:prstGeom>
          <a:noFill/>
          <a:ln/>
        </p:spPr>
        <p:txBody>
          <a:bodyPr wrap="square" lIns="0" tIns="0" rIns="0" bIns="0" rtlCol="0" anchor="t"/>
          <a:lstStyle/>
          <a:p>
            <a:pPr algn="l" indent="0" marL="0">
              <a:lnSpc>
                <a:spcPts val="2600"/>
              </a:lnSpc>
              <a:buNone/>
            </a:pPr>
            <a:r>
              <a:rPr lang="en-US" sz="1700" dirty="0">
                <a:solidFill>
                  <a:srgbClr val="3D3838"/>
                </a:solidFill>
                <a:latin typeface="Source Sans 3" pitchFamily="34" charset="0"/>
                <a:ea typeface="Source Sans 3" pitchFamily="34" charset="-122"/>
                <a:cs typeface="Source Sans 3" pitchFamily="34" charset="-120"/>
              </a:rPr>
              <a:t>1,461 of 1,548 materials show identical Su, Sy, E, G values across datasets</a:t>
            </a:r>
            <a:endParaRPr lang="en-US" sz="1700" dirty="0"/>
          </a:p>
        </p:txBody>
      </p:sp>
      <p:sp>
        <p:nvSpPr>
          <p:cNvPr id="8" name="Shape 6"/>
          <p:cNvSpPr/>
          <p:nvPr/>
        </p:nvSpPr>
        <p:spPr>
          <a:xfrm>
            <a:off x="7454027" y="2428994"/>
            <a:ext cx="5582841" cy="277654"/>
          </a:xfrm>
          <a:prstGeom prst="roundRect">
            <a:avLst>
              <a:gd name="adj" fmla="val 12005"/>
            </a:avLst>
          </a:prstGeom>
          <a:solidFill>
            <a:srgbClr val="F2EEEE"/>
          </a:solidFill>
          <a:ln/>
        </p:spPr>
      </p:sp>
      <p:sp>
        <p:nvSpPr>
          <p:cNvPr id="9" name="Shape 7"/>
          <p:cNvSpPr/>
          <p:nvPr/>
        </p:nvSpPr>
        <p:spPr>
          <a:xfrm>
            <a:off x="7454027" y="2428994"/>
            <a:ext cx="312539" cy="277654"/>
          </a:xfrm>
          <a:prstGeom prst="roundRect">
            <a:avLst>
              <a:gd name="adj" fmla="val 12005"/>
            </a:avLst>
          </a:prstGeom>
          <a:solidFill>
            <a:srgbClr val="2D2E34"/>
          </a:solidFill>
          <a:ln/>
        </p:spPr>
      </p:sp>
      <p:sp>
        <p:nvSpPr>
          <p:cNvPr id="10" name="Text 8"/>
          <p:cNvSpPr/>
          <p:nvPr/>
        </p:nvSpPr>
        <p:spPr>
          <a:xfrm>
            <a:off x="13203436" y="2428994"/>
            <a:ext cx="649248" cy="277654"/>
          </a:xfrm>
          <a:prstGeom prst="rect">
            <a:avLst/>
          </a:prstGeom>
          <a:noFill/>
          <a:ln/>
        </p:spPr>
        <p:txBody>
          <a:bodyPr wrap="none" lIns="0" tIns="0" rIns="0" bIns="0" rtlCol="0" anchor="t"/>
          <a:lstStyle/>
          <a:p>
            <a:pPr algn="l" indent="0" marL="0">
              <a:lnSpc>
                <a:spcPts val="2150"/>
              </a:lnSpc>
              <a:buNone/>
            </a:pPr>
            <a:r>
              <a:rPr lang="en-US" sz="2150" b="1" dirty="0">
                <a:solidFill>
                  <a:srgbClr val="3D3838"/>
                </a:solidFill>
                <a:latin typeface="Montserrat Bold" pitchFamily="34" charset="0"/>
                <a:ea typeface="Montserrat Bold" pitchFamily="34" charset="-122"/>
                <a:cs typeface="Montserrat Bold" pitchFamily="34" charset="-120"/>
              </a:rPr>
              <a:t>5.6%</a:t>
            </a:r>
            <a:endParaRPr lang="en-US" sz="2150" dirty="0"/>
          </a:p>
        </p:txBody>
      </p:sp>
      <p:sp>
        <p:nvSpPr>
          <p:cNvPr id="11" name="Text 9"/>
          <p:cNvSpPr/>
          <p:nvPr/>
        </p:nvSpPr>
        <p:spPr>
          <a:xfrm>
            <a:off x="7454027" y="2984302"/>
            <a:ext cx="2692003" cy="315635"/>
          </a:xfrm>
          <a:prstGeom prst="rect">
            <a:avLst/>
          </a:prstGeom>
          <a:noFill/>
          <a:ln/>
        </p:spPr>
        <p:txBody>
          <a:bodyPr wrap="none" lIns="0" tIns="0" rIns="0" bIns="0" rtlCol="0" anchor="t"/>
          <a:lstStyle/>
          <a:p>
            <a:pPr algn="l" indent="0" marL="0">
              <a:lnSpc>
                <a:spcPts val="2450"/>
              </a:lnSpc>
              <a:buNone/>
            </a:pPr>
            <a:r>
              <a:rPr lang="en-US" sz="1950" b="1" dirty="0">
                <a:solidFill>
                  <a:srgbClr val="3D3838"/>
                </a:solidFill>
                <a:latin typeface="Montserrat Bold" pitchFamily="34" charset="0"/>
                <a:ea typeface="Montserrat Bold" pitchFamily="34" charset="-122"/>
                <a:cs typeface="Montserrat Bold" pitchFamily="34" charset="-120"/>
              </a:rPr>
              <a:t>Minor Discrepancies</a:t>
            </a:r>
            <a:endParaRPr lang="en-US" sz="1950" dirty="0"/>
          </a:p>
        </p:txBody>
      </p:sp>
      <p:sp>
        <p:nvSpPr>
          <p:cNvPr id="12" name="Text 10"/>
          <p:cNvSpPr/>
          <p:nvPr/>
        </p:nvSpPr>
        <p:spPr>
          <a:xfrm>
            <a:off x="7454027" y="3433167"/>
            <a:ext cx="6398657" cy="666512"/>
          </a:xfrm>
          <a:prstGeom prst="rect">
            <a:avLst/>
          </a:prstGeom>
          <a:noFill/>
          <a:ln/>
        </p:spPr>
        <p:txBody>
          <a:bodyPr wrap="square" lIns="0" tIns="0" rIns="0" bIns="0" rtlCol="0" anchor="t"/>
          <a:lstStyle/>
          <a:p>
            <a:pPr algn="l" indent="0" marL="0">
              <a:lnSpc>
                <a:spcPts val="2600"/>
              </a:lnSpc>
              <a:buNone/>
            </a:pPr>
            <a:r>
              <a:rPr lang="en-US" sz="1700" dirty="0">
                <a:solidFill>
                  <a:srgbClr val="3D3838"/>
                </a:solidFill>
                <a:latin typeface="Source Sans 3" pitchFamily="34" charset="0"/>
                <a:ea typeface="Source Sans 3" pitchFamily="34" charset="-122"/>
                <a:cs typeface="Source Sans 3" pitchFamily="34" charset="-120"/>
              </a:rPr>
              <a:t>87 materials exhibit small differences, likely from rounding or unit conversion</a:t>
            </a:r>
            <a:endParaRPr lang="en-US" sz="1700" dirty="0"/>
          </a:p>
        </p:txBody>
      </p:sp>
      <p:sp>
        <p:nvSpPr>
          <p:cNvPr id="13" name="Text 11"/>
          <p:cNvSpPr/>
          <p:nvPr/>
        </p:nvSpPr>
        <p:spPr>
          <a:xfrm>
            <a:off x="777716" y="4571762"/>
            <a:ext cx="2973229" cy="315635"/>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Montserrat Bold" pitchFamily="34" charset="0"/>
                <a:ea typeface="Montserrat Bold" pitchFamily="34" charset="-122"/>
                <a:cs typeface="Montserrat Bold" pitchFamily="34" charset="-120"/>
              </a:rPr>
              <a:t>Statistical Comparison</a:t>
            </a:r>
            <a:endParaRPr lang="en-US" sz="1950" dirty="0"/>
          </a:p>
        </p:txBody>
      </p:sp>
      <p:sp>
        <p:nvSpPr>
          <p:cNvPr id="14" name="Text 12"/>
          <p:cNvSpPr/>
          <p:nvPr/>
        </p:nvSpPr>
        <p:spPr>
          <a:xfrm>
            <a:off x="777716" y="5109567"/>
            <a:ext cx="6266498" cy="666512"/>
          </a:xfrm>
          <a:prstGeom prst="rect">
            <a:avLst/>
          </a:prstGeom>
          <a:noFill/>
          <a:ln/>
        </p:spPr>
        <p:txBody>
          <a:bodyPr wrap="square" lIns="0" tIns="0" rIns="0" bIns="0" rtlCol="0" anchor="t"/>
          <a:lstStyle/>
          <a:p>
            <a:pPr algn="l" indent="0" marL="0">
              <a:lnSpc>
                <a:spcPts val="2600"/>
              </a:lnSpc>
              <a:buNone/>
            </a:pPr>
            <a:r>
              <a:rPr lang="en-US" sz="1700" dirty="0">
                <a:solidFill>
                  <a:srgbClr val="3D3838"/>
                </a:solidFill>
                <a:latin typeface="Source Sans 3" pitchFamily="34" charset="0"/>
                <a:ea typeface="Source Sans 3" pitchFamily="34" charset="-122"/>
                <a:cs typeface="Source Sans 3" pitchFamily="34" charset="-120"/>
              </a:rPr>
              <a:t>Mean, standard deviation, max, and min values show </a:t>
            </a:r>
            <a:pPr algn="l" indent="0" marL="0">
              <a:lnSpc>
                <a:spcPts val="2600"/>
              </a:lnSpc>
              <a:buNone/>
            </a:pPr>
            <a:r>
              <a:rPr lang="en-US" sz="1700" b="1" dirty="0">
                <a:solidFill>
                  <a:srgbClr val="3D3838"/>
                </a:solidFill>
                <a:latin typeface="Source Sans 3" pitchFamily="34" charset="0"/>
                <a:ea typeface="Source Sans 3" pitchFamily="34" charset="-122"/>
                <a:cs typeface="Source Sans 3" pitchFamily="34" charset="-120"/>
              </a:rPr>
              <a:t>negligible change</a:t>
            </a:r>
            <a:pPr algn="l" indent="0" marL="0">
              <a:lnSpc>
                <a:spcPts val="2600"/>
              </a:lnSpc>
              <a:buNone/>
            </a:pPr>
            <a:r>
              <a:rPr lang="en-US" sz="1700" dirty="0">
                <a:solidFill>
                  <a:srgbClr val="3D3838"/>
                </a:solidFill>
                <a:latin typeface="Source Sans 3" pitchFamily="34" charset="0"/>
                <a:ea typeface="Source Sans 3" pitchFamily="34" charset="-122"/>
                <a:cs typeface="Source Sans 3" pitchFamily="34" charset="-120"/>
              </a:rPr>
              <a:t> between D1 and D2 after outlier handling:</a:t>
            </a:r>
            <a:endParaRPr lang="en-US" sz="1700" dirty="0"/>
          </a:p>
        </p:txBody>
      </p:sp>
      <p:sp>
        <p:nvSpPr>
          <p:cNvPr id="15" name="Text 13"/>
          <p:cNvSpPr/>
          <p:nvPr/>
        </p:nvSpPr>
        <p:spPr>
          <a:xfrm>
            <a:off x="777716" y="5975985"/>
            <a:ext cx="6266498" cy="333256"/>
          </a:xfrm>
          <a:prstGeom prst="rect">
            <a:avLst/>
          </a:prstGeom>
          <a:noFill/>
          <a:ln/>
        </p:spPr>
        <p:txBody>
          <a:bodyPr wrap="none" lIns="0" tIns="0" rIns="0" bIns="0" rtlCol="0" anchor="t"/>
          <a:lstStyle/>
          <a:p>
            <a:pPr algn="l" marL="342900" indent="-342900">
              <a:lnSpc>
                <a:spcPts val="2600"/>
              </a:lnSpc>
              <a:buSzPct val="100000"/>
              <a:buChar char="•"/>
            </a:pPr>
            <a:r>
              <a:rPr lang="en-US" sz="1700" dirty="0">
                <a:solidFill>
                  <a:srgbClr val="3D3838"/>
                </a:solidFill>
                <a:latin typeface="Source Sans 3" pitchFamily="34" charset="0"/>
                <a:ea typeface="Source Sans 3" pitchFamily="34" charset="-122"/>
                <a:cs typeface="Source Sans 3" pitchFamily="34" charset="-120"/>
              </a:rPr>
              <a:t>Su: Mean difference &lt; 1%</a:t>
            </a:r>
            <a:endParaRPr lang="en-US" sz="1700" dirty="0"/>
          </a:p>
        </p:txBody>
      </p:sp>
      <p:sp>
        <p:nvSpPr>
          <p:cNvPr id="16" name="Text 14"/>
          <p:cNvSpPr/>
          <p:nvPr/>
        </p:nvSpPr>
        <p:spPr>
          <a:xfrm>
            <a:off x="777716" y="6386989"/>
            <a:ext cx="6266498" cy="333256"/>
          </a:xfrm>
          <a:prstGeom prst="rect">
            <a:avLst/>
          </a:prstGeom>
          <a:noFill/>
          <a:ln/>
        </p:spPr>
        <p:txBody>
          <a:bodyPr wrap="none" lIns="0" tIns="0" rIns="0" bIns="0" rtlCol="0" anchor="t"/>
          <a:lstStyle/>
          <a:p>
            <a:pPr algn="l" marL="342900" indent="-342900">
              <a:lnSpc>
                <a:spcPts val="2600"/>
              </a:lnSpc>
              <a:buSzPct val="100000"/>
              <a:buChar char="•"/>
            </a:pPr>
            <a:r>
              <a:rPr lang="en-US" sz="1700" dirty="0">
                <a:solidFill>
                  <a:srgbClr val="3D3838"/>
                </a:solidFill>
                <a:latin typeface="Source Sans 3" pitchFamily="34" charset="0"/>
                <a:ea typeface="Source Sans 3" pitchFamily="34" charset="-122"/>
                <a:cs typeface="Source Sans 3" pitchFamily="34" charset="-120"/>
              </a:rPr>
              <a:t>Sy: Mean difference &lt; 1%</a:t>
            </a:r>
            <a:endParaRPr lang="en-US" sz="1700" dirty="0"/>
          </a:p>
        </p:txBody>
      </p:sp>
      <p:sp>
        <p:nvSpPr>
          <p:cNvPr id="17" name="Text 15"/>
          <p:cNvSpPr/>
          <p:nvPr/>
        </p:nvSpPr>
        <p:spPr>
          <a:xfrm>
            <a:off x="777716" y="6797993"/>
            <a:ext cx="6266498" cy="333256"/>
          </a:xfrm>
          <a:prstGeom prst="rect">
            <a:avLst/>
          </a:prstGeom>
          <a:noFill/>
          <a:ln/>
        </p:spPr>
        <p:txBody>
          <a:bodyPr wrap="none" lIns="0" tIns="0" rIns="0" bIns="0" rtlCol="0" anchor="t"/>
          <a:lstStyle/>
          <a:p>
            <a:pPr algn="l" marL="342900" indent="-342900">
              <a:lnSpc>
                <a:spcPts val="2600"/>
              </a:lnSpc>
              <a:buSzPct val="100000"/>
              <a:buChar char="•"/>
            </a:pPr>
            <a:r>
              <a:rPr lang="en-US" sz="1700" dirty="0">
                <a:solidFill>
                  <a:srgbClr val="3D3838"/>
                </a:solidFill>
                <a:latin typeface="Source Sans 3" pitchFamily="34" charset="0"/>
                <a:ea typeface="Source Sans 3" pitchFamily="34" charset="-122"/>
                <a:cs typeface="Source Sans 3" pitchFamily="34" charset="-120"/>
              </a:rPr>
              <a:t>E: Values identical (normalized)</a:t>
            </a:r>
            <a:endParaRPr lang="en-US" sz="1700" dirty="0"/>
          </a:p>
        </p:txBody>
      </p:sp>
      <p:sp>
        <p:nvSpPr>
          <p:cNvPr id="18" name="Text 16"/>
          <p:cNvSpPr/>
          <p:nvPr/>
        </p:nvSpPr>
        <p:spPr>
          <a:xfrm>
            <a:off x="777716" y="7208996"/>
            <a:ext cx="6266498" cy="333256"/>
          </a:xfrm>
          <a:prstGeom prst="rect">
            <a:avLst/>
          </a:prstGeom>
          <a:noFill/>
          <a:ln/>
        </p:spPr>
        <p:txBody>
          <a:bodyPr wrap="none" lIns="0" tIns="0" rIns="0" bIns="0" rtlCol="0" anchor="t"/>
          <a:lstStyle/>
          <a:p>
            <a:pPr algn="l" marL="342900" indent="-342900">
              <a:lnSpc>
                <a:spcPts val="2600"/>
              </a:lnSpc>
              <a:buSzPct val="100000"/>
              <a:buChar char="•"/>
            </a:pPr>
            <a:r>
              <a:rPr lang="en-US" sz="1700" dirty="0">
                <a:solidFill>
                  <a:srgbClr val="3D3838"/>
                </a:solidFill>
                <a:latin typeface="Source Sans 3" pitchFamily="34" charset="0"/>
                <a:ea typeface="Source Sans 3" pitchFamily="34" charset="-122"/>
                <a:cs typeface="Source Sans 3" pitchFamily="34" charset="-120"/>
              </a:rPr>
              <a:t>G: Values identical (normalized)</a:t>
            </a:r>
            <a:endParaRPr lang="en-US" sz="1700" dirty="0"/>
          </a:p>
        </p:txBody>
      </p:sp>
      <p:sp>
        <p:nvSpPr>
          <p:cNvPr id="19" name="Text 17"/>
          <p:cNvSpPr/>
          <p:nvPr/>
        </p:nvSpPr>
        <p:spPr>
          <a:xfrm>
            <a:off x="7593806" y="4571762"/>
            <a:ext cx="2639258" cy="315635"/>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Montserrat Bold" pitchFamily="34" charset="0"/>
                <a:ea typeface="Montserrat Bold" pitchFamily="34" charset="-122"/>
                <a:cs typeface="Montserrat Bold" pitchFamily="34" charset="-120"/>
              </a:rPr>
              <a:t>Validation Outcome</a:t>
            </a:r>
            <a:endParaRPr lang="en-US" sz="1950" dirty="0"/>
          </a:p>
        </p:txBody>
      </p:sp>
      <p:sp>
        <p:nvSpPr>
          <p:cNvPr id="20" name="Text 18"/>
          <p:cNvSpPr/>
          <p:nvPr/>
        </p:nvSpPr>
        <p:spPr>
          <a:xfrm>
            <a:off x="7593806" y="5109567"/>
            <a:ext cx="6266498" cy="666512"/>
          </a:xfrm>
          <a:prstGeom prst="rect">
            <a:avLst/>
          </a:prstGeom>
          <a:noFill/>
          <a:ln/>
        </p:spPr>
        <p:txBody>
          <a:bodyPr wrap="square" lIns="0" tIns="0" rIns="0" bIns="0" rtlCol="0" anchor="t"/>
          <a:lstStyle/>
          <a:p>
            <a:pPr algn="l" indent="0" marL="0">
              <a:lnSpc>
                <a:spcPts val="2600"/>
              </a:lnSpc>
              <a:buNone/>
            </a:pPr>
            <a:r>
              <a:rPr lang="en-US" sz="1700" b="1" dirty="0">
                <a:solidFill>
                  <a:srgbClr val="3D3838"/>
                </a:solidFill>
                <a:latin typeface="Source Sans 3" pitchFamily="34" charset="0"/>
                <a:ea typeface="Source Sans 3" pitchFamily="34" charset="-122"/>
                <a:cs typeface="Source Sans 3" pitchFamily="34" charset="-120"/>
              </a:rPr>
              <a:t>High data integrity confirmed.</a:t>
            </a:r>
            <a:pPr algn="l" indent="0" marL="0">
              <a:lnSpc>
                <a:spcPts val="2600"/>
              </a:lnSpc>
              <a:buNone/>
            </a:pPr>
            <a:r>
              <a:rPr lang="en-US" sz="1700" dirty="0">
                <a:solidFill>
                  <a:srgbClr val="3D3838"/>
                </a:solidFill>
                <a:latin typeface="Source Sans 3" pitchFamily="34" charset="0"/>
                <a:ea typeface="Source Sans 3" pitchFamily="34" charset="-122"/>
                <a:cs typeface="Source Sans 3" pitchFamily="34" charset="-120"/>
              </a:rPr>
              <a:t> Both datasets derived from consistent source with minimal processing variation.</a:t>
            </a:r>
            <a:endParaRPr lang="en-US" sz="1700" dirty="0"/>
          </a:p>
        </p:txBody>
      </p:sp>
      <p:sp>
        <p:nvSpPr>
          <p:cNvPr id="21" name="Text 19"/>
          <p:cNvSpPr/>
          <p:nvPr/>
        </p:nvSpPr>
        <p:spPr>
          <a:xfrm>
            <a:off x="7593806" y="5975985"/>
            <a:ext cx="6266498" cy="666512"/>
          </a:xfrm>
          <a:prstGeom prst="rect">
            <a:avLst/>
          </a:prstGeom>
          <a:noFill/>
          <a:ln/>
        </p:spPr>
        <p:txBody>
          <a:bodyPr wrap="square" lIns="0" tIns="0" rIns="0" bIns="0" rtlCol="0" anchor="t"/>
          <a:lstStyle/>
          <a:p>
            <a:pPr algn="l" indent="0" marL="0">
              <a:lnSpc>
                <a:spcPts val="2600"/>
              </a:lnSpc>
              <a:buNone/>
            </a:pPr>
            <a:r>
              <a:rPr lang="en-US" sz="1700" dirty="0">
                <a:solidFill>
                  <a:srgbClr val="3D3838"/>
                </a:solidFill>
                <a:latin typeface="Source Sans 3" pitchFamily="34" charset="0"/>
                <a:ea typeface="Source Sans 3" pitchFamily="34" charset="-122"/>
                <a:cs typeface="Source Sans 3" pitchFamily="34" charset="-120"/>
              </a:rPr>
              <a:t>The 94.4% agreement rate validates D2's Use Flag as reliable ground truth for suitability classification modeling.</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39973" y="1456492"/>
            <a:ext cx="11806833" cy="600670"/>
          </a:xfrm>
          <a:prstGeom prst="rect">
            <a:avLst/>
          </a:prstGeom>
          <a:noFill/>
          <a:ln/>
        </p:spPr>
        <p:txBody>
          <a:bodyPr wrap="none" lIns="0" tIns="0" rIns="0" bIns="0" rtlCol="0" anchor="t"/>
          <a:lstStyle/>
          <a:p>
            <a:pPr algn="l" indent="0" marL="0">
              <a:lnSpc>
                <a:spcPts val="4700"/>
              </a:lnSpc>
              <a:buNone/>
            </a:pPr>
            <a:r>
              <a:rPr lang="en-US" sz="3750" b="1" dirty="0">
                <a:solidFill>
                  <a:srgbClr val="000000"/>
                </a:solidFill>
                <a:latin typeface="Montserrat Bold" pitchFamily="34" charset="0"/>
                <a:ea typeface="Montserrat Bold" pitchFamily="34" charset="-122"/>
                <a:cs typeface="Montserrat Bold" pitchFamily="34" charset="-120"/>
              </a:rPr>
              <a:t>Use Flag Patterns: Suitability Criteria Discovery</a:t>
            </a:r>
            <a:endParaRPr lang="en-US" sz="3750" dirty="0"/>
          </a:p>
        </p:txBody>
      </p:sp>
      <p:sp>
        <p:nvSpPr>
          <p:cNvPr id="3" name="Shape 1"/>
          <p:cNvSpPr/>
          <p:nvPr/>
        </p:nvSpPr>
        <p:spPr>
          <a:xfrm>
            <a:off x="739973" y="2479953"/>
            <a:ext cx="13150453" cy="2945368"/>
          </a:xfrm>
          <a:prstGeom prst="roundRect">
            <a:avLst>
              <a:gd name="adj" fmla="val 1077"/>
            </a:avLst>
          </a:prstGeom>
          <a:noFill/>
          <a:ln w="7620">
            <a:solidFill>
              <a:srgbClr val="000000">
                <a:alpha val="8000"/>
              </a:srgbClr>
            </a:solidFill>
            <a:prstDash val="solid"/>
          </a:ln>
        </p:spPr>
      </p:sp>
      <p:sp>
        <p:nvSpPr>
          <p:cNvPr id="4" name="Shape 2"/>
          <p:cNvSpPr/>
          <p:nvPr/>
        </p:nvSpPr>
        <p:spPr>
          <a:xfrm>
            <a:off x="747593" y="2487573"/>
            <a:ext cx="13135213" cy="586026"/>
          </a:xfrm>
          <a:prstGeom prst="rect">
            <a:avLst/>
          </a:prstGeom>
          <a:solidFill>
            <a:srgbClr val="FFFFFF">
              <a:alpha val="4000"/>
            </a:srgbClr>
          </a:solidFill>
          <a:ln/>
        </p:spPr>
      </p:sp>
      <p:sp>
        <p:nvSpPr>
          <p:cNvPr id="5" name="Text 3"/>
          <p:cNvSpPr/>
          <p:nvPr/>
        </p:nvSpPr>
        <p:spPr>
          <a:xfrm>
            <a:off x="959167" y="2621994"/>
            <a:ext cx="220051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Su (MPa)</a:t>
            </a:r>
            <a:endParaRPr lang="en-US" sz="1650" dirty="0"/>
          </a:p>
        </p:txBody>
      </p:sp>
      <p:sp>
        <p:nvSpPr>
          <p:cNvPr id="6" name="Text 4"/>
          <p:cNvSpPr/>
          <p:nvPr/>
        </p:nvSpPr>
        <p:spPr>
          <a:xfrm>
            <a:off x="3589973" y="2621994"/>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568.6</a:t>
            </a:r>
            <a:endParaRPr lang="en-US" sz="1650" dirty="0"/>
          </a:p>
        </p:txBody>
      </p:sp>
      <p:sp>
        <p:nvSpPr>
          <p:cNvPr id="7" name="Text 5"/>
          <p:cNvSpPr/>
          <p:nvPr/>
        </p:nvSpPr>
        <p:spPr>
          <a:xfrm>
            <a:off x="6216968" y="2621994"/>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457.7</a:t>
            </a:r>
            <a:endParaRPr lang="en-US" sz="1650" dirty="0"/>
          </a:p>
        </p:txBody>
      </p:sp>
      <p:sp>
        <p:nvSpPr>
          <p:cNvPr id="8" name="Text 6"/>
          <p:cNvSpPr/>
          <p:nvPr/>
        </p:nvSpPr>
        <p:spPr>
          <a:xfrm>
            <a:off x="8843963" y="2621994"/>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-19.5%</a:t>
            </a:r>
            <a:endParaRPr lang="en-US" sz="1650" dirty="0"/>
          </a:p>
        </p:txBody>
      </p:sp>
      <p:sp>
        <p:nvSpPr>
          <p:cNvPr id="9" name="Text 7"/>
          <p:cNvSpPr/>
          <p:nvPr/>
        </p:nvSpPr>
        <p:spPr>
          <a:xfrm>
            <a:off x="11470958" y="2621994"/>
            <a:ext cx="220051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Lower strength preferred</a:t>
            </a:r>
            <a:endParaRPr lang="en-US" sz="1650" dirty="0"/>
          </a:p>
        </p:txBody>
      </p:sp>
      <p:sp>
        <p:nvSpPr>
          <p:cNvPr id="10" name="Shape 8"/>
          <p:cNvSpPr/>
          <p:nvPr/>
        </p:nvSpPr>
        <p:spPr>
          <a:xfrm>
            <a:off x="747593" y="3073598"/>
            <a:ext cx="13135213" cy="586026"/>
          </a:xfrm>
          <a:prstGeom prst="rect">
            <a:avLst/>
          </a:prstGeom>
          <a:solidFill>
            <a:srgbClr val="000000">
              <a:alpha val="4000"/>
            </a:srgbClr>
          </a:solidFill>
          <a:ln/>
        </p:spPr>
      </p:sp>
      <p:sp>
        <p:nvSpPr>
          <p:cNvPr id="11" name="Text 9"/>
          <p:cNvSpPr/>
          <p:nvPr/>
        </p:nvSpPr>
        <p:spPr>
          <a:xfrm>
            <a:off x="959167" y="3208020"/>
            <a:ext cx="220051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Sy (MPa)</a:t>
            </a:r>
            <a:endParaRPr lang="en-US" sz="1650" dirty="0"/>
          </a:p>
        </p:txBody>
      </p:sp>
      <p:sp>
        <p:nvSpPr>
          <p:cNvPr id="12" name="Text 10"/>
          <p:cNvSpPr/>
          <p:nvPr/>
        </p:nvSpPr>
        <p:spPr>
          <a:xfrm>
            <a:off x="3589973" y="3208020"/>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370.0</a:t>
            </a:r>
            <a:endParaRPr lang="en-US" sz="1650" dirty="0"/>
          </a:p>
        </p:txBody>
      </p:sp>
      <p:sp>
        <p:nvSpPr>
          <p:cNvPr id="13" name="Text 11"/>
          <p:cNvSpPr/>
          <p:nvPr/>
        </p:nvSpPr>
        <p:spPr>
          <a:xfrm>
            <a:off x="6216968" y="3208020"/>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303.5</a:t>
            </a:r>
            <a:endParaRPr lang="en-US" sz="1650" dirty="0"/>
          </a:p>
        </p:txBody>
      </p:sp>
      <p:sp>
        <p:nvSpPr>
          <p:cNvPr id="14" name="Text 12"/>
          <p:cNvSpPr/>
          <p:nvPr/>
        </p:nvSpPr>
        <p:spPr>
          <a:xfrm>
            <a:off x="8843963" y="3208020"/>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-18.0%</a:t>
            </a:r>
            <a:endParaRPr lang="en-US" sz="1650" dirty="0"/>
          </a:p>
        </p:txBody>
      </p:sp>
      <p:sp>
        <p:nvSpPr>
          <p:cNvPr id="15" name="Text 13"/>
          <p:cNvSpPr/>
          <p:nvPr/>
        </p:nvSpPr>
        <p:spPr>
          <a:xfrm>
            <a:off x="11470958" y="3208020"/>
            <a:ext cx="220051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Lower yield acceptable</a:t>
            </a:r>
            <a:endParaRPr lang="en-US" sz="1650" dirty="0"/>
          </a:p>
        </p:txBody>
      </p:sp>
      <p:sp>
        <p:nvSpPr>
          <p:cNvPr id="16" name="Shape 14"/>
          <p:cNvSpPr/>
          <p:nvPr/>
        </p:nvSpPr>
        <p:spPr>
          <a:xfrm>
            <a:off x="747593" y="3659624"/>
            <a:ext cx="13135213" cy="586026"/>
          </a:xfrm>
          <a:prstGeom prst="rect">
            <a:avLst/>
          </a:prstGeom>
          <a:solidFill>
            <a:srgbClr val="FFFFFF">
              <a:alpha val="4000"/>
            </a:srgbClr>
          </a:solidFill>
          <a:ln/>
        </p:spPr>
      </p:sp>
      <p:sp>
        <p:nvSpPr>
          <p:cNvPr id="17" name="Text 15"/>
          <p:cNvSpPr/>
          <p:nvPr/>
        </p:nvSpPr>
        <p:spPr>
          <a:xfrm>
            <a:off x="959167" y="3794046"/>
            <a:ext cx="220051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A5 (%)</a:t>
            </a:r>
            <a:endParaRPr lang="en-US" sz="1650" dirty="0"/>
          </a:p>
        </p:txBody>
      </p:sp>
      <p:sp>
        <p:nvSpPr>
          <p:cNvPr id="18" name="Text 16"/>
          <p:cNvSpPr/>
          <p:nvPr/>
        </p:nvSpPr>
        <p:spPr>
          <a:xfrm>
            <a:off x="3589973" y="3794046"/>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17.14</a:t>
            </a:r>
            <a:endParaRPr lang="en-US" sz="1650" dirty="0"/>
          </a:p>
        </p:txBody>
      </p:sp>
      <p:sp>
        <p:nvSpPr>
          <p:cNvPr id="19" name="Text 17"/>
          <p:cNvSpPr/>
          <p:nvPr/>
        </p:nvSpPr>
        <p:spPr>
          <a:xfrm>
            <a:off x="6216968" y="3794046"/>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20.60</a:t>
            </a:r>
            <a:endParaRPr lang="en-US" sz="1650" dirty="0"/>
          </a:p>
        </p:txBody>
      </p:sp>
      <p:sp>
        <p:nvSpPr>
          <p:cNvPr id="20" name="Text 18"/>
          <p:cNvSpPr/>
          <p:nvPr/>
        </p:nvSpPr>
        <p:spPr>
          <a:xfrm>
            <a:off x="8843963" y="3794046"/>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+20.2%</a:t>
            </a:r>
            <a:endParaRPr lang="en-US" sz="1650" dirty="0"/>
          </a:p>
        </p:txBody>
      </p:sp>
      <p:sp>
        <p:nvSpPr>
          <p:cNvPr id="21" name="Text 19"/>
          <p:cNvSpPr/>
          <p:nvPr/>
        </p:nvSpPr>
        <p:spPr>
          <a:xfrm>
            <a:off x="11470958" y="3794046"/>
            <a:ext cx="220051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Higher ductility required</a:t>
            </a:r>
            <a:endParaRPr lang="en-US" sz="1650" dirty="0"/>
          </a:p>
        </p:txBody>
      </p:sp>
      <p:sp>
        <p:nvSpPr>
          <p:cNvPr id="22" name="Shape 20"/>
          <p:cNvSpPr/>
          <p:nvPr/>
        </p:nvSpPr>
        <p:spPr>
          <a:xfrm>
            <a:off x="747593" y="4245650"/>
            <a:ext cx="13135213" cy="586026"/>
          </a:xfrm>
          <a:prstGeom prst="rect">
            <a:avLst/>
          </a:prstGeom>
          <a:solidFill>
            <a:srgbClr val="000000">
              <a:alpha val="4000"/>
            </a:srgbClr>
          </a:solidFill>
          <a:ln/>
        </p:spPr>
      </p:sp>
      <p:sp>
        <p:nvSpPr>
          <p:cNvPr id="23" name="Text 21"/>
          <p:cNvSpPr/>
          <p:nvPr/>
        </p:nvSpPr>
        <p:spPr>
          <a:xfrm>
            <a:off x="959167" y="4380071"/>
            <a:ext cx="220051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E (MPa)</a:t>
            </a:r>
            <a:endParaRPr lang="en-US" sz="1650" dirty="0"/>
          </a:p>
        </p:txBody>
      </p:sp>
      <p:sp>
        <p:nvSpPr>
          <p:cNvPr id="24" name="Text 22"/>
          <p:cNvSpPr/>
          <p:nvPr/>
        </p:nvSpPr>
        <p:spPr>
          <a:xfrm>
            <a:off x="3589973" y="4380071"/>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160,551</a:t>
            </a:r>
            <a:endParaRPr lang="en-US" sz="1650" dirty="0"/>
          </a:p>
        </p:txBody>
      </p:sp>
      <p:sp>
        <p:nvSpPr>
          <p:cNvPr id="25" name="Text 23"/>
          <p:cNvSpPr/>
          <p:nvPr/>
        </p:nvSpPr>
        <p:spPr>
          <a:xfrm>
            <a:off x="6216968" y="4380071"/>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205,422</a:t>
            </a:r>
            <a:endParaRPr lang="en-US" sz="1650" dirty="0"/>
          </a:p>
        </p:txBody>
      </p:sp>
      <p:sp>
        <p:nvSpPr>
          <p:cNvPr id="26" name="Text 24"/>
          <p:cNvSpPr/>
          <p:nvPr/>
        </p:nvSpPr>
        <p:spPr>
          <a:xfrm>
            <a:off x="8843963" y="4380071"/>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+28.0%</a:t>
            </a:r>
            <a:endParaRPr lang="en-US" sz="1650" dirty="0"/>
          </a:p>
        </p:txBody>
      </p:sp>
      <p:sp>
        <p:nvSpPr>
          <p:cNvPr id="27" name="Text 25"/>
          <p:cNvSpPr/>
          <p:nvPr/>
        </p:nvSpPr>
        <p:spPr>
          <a:xfrm>
            <a:off x="11470958" y="4380071"/>
            <a:ext cx="220051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Higher stiffness valued</a:t>
            </a:r>
            <a:endParaRPr lang="en-US" sz="1650" dirty="0"/>
          </a:p>
        </p:txBody>
      </p:sp>
      <p:sp>
        <p:nvSpPr>
          <p:cNvPr id="28" name="Shape 26"/>
          <p:cNvSpPr/>
          <p:nvPr/>
        </p:nvSpPr>
        <p:spPr>
          <a:xfrm>
            <a:off x="747593" y="4831675"/>
            <a:ext cx="13135213" cy="586026"/>
          </a:xfrm>
          <a:prstGeom prst="rect">
            <a:avLst/>
          </a:prstGeom>
          <a:solidFill>
            <a:srgbClr val="FFFFFF">
              <a:alpha val="4000"/>
            </a:srgbClr>
          </a:solidFill>
          <a:ln/>
        </p:spPr>
      </p:sp>
      <p:sp>
        <p:nvSpPr>
          <p:cNvPr id="29" name="Text 27"/>
          <p:cNvSpPr/>
          <p:nvPr/>
        </p:nvSpPr>
        <p:spPr>
          <a:xfrm>
            <a:off x="959167" y="4966097"/>
            <a:ext cx="220051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G (MPa)</a:t>
            </a:r>
            <a:endParaRPr lang="en-US" sz="1650" dirty="0"/>
          </a:p>
        </p:txBody>
      </p:sp>
      <p:sp>
        <p:nvSpPr>
          <p:cNvPr id="30" name="Text 28"/>
          <p:cNvSpPr/>
          <p:nvPr/>
        </p:nvSpPr>
        <p:spPr>
          <a:xfrm>
            <a:off x="3589973" y="4966097"/>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64,021</a:t>
            </a:r>
            <a:endParaRPr lang="en-US" sz="1650" dirty="0"/>
          </a:p>
        </p:txBody>
      </p:sp>
      <p:sp>
        <p:nvSpPr>
          <p:cNvPr id="31" name="Text 29"/>
          <p:cNvSpPr/>
          <p:nvPr/>
        </p:nvSpPr>
        <p:spPr>
          <a:xfrm>
            <a:off x="6216968" y="4966097"/>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79,578</a:t>
            </a:r>
            <a:endParaRPr lang="en-US" sz="1650" dirty="0"/>
          </a:p>
        </p:txBody>
      </p:sp>
      <p:sp>
        <p:nvSpPr>
          <p:cNvPr id="32" name="Text 30"/>
          <p:cNvSpPr/>
          <p:nvPr/>
        </p:nvSpPr>
        <p:spPr>
          <a:xfrm>
            <a:off x="8843963" y="4966097"/>
            <a:ext cx="219670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+24.3%</a:t>
            </a:r>
            <a:endParaRPr lang="en-US" sz="1650" dirty="0"/>
          </a:p>
        </p:txBody>
      </p:sp>
      <p:sp>
        <p:nvSpPr>
          <p:cNvPr id="33" name="Text 31"/>
          <p:cNvSpPr/>
          <p:nvPr/>
        </p:nvSpPr>
        <p:spPr>
          <a:xfrm>
            <a:off x="11470958" y="4966097"/>
            <a:ext cx="2200513" cy="317183"/>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Shear resistance critical</a:t>
            </a:r>
            <a:endParaRPr lang="en-US" sz="1650" dirty="0"/>
          </a:p>
        </p:txBody>
      </p:sp>
      <p:sp>
        <p:nvSpPr>
          <p:cNvPr id="34" name="Text 32"/>
          <p:cNvSpPr/>
          <p:nvPr/>
        </p:nvSpPr>
        <p:spPr>
          <a:xfrm>
            <a:off x="1057037" y="5900857"/>
            <a:ext cx="12833390" cy="634365"/>
          </a:xfrm>
          <a:prstGeom prst="rect">
            <a:avLst/>
          </a:prstGeom>
          <a:noFill/>
          <a:ln/>
        </p:spPr>
        <p:txBody>
          <a:bodyPr wrap="square" lIns="0" tIns="0" rIns="0" bIns="0" rtlCol="0" anchor="t"/>
          <a:lstStyle/>
          <a:p>
            <a:pPr algn="l" indent="0" marL="0">
              <a:lnSpc>
                <a:spcPts val="2450"/>
              </a:lnSpc>
              <a:buNone/>
            </a:pPr>
            <a:r>
              <a:rPr lang="en-US" sz="1650" b="1" dirty="0">
                <a:solidFill>
                  <a:srgbClr val="3D3838"/>
                </a:solidFill>
                <a:latin typeface="Source Sans 3" pitchFamily="34" charset="0"/>
                <a:ea typeface="Source Sans 3" pitchFamily="34" charset="-122"/>
                <a:cs typeface="Source Sans 3" pitchFamily="34" charset="-120"/>
              </a:rPr>
              <a:t>Key insight:</a:t>
            </a:r>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 "Use = True" materials prioritize </a:t>
            </a:r>
            <a:pPr algn="l" indent="0" marL="0">
              <a:lnSpc>
                <a:spcPts val="2450"/>
              </a:lnSpc>
              <a:buNone/>
            </a:pPr>
            <a:r>
              <a:rPr lang="en-US" sz="1650" b="1" dirty="0">
                <a:solidFill>
                  <a:srgbClr val="3D3838"/>
                </a:solidFill>
                <a:latin typeface="Source Sans 3" pitchFamily="34" charset="0"/>
                <a:ea typeface="Source Sans 3" pitchFamily="34" charset="-122"/>
                <a:cs typeface="Source Sans 3" pitchFamily="34" charset="-120"/>
              </a:rPr>
              <a:t>ductility and elastic resistance</a:t>
            </a:r>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 over raw tensile strength. This suggests suitability criteria favor materials that can absorb energy and maintain dimensional stability under cyclic loads — ideal for EV chassis subjected to vibration and impact.</a:t>
            </a:r>
            <a:endParaRPr lang="en-US" sz="1650" dirty="0"/>
          </a:p>
        </p:txBody>
      </p:sp>
      <p:sp>
        <p:nvSpPr>
          <p:cNvPr id="35" name="Shape 33"/>
          <p:cNvSpPr/>
          <p:nvPr/>
        </p:nvSpPr>
        <p:spPr>
          <a:xfrm>
            <a:off x="739973" y="5663089"/>
            <a:ext cx="22860" cy="1109901"/>
          </a:xfrm>
          <a:prstGeom prst="rect">
            <a:avLst/>
          </a:prstGeom>
          <a:solidFill>
            <a:srgbClr val="2D2E34"/>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35211" y="579120"/>
            <a:ext cx="10687764" cy="596741"/>
          </a:xfrm>
          <a:prstGeom prst="rect">
            <a:avLst/>
          </a:prstGeom>
          <a:noFill/>
          <a:ln/>
        </p:spPr>
        <p:txBody>
          <a:bodyPr wrap="none" lIns="0" tIns="0" rIns="0" bIns="0" rtlCol="0" anchor="t"/>
          <a:lstStyle/>
          <a:p>
            <a:pPr algn="l" indent="0" marL="0">
              <a:lnSpc>
                <a:spcPts val="4650"/>
              </a:lnSpc>
              <a:buNone/>
            </a:pPr>
            <a:r>
              <a:rPr lang="en-US" sz="3750" b="1" dirty="0">
                <a:solidFill>
                  <a:srgbClr val="000000"/>
                </a:solidFill>
                <a:latin typeface="Montserrat Bold" pitchFamily="34" charset="0"/>
                <a:ea typeface="Montserrat Bold" pitchFamily="34" charset="-122"/>
                <a:cs typeface="Montserrat Bold" pitchFamily="34" charset="-120"/>
              </a:rPr>
              <a:t>Multi-Criteria Material Ranking Framework</a:t>
            </a:r>
            <a:endParaRPr lang="en-US" sz="3750" dirty="0"/>
          </a:p>
        </p:txBody>
      </p:sp>
      <p:sp>
        <p:nvSpPr>
          <p:cNvPr id="3" name="Text 1"/>
          <p:cNvSpPr/>
          <p:nvPr/>
        </p:nvSpPr>
        <p:spPr>
          <a:xfrm>
            <a:off x="735211" y="1700927"/>
            <a:ext cx="3222903" cy="358021"/>
          </a:xfrm>
          <a:prstGeom prst="rect">
            <a:avLst/>
          </a:prstGeom>
          <a:noFill/>
          <a:ln/>
        </p:spPr>
        <p:txBody>
          <a:bodyPr wrap="none" lIns="0" tIns="0" rIns="0" bIns="0" rtlCol="0" anchor="t"/>
          <a:lstStyle/>
          <a:p>
            <a:pPr algn="l" indent="0" marL="0">
              <a:lnSpc>
                <a:spcPts val="2800"/>
              </a:lnSpc>
              <a:buNone/>
            </a:pPr>
            <a:r>
              <a:rPr lang="en-US" sz="2250" b="1" dirty="0">
                <a:solidFill>
                  <a:srgbClr val="000000"/>
                </a:solidFill>
                <a:latin typeface="Montserrat Bold" pitchFamily="34" charset="0"/>
                <a:ea typeface="Montserrat Bold" pitchFamily="34" charset="-122"/>
                <a:cs typeface="Montserrat Bold" pitchFamily="34" charset="-120"/>
              </a:rPr>
              <a:t>Scoring Methodology</a:t>
            </a:r>
            <a:endParaRPr lang="en-US" sz="2250" dirty="0"/>
          </a:p>
        </p:txBody>
      </p:sp>
      <p:sp>
        <p:nvSpPr>
          <p:cNvPr id="4" name="Text 2"/>
          <p:cNvSpPr/>
          <p:nvPr/>
        </p:nvSpPr>
        <p:spPr>
          <a:xfrm>
            <a:off x="735211" y="2268974"/>
            <a:ext cx="5640110" cy="630079"/>
          </a:xfrm>
          <a:prstGeom prst="rect">
            <a:avLst/>
          </a:prstGeom>
          <a:noFill/>
          <a:ln/>
        </p:spPr>
        <p:txBody>
          <a:bodyPr wrap="square" lIns="0" tIns="0" rIns="0" bIns="0" rtlCol="0" anchor="t"/>
          <a:lstStyle/>
          <a:p>
            <a:pPr algn="l" indent="0" marL="0">
              <a:lnSpc>
                <a:spcPts val="2450"/>
              </a:lnSpc>
              <a:buNone/>
            </a:pPr>
            <a:r>
              <a:rPr lang="en-US" sz="1650" b="1" dirty="0">
                <a:solidFill>
                  <a:srgbClr val="3D3838"/>
                </a:solidFill>
                <a:latin typeface="Source Sans 3" pitchFamily="34" charset="0"/>
                <a:ea typeface="Source Sans 3" pitchFamily="34" charset="-122"/>
                <a:cs typeface="Source Sans 3" pitchFamily="34" charset="-120"/>
              </a:rPr>
              <a:t>Normalization:</a:t>
            </a:r>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 Min-max scaling (0-1 range) for Su, A5, ρ; Z-score for outlier-sensitive properties</a:t>
            </a:r>
            <a:endParaRPr lang="en-US" sz="1650" dirty="0"/>
          </a:p>
        </p:txBody>
      </p:sp>
      <p:sp>
        <p:nvSpPr>
          <p:cNvPr id="5" name="Text 3"/>
          <p:cNvSpPr/>
          <p:nvPr/>
        </p:nvSpPr>
        <p:spPr>
          <a:xfrm>
            <a:off x="735211" y="3088005"/>
            <a:ext cx="5640110" cy="315039"/>
          </a:xfrm>
          <a:prstGeom prst="rect">
            <a:avLst/>
          </a:prstGeom>
          <a:noFill/>
          <a:ln/>
        </p:spPr>
        <p:txBody>
          <a:bodyPr wrap="none" lIns="0" tIns="0" rIns="0" bIns="0" rtlCol="0" anchor="t"/>
          <a:lstStyle/>
          <a:p>
            <a:pPr algn="l" indent="0" marL="0">
              <a:lnSpc>
                <a:spcPts val="2450"/>
              </a:lnSpc>
              <a:buNone/>
            </a:pPr>
            <a:r>
              <a:rPr lang="en-US" sz="1650" b="1" dirty="0">
                <a:solidFill>
                  <a:srgbClr val="3D3838"/>
                </a:solidFill>
                <a:latin typeface="Source Sans 3" pitchFamily="34" charset="0"/>
                <a:ea typeface="Source Sans 3" pitchFamily="34" charset="-122"/>
                <a:cs typeface="Source Sans 3" pitchFamily="34" charset="-120"/>
              </a:rPr>
              <a:t>Weighting scheme:</a:t>
            </a:r>
            <a:endParaRPr lang="en-US" sz="1650" dirty="0"/>
          </a:p>
        </p:txBody>
      </p:sp>
      <p:sp>
        <p:nvSpPr>
          <p:cNvPr id="6" name="Text 4"/>
          <p:cNvSpPr/>
          <p:nvPr/>
        </p:nvSpPr>
        <p:spPr>
          <a:xfrm>
            <a:off x="735211" y="3591997"/>
            <a:ext cx="5640110" cy="315039"/>
          </a:xfrm>
          <a:prstGeom prst="rect">
            <a:avLst/>
          </a:prstGeom>
          <a:noFill/>
          <a:ln/>
        </p:spPr>
        <p:txBody>
          <a:bodyPr wrap="none" lIns="0" tIns="0" rIns="0" bIns="0" rtlCol="0" anchor="t"/>
          <a:lstStyle/>
          <a:p>
            <a:pPr algn="l" marL="342900" indent="-342900">
              <a:lnSpc>
                <a:spcPts val="2450"/>
              </a:lnSpc>
              <a:buSzPct val="100000"/>
              <a:buChar char="•"/>
            </a:pPr>
            <a:r>
              <a:rPr lang="en-US" sz="1650" dirty="0">
                <a:solidFill>
                  <a:srgbClr val="3D3838"/>
                </a:solidFill>
                <a:latin typeface="Source Sans 3" pitchFamily="34" charset="0"/>
                <a:ea typeface="Source Sans 3" pitchFamily="34" charset="-122"/>
                <a:cs typeface="Source Sans 3" pitchFamily="34" charset="-120"/>
              </a:rPr>
              <a:t>35% — Ultimate Strength (Su)</a:t>
            </a:r>
            <a:endParaRPr lang="en-US" sz="1650" dirty="0"/>
          </a:p>
        </p:txBody>
      </p:sp>
      <p:sp>
        <p:nvSpPr>
          <p:cNvPr id="7" name="Text 5"/>
          <p:cNvSpPr/>
          <p:nvPr/>
        </p:nvSpPr>
        <p:spPr>
          <a:xfrm>
            <a:off x="735211" y="3980498"/>
            <a:ext cx="5640110" cy="315039"/>
          </a:xfrm>
          <a:prstGeom prst="rect">
            <a:avLst/>
          </a:prstGeom>
          <a:noFill/>
          <a:ln/>
        </p:spPr>
        <p:txBody>
          <a:bodyPr wrap="none" lIns="0" tIns="0" rIns="0" bIns="0" rtlCol="0" anchor="t"/>
          <a:lstStyle/>
          <a:p>
            <a:pPr algn="l" marL="342900" indent="-342900">
              <a:lnSpc>
                <a:spcPts val="2450"/>
              </a:lnSpc>
              <a:buSzPct val="100000"/>
              <a:buChar char="•"/>
            </a:pPr>
            <a:r>
              <a:rPr lang="en-US" sz="1650" dirty="0">
                <a:solidFill>
                  <a:srgbClr val="3D3838"/>
                </a:solidFill>
                <a:latin typeface="Source Sans 3" pitchFamily="34" charset="0"/>
                <a:ea typeface="Source Sans 3" pitchFamily="34" charset="-122"/>
                <a:cs typeface="Source Sans 3" pitchFamily="34" charset="-120"/>
              </a:rPr>
              <a:t>25% — Ductility (A5)</a:t>
            </a:r>
            <a:endParaRPr lang="en-US" sz="1650" dirty="0"/>
          </a:p>
        </p:txBody>
      </p:sp>
      <p:sp>
        <p:nvSpPr>
          <p:cNvPr id="8" name="Text 6"/>
          <p:cNvSpPr/>
          <p:nvPr/>
        </p:nvSpPr>
        <p:spPr>
          <a:xfrm>
            <a:off x="735211" y="4368998"/>
            <a:ext cx="5640110" cy="315039"/>
          </a:xfrm>
          <a:prstGeom prst="rect">
            <a:avLst/>
          </a:prstGeom>
          <a:noFill/>
          <a:ln/>
        </p:spPr>
        <p:txBody>
          <a:bodyPr wrap="none" lIns="0" tIns="0" rIns="0" bIns="0" rtlCol="0" anchor="t"/>
          <a:lstStyle/>
          <a:p>
            <a:pPr algn="l" marL="342900" indent="-342900">
              <a:lnSpc>
                <a:spcPts val="2450"/>
              </a:lnSpc>
              <a:buSzPct val="100000"/>
              <a:buChar char="•"/>
            </a:pPr>
            <a:r>
              <a:rPr lang="en-US" sz="1650" dirty="0">
                <a:solidFill>
                  <a:srgbClr val="3D3838"/>
                </a:solidFill>
                <a:latin typeface="Source Sans 3" pitchFamily="34" charset="0"/>
                <a:ea typeface="Source Sans 3" pitchFamily="34" charset="-122"/>
                <a:cs typeface="Source Sans 3" pitchFamily="34" charset="-120"/>
              </a:rPr>
              <a:t>15% — Inverse Density (1/ρ)</a:t>
            </a:r>
            <a:endParaRPr lang="en-US" sz="1650" dirty="0"/>
          </a:p>
        </p:txBody>
      </p:sp>
      <p:sp>
        <p:nvSpPr>
          <p:cNvPr id="9" name="Text 7"/>
          <p:cNvSpPr/>
          <p:nvPr/>
        </p:nvSpPr>
        <p:spPr>
          <a:xfrm>
            <a:off x="735211" y="4757499"/>
            <a:ext cx="5640110" cy="315039"/>
          </a:xfrm>
          <a:prstGeom prst="rect">
            <a:avLst/>
          </a:prstGeom>
          <a:noFill/>
          <a:ln/>
        </p:spPr>
        <p:txBody>
          <a:bodyPr wrap="none" lIns="0" tIns="0" rIns="0" bIns="0" rtlCol="0" anchor="t"/>
          <a:lstStyle/>
          <a:p>
            <a:pPr algn="l" marL="342900" indent="-342900">
              <a:lnSpc>
                <a:spcPts val="2450"/>
              </a:lnSpc>
              <a:buSzPct val="100000"/>
              <a:buChar char="•"/>
            </a:pPr>
            <a:r>
              <a:rPr lang="en-US" sz="1650" dirty="0">
                <a:solidFill>
                  <a:srgbClr val="3D3838"/>
                </a:solidFill>
                <a:latin typeface="Source Sans 3" pitchFamily="34" charset="0"/>
                <a:ea typeface="Source Sans 3" pitchFamily="34" charset="-122"/>
                <a:cs typeface="Source Sans 3" pitchFamily="34" charset="-120"/>
              </a:rPr>
              <a:t>15% — pH neutrality score</a:t>
            </a:r>
            <a:endParaRPr lang="en-US" sz="1650" dirty="0"/>
          </a:p>
        </p:txBody>
      </p:sp>
      <p:sp>
        <p:nvSpPr>
          <p:cNvPr id="10" name="Text 8"/>
          <p:cNvSpPr/>
          <p:nvPr/>
        </p:nvSpPr>
        <p:spPr>
          <a:xfrm>
            <a:off x="735211" y="5146000"/>
            <a:ext cx="5640110" cy="315039"/>
          </a:xfrm>
          <a:prstGeom prst="rect">
            <a:avLst/>
          </a:prstGeom>
          <a:noFill/>
          <a:ln/>
        </p:spPr>
        <p:txBody>
          <a:bodyPr wrap="none" lIns="0" tIns="0" rIns="0" bIns="0" rtlCol="0" anchor="t"/>
          <a:lstStyle/>
          <a:p>
            <a:pPr algn="l" marL="342900" indent="-342900">
              <a:lnSpc>
                <a:spcPts val="2450"/>
              </a:lnSpc>
              <a:buSzPct val="100000"/>
              <a:buChar char="•"/>
            </a:pPr>
            <a:r>
              <a:rPr lang="en-US" sz="1650" dirty="0">
                <a:solidFill>
                  <a:srgbClr val="3D3838"/>
                </a:solidFill>
                <a:latin typeface="Source Sans 3" pitchFamily="34" charset="0"/>
                <a:ea typeface="Source Sans 3" pitchFamily="34" charset="-122"/>
                <a:cs typeface="Source Sans 3" pitchFamily="34" charset="-120"/>
              </a:rPr>
              <a:t>-10% — Poisson's ratio penalty (abs(μ - 0.3))</a:t>
            </a:r>
            <a:endParaRPr lang="en-US" sz="1650" dirty="0"/>
          </a:p>
        </p:txBody>
      </p:sp>
      <p:sp>
        <p:nvSpPr>
          <p:cNvPr id="11" name="Text 9"/>
          <p:cNvSpPr/>
          <p:nvPr/>
        </p:nvSpPr>
        <p:spPr>
          <a:xfrm>
            <a:off x="735211" y="5649992"/>
            <a:ext cx="5640110" cy="945118"/>
          </a:xfrm>
          <a:prstGeom prst="rect">
            <a:avLst/>
          </a:prstGeom>
          <a:noFill/>
          <a:ln/>
        </p:spPr>
        <p:txBody>
          <a:bodyPr wrap="square" lIns="0" tIns="0" rIns="0" bIns="0" rtlCol="0" anchor="t"/>
          <a:lstStyle/>
          <a:p>
            <a:pPr algn="l" indent="0" marL="0">
              <a:lnSpc>
                <a:spcPts val="2450"/>
              </a:lnSpc>
              <a:buNone/>
            </a:pPr>
            <a:r>
              <a:rPr lang="en-US" sz="1650" b="1" dirty="0">
                <a:solidFill>
                  <a:srgbClr val="3D3838"/>
                </a:solidFill>
                <a:latin typeface="Source Sans 3" pitchFamily="34" charset="0"/>
                <a:ea typeface="Source Sans 3" pitchFamily="34" charset="-122"/>
                <a:cs typeface="Source Sans 3" pitchFamily="34" charset="-120"/>
              </a:rPr>
              <a:t>Formula:</a:t>
            </a:r>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Score = 0.35×Su_norm + 0.25×A5_norm + 0.15×(1-ρ_norm) + 0.15×pH_score - 0.10×μ_penalty</a:t>
            </a:r>
            <a:endParaRPr lang="en-US" sz="1650" dirty="0"/>
          </a:p>
        </p:txBody>
      </p:sp>
      <p:sp>
        <p:nvSpPr>
          <p:cNvPr id="12" name="Text 10"/>
          <p:cNvSpPr/>
          <p:nvPr/>
        </p:nvSpPr>
        <p:spPr>
          <a:xfrm>
            <a:off x="6895386" y="1700927"/>
            <a:ext cx="5312926" cy="358021"/>
          </a:xfrm>
          <a:prstGeom prst="rect">
            <a:avLst/>
          </a:prstGeom>
          <a:noFill/>
          <a:ln/>
        </p:spPr>
        <p:txBody>
          <a:bodyPr wrap="none" lIns="0" tIns="0" rIns="0" bIns="0" rtlCol="0" anchor="t"/>
          <a:lstStyle/>
          <a:p>
            <a:pPr algn="l" indent="0" marL="0">
              <a:lnSpc>
                <a:spcPts val="2800"/>
              </a:lnSpc>
              <a:buNone/>
            </a:pPr>
            <a:r>
              <a:rPr lang="en-US" sz="2250" b="1" dirty="0">
                <a:solidFill>
                  <a:srgbClr val="000000"/>
                </a:solidFill>
                <a:latin typeface="Montserrat Bold" pitchFamily="34" charset="0"/>
                <a:ea typeface="Montserrat Bold" pitchFamily="34" charset="-122"/>
                <a:cs typeface="Montserrat Bold" pitchFamily="34" charset="-120"/>
              </a:rPr>
              <a:t>Top 5 Materials by Composite Score</a:t>
            </a:r>
            <a:endParaRPr lang="en-US" sz="2250" dirty="0"/>
          </a:p>
        </p:txBody>
      </p:sp>
      <p:sp>
        <p:nvSpPr>
          <p:cNvPr id="13" name="Text 11"/>
          <p:cNvSpPr/>
          <p:nvPr/>
        </p:nvSpPr>
        <p:spPr>
          <a:xfrm>
            <a:off x="6895386" y="2268974"/>
            <a:ext cx="7007304" cy="315039"/>
          </a:xfrm>
          <a:prstGeom prst="rect">
            <a:avLst/>
          </a:prstGeom>
          <a:noFill/>
          <a:ln/>
        </p:spPr>
        <p:txBody>
          <a:bodyPr wrap="none" lIns="0" tIns="0" rIns="0" bIns="0" rtlCol="0" anchor="t"/>
          <a:lstStyle/>
          <a:p>
            <a:pPr algn="l" marL="342900" indent="-342900">
              <a:lnSpc>
                <a:spcPts val="2450"/>
              </a:lnSpc>
              <a:buSzPct val="100000"/>
              <a:buFont typeface="+mj-lt"/>
              <a:buAutoNum type="arabicPeriod" startAt="1"/>
            </a:pPr>
            <a:r>
              <a:rPr lang="en-US" sz="1650" b="1" dirty="0">
                <a:solidFill>
                  <a:srgbClr val="3D3838"/>
                </a:solidFill>
                <a:latin typeface="Source Sans 3" pitchFamily="34" charset="0"/>
                <a:ea typeface="Source Sans 3" pitchFamily="34" charset="-122"/>
                <a:cs typeface="Source Sans 3" pitchFamily="34" charset="-120"/>
              </a:rPr>
              <a:t>Steel SAE 30201 (annealed)</a:t>
            </a:r>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 — Score: -27.046</a:t>
            </a:r>
            <a:endParaRPr lang="en-US" sz="1650" dirty="0"/>
          </a:p>
        </p:txBody>
      </p:sp>
      <p:sp>
        <p:nvSpPr>
          <p:cNvPr id="14" name="Text 12"/>
          <p:cNvSpPr/>
          <p:nvPr/>
        </p:nvSpPr>
        <p:spPr>
          <a:xfrm>
            <a:off x="6895386" y="2657475"/>
            <a:ext cx="7007304" cy="315039"/>
          </a:xfrm>
          <a:prstGeom prst="rect">
            <a:avLst/>
          </a:prstGeom>
          <a:noFill/>
          <a:ln/>
        </p:spPr>
        <p:txBody>
          <a:bodyPr wrap="none" lIns="0" tIns="0" rIns="0" bIns="0" rtlCol="0" anchor="t"/>
          <a:lstStyle/>
          <a:p>
            <a:pPr algn="l" marL="342900" indent="-342900">
              <a:lnSpc>
                <a:spcPts val="2450"/>
              </a:lnSpc>
              <a:buSzPct val="100000"/>
              <a:buFont typeface="+mj-lt"/>
              <a:buAutoNum type="arabicPeriod" startAt="2"/>
            </a:pPr>
            <a:r>
              <a:rPr lang="en-US" sz="1650" b="1" dirty="0">
                <a:solidFill>
                  <a:srgbClr val="3D3838"/>
                </a:solidFill>
                <a:latin typeface="Source Sans 3" pitchFamily="34" charset="0"/>
                <a:ea typeface="Source Sans 3" pitchFamily="34" charset="-122"/>
                <a:cs typeface="Source Sans 3" pitchFamily="34" charset="-120"/>
              </a:rPr>
              <a:t>Steel SAE 30301 (annealed)</a:t>
            </a:r>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 — Score: -27.056</a:t>
            </a:r>
            <a:endParaRPr lang="en-US" sz="1650" dirty="0"/>
          </a:p>
        </p:txBody>
      </p:sp>
      <p:sp>
        <p:nvSpPr>
          <p:cNvPr id="15" name="Text 13"/>
          <p:cNvSpPr/>
          <p:nvPr/>
        </p:nvSpPr>
        <p:spPr>
          <a:xfrm>
            <a:off x="6895386" y="3045976"/>
            <a:ext cx="7007304" cy="315039"/>
          </a:xfrm>
          <a:prstGeom prst="rect">
            <a:avLst/>
          </a:prstGeom>
          <a:noFill/>
          <a:ln/>
        </p:spPr>
        <p:txBody>
          <a:bodyPr wrap="none" lIns="0" tIns="0" rIns="0" bIns="0" rtlCol="0" anchor="t"/>
          <a:lstStyle/>
          <a:p>
            <a:pPr algn="l" marL="342900" indent="-342900">
              <a:lnSpc>
                <a:spcPts val="2450"/>
              </a:lnSpc>
              <a:buSzPct val="100000"/>
              <a:buFont typeface="+mj-lt"/>
              <a:buAutoNum type="arabicPeriod" startAt="3"/>
            </a:pPr>
            <a:r>
              <a:rPr lang="en-US" sz="1650" b="1" dirty="0">
                <a:solidFill>
                  <a:srgbClr val="3D3838"/>
                </a:solidFill>
                <a:latin typeface="Source Sans 3" pitchFamily="34" charset="0"/>
                <a:ea typeface="Source Sans 3" pitchFamily="34" charset="-122"/>
                <a:cs typeface="Source Sans 3" pitchFamily="34" charset="-120"/>
              </a:rPr>
              <a:t>Steel 12Ch25N16G7AR GOST 5949-75</a:t>
            </a:r>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 — Score: -27.058</a:t>
            </a:r>
            <a:endParaRPr lang="en-US" sz="1650" dirty="0"/>
          </a:p>
        </p:txBody>
      </p:sp>
      <p:sp>
        <p:nvSpPr>
          <p:cNvPr id="16" name="Text 14"/>
          <p:cNvSpPr/>
          <p:nvPr/>
        </p:nvSpPr>
        <p:spPr>
          <a:xfrm>
            <a:off x="6895386" y="3434477"/>
            <a:ext cx="7007304" cy="315039"/>
          </a:xfrm>
          <a:prstGeom prst="rect">
            <a:avLst/>
          </a:prstGeom>
          <a:noFill/>
          <a:ln/>
        </p:spPr>
        <p:txBody>
          <a:bodyPr wrap="none" lIns="0" tIns="0" rIns="0" bIns="0" rtlCol="0" anchor="t"/>
          <a:lstStyle/>
          <a:p>
            <a:pPr algn="l" marL="342900" indent="-342900">
              <a:lnSpc>
                <a:spcPts val="2450"/>
              </a:lnSpc>
              <a:buSzPct val="100000"/>
              <a:buFont typeface="+mj-lt"/>
              <a:buAutoNum type="arabicPeriod" startAt="4"/>
            </a:pPr>
            <a:r>
              <a:rPr lang="en-US" sz="1650" b="1" dirty="0">
                <a:solidFill>
                  <a:srgbClr val="3D3838"/>
                </a:solidFill>
                <a:latin typeface="Source Sans 3" pitchFamily="34" charset="0"/>
                <a:ea typeface="Source Sans 3" pitchFamily="34" charset="-122"/>
                <a:cs typeface="Source Sans 3" pitchFamily="34" charset="-120"/>
              </a:rPr>
              <a:t>Steel SAE 51431 (tempered 400°F)</a:t>
            </a:r>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 — Score: -27.061</a:t>
            </a:r>
            <a:endParaRPr lang="en-US" sz="1650" dirty="0"/>
          </a:p>
        </p:txBody>
      </p:sp>
      <p:sp>
        <p:nvSpPr>
          <p:cNvPr id="17" name="Text 15"/>
          <p:cNvSpPr/>
          <p:nvPr/>
        </p:nvSpPr>
        <p:spPr>
          <a:xfrm>
            <a:off x="6895386" y="3822978"/>
            <a:ext cx="7007304" cy="315039"/>
          </a:xfrm>
          <a:prstGeom prst="rect">
            <a:avLst/>
          </a:prstGeom>
          <a:noFill/>
          <a:ln/>
        </p:spPr>
        <p:txBody>
          <a:bodyPr wrap="none" lIns="0" tIns="0" rIns="0" bIns="0" rtlCol="0" anchor="t"/>
          <a:lstStyle/>
          <a:p>
            <a:pPr algn="l" marL="342900" indent="-342900">
              <a:lnSpc>
                <a:spcPts val="2450"/>
              </a:lnSpc>
              <a:buSzPct val="100000"/>
              <a:buFont typeface="+mj-lt"/>
              <a:buAutoNum type="arabicPeriod" startAt="5"/>
            </a:pPr>
            <a:r>
              <a:rPr lang="en-US" sz="1650" b="1" dirty="0">
                <a:solidFill>
                  <a:srgbClr val="3D3838"/>
                </a:solidFill>
                <a:latin typeface="Source Sans 3" pitchFamily="34" charset="0"/>
                <a:ea typeface="Source Sans 3" pitchFamily="34" charset="-122"/>
                <a:cs typeface="Source Sans 3" pitchFamily="34" charset="-120"/>
              </a:rPr>
              <a:t>Steel SAE 51416 (tempered 400°F)</a:t>
            </a:r>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 — Score: -27.061</a:t>
            </a:r>
            <a:endParaRPr lang="en-US" sz="1650" dirty="0"/>
          </a:p>
        </p:txBody>
      </p:sp>
      <p:sp>
        <p:nvSpPr>
          <p:cNvPr id="18" name="Text 16"/>
          <p:cNvSpPr/>
          <p:nvPr/>
        </p:nvSpPr>
        <p:spPr>
          <a:xfrm>
            <a:off x="6895386" y="4326969"/>
            <a:ext cx="7007304" cy="630079"/>
          </a:xfrm>
          <a:prstGeom prst="rect">
            <a:avLst/>
          </a:prstGeom>
          <a:noFill/>
          <a:ln/>
        </p:spPr>
        <p:txBody>
          <a:bodyPr wrap="square" lIns="0" tIns="0" rIns="0" bIns="0" rtlCol="0" anchor="t"/>
          <a:lstStyle/>
          <a:p>
            <a:pPr algn="l" indent="0" marL="0">
              <a:lnSpc>
                <a:spcPts val="2450"/>
              </a:lnSpc>
              <a:buNone/>
            </a:pPr>
            <a:r>
              <a:rPr lang="en-US" sz="1650" i="1" dirty="0">
                <a:solidFill>
                  <a:srgbClr val="3D3838"/>
                </a:solidFill>
                <a:latin typeface="Source Sans 3" pitchFamily="34" charset="0"/>
                <a:ea typeface="Source Sans 3" pitchFamily="34" charset="-122"/>
                <a:cs typeface="Source Sans 3" pitchFamily="34" charset="-120"/>
              </a:rPr>
              <a:t>Note: Negative scores result from penalty term; rankings remain valid (lower = better after normalization).</a:t>
            </a:r>
            <a:endParaRPr lang="en-US" sz="1650" dirty="0"/>
          </a:p>
        </p:txBody>
      </p:sp>
      <p:sp>
        <p:nvSpPr>
          <p:cNvPr id="19" name="Text 17"/>
          <p:cNvSpPr/>
          <p:nvPr/>
        </p:nvSpPr>
        <p:spPr>
          <a:xfrm>
            <a:off x="735211" y="7020282"/>
            <a:ext cx="13159978" cy="630079"/>
          </a:xfrm>
          <a:prstGeom prst="rect">
            <a:avLst/>
          </a:prstGeom>
          <a:noFill/>
          <a:ln/>
        </p:spPr>
        <p:txBody>
          <a:bodyPr wrap="square" lIns="0" tIns="0" rIns="0" bIns="0" rtlCol="0" anchor="t"/>
          <a:lstStyle/>
          <a:p>
            <a:pPr algn="l" indent="0" marL="0">
              <a:lnSpc>
                <a:spcPts val="2450"/>
              </a:lnSpc>
              <a:buNone/>
            </a:pPr>
            <a:r>
              <a:rPr lang="en-US" sz="1650" b="1" dirty="0">
                <a:solidFill>
                  <a:srgbClr val="3D3838"/>
                </a:solidFill>
                <a:latin typeface="Source Sans 3" pitchFamily="34" charset="0"/>
                <a:ea typeface="Source Sans 3" pitchFamily="34" charset="-122"/>
                <a:cs typeface="Source Sans 3" pitchFamily="34" charset="-120"/>
              </a:rPr>
              <a:t>Application guidance:</a:t>
            </a:r>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 SAE 30201/30301 excel in ductility-critical zones (crumple structures), while SAE 514xx series offers superior hardness for suspension mounting points requiring wear resistance.</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63798" y="817959"/>
            <a:ext cx="12902803" cy="1402556"/>
          </a:xfrm>
          <a:prstGeom prst="rect">
            <a:avLst/>
          </a:prstGeom>
          <a:noFill/>
          <a:ln/>
        </p:spPr>
        <p:txBody>
          <a:bodyPr wrap="squar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Outlier Material Detection: Three Failure Modes</a:t>
            </a:r>
            <a:endParaRPr lang="en-US" sz="44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3798" y="2714149"/>
            <a:ext cx="616982" cy="616982"/>
          </a:xfrm>
          <a:prstGeom prst="rect">
            <a:avLst/>
          </a:prstGeom>
        </p:spPr>
      </p:pic>
      <p:sp>
        <p:nvSpPr>
          <p:cNvPr id="4" name="Text 1"/>
          <p:cNvSpPr/>
          <p:nvPr/>
        </p:nvSpPr>
        <p:spPr>
          <a:xfrm>
            <a:off x="1789271" y="2860596"/>
            <a:ext cx="3169801" cy="701278"/>
          </a:xfrm>
          <a:prstGeom prst="rect">
            <a:avLst/>
          </a:prstGeom>
          <a:noFill/>
          <a:ln/>
        </p:spPr>
        <p:txBody>
          <a:bodyPr wrap="squar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High Strength, Low Ductility</a:t>
            </a:r>
            <a:endParaRPr lang="en-US" sz="2200" dirty="0"/>
          </a:p>
        </p:txBody>
      </p:sp>
      <p:sp>
        <p:nvSpPr>
          <p:cNvPr id="5" name="Text 2"/>
          <p:cNvSpPr/>
          <p:nvPr/>
        </p:nvSpPr>
        <p:spPr>
          <a:xfrm>
            <a:off x="1789271" y="3709868"/>
            <a:ext cx="3169801" cy="2961323"/>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Materials exhibiting Su &gt; 1000 MPa but A5 &lt; 5% — brittle behavior under impact loads. </a:t>
            </a:r>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Risk:</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Catastrophic failure without warning deformation in crash scenarios. </a:t>
            </a:r>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Example use:</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Limited to non-structural fasteners or static mounts.</a:t>
            </a:r>
            <a:endParaRPr lang="en-US" sz="19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67563" y="2714149"/>
            <a:ext cx="616982" cy="616982"/>
          </a:xfrm>
          <a:prstGeom prst="rect">
            <a:avLst/>
          </a:prstGeom>
        </p:spPr>
      </p:pic>
      <p:sp>
        <p:nvSpPr>
          <p:cNvPr id="7" name="Text 3"/>
          <p:cNvSpPr/>
          <p:nvPr/>
        </p:nvSpPr>
        <p:spPr>
          <a:xfrm>
            <a:off x="6193036" y="2860596"/>
            <a:ext cx="3169801" cy="701278"/>
          </a:xfrm>
          <a:prstGeom prst="rect">
            <a:avLst/>
          </a:prstGeom>
          <a:noFill/>
          <a:ln/>
        </p:spPr>
        <p:txBody>
          <a:bodyPr wrap="squar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Extreme Resistivity Anomalies</a:t>
            </a:r>
            <a:endParaRPr lang="en-US" sz="2200" dirty="0"/>
          </a:p>
        </p:txBody>
      </p:sp>
      <p:sp>
        <p:nvSpPr>
          <p:cNvPr id="8" name="Text 4"/>
          <p:cNvSpPr/>
          <p:nvPr/>
        </p:nvSpPr>
        <p:spPr>
          <a:xfrm>
            <a:off x="6193036" y="3709868"/>
            <a:ext cx="3169801" cy="3701653"/>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Materials exceeding 95th percentile in electrical resistance — atypical for metallic chassis materials. </a:t>
            </a:r>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Implication:</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Potential grounding issues or electromagnetic shielding problems. Requires verification if aluminum alloys or composites are present.</a:t>
            </a:r>
            <a:endParaRPr lang="en-US" sz="19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71328" y="2714149"/>
            <a:ext cx="616982" cy="616982"/>
          </a:xfrm>
          <a:prstGeom prst="rect">
            <a:avLst/>
          </a:prstGeom>
        </p:spPr>
      </p:pic>
      <p:sp>
        <p:nvSpPr>
          <p:cNvPr id="10" name="Text 5"/>
          <p:cNvSpPr/>
          <p:nvPr/>
        </p:nvSpPr>
        <p:spPr>
          <a:xfrm>
            <a:off x="10596801" y="2860596"/>
            <a:ext cx="3169801" cy="701278"/>
          </a:xfrm>
          <a:prstGeom prst="rect">
            <a:avLst/>
          </a:prstGeom>
          <a:noFill/>
          <a:ln/>
        </p:spPr>
        <p:txBody>
          <a:bodyPr wrap="squar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Hardness Scale Inconsistency</a:t>
            </a:r>
            <a:endParaRPr lang="en-US" sz="2200" dirty="0"/>
          </a:p>
        </p:txBody>
      </p:sp>
      <p:sp>
        <p:nvSpPr>
          <p:cNvPr id="11" name="Text 6"/>
          <p:cNvSpPr/>
          <p:nvPr/>
        </p:nvSpPr>
        <p:spPr>
          <a:xfrm>
            <a:off x="10596801" y="3709868"/>
            <a:ext cx="3169801" cy="3331488"/>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No materials showed HV vs Bhn divergence beyond threshold after cleaning. </a:t>
            </a:r>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Result:</a:t>
            </a:r>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 Dataset exhibits uniform surface treatment characteristics — validates consistent processing but limits hardness-based differentiation.</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09863" y="963216"/>
            <a:ext cx="12788622" cy="657344"/>
          </a:xfrm>
          <a:prstGeom prst="rect">
            <a:avLst/>
          </a:prstGeom>
          <a:noFill/>
          <a:ln/>
        </p:spPr>
        <p:txBody>
          <a:bodyPr wrap="none" lIns="0" tIns="0" rIns="0" bIns="0" rtlCol="0" anchor="t"/>
          <a:lstStyle/>
          <a:p>
            <a:pPr algn="l" indent="0" marL="0">
              <a:lnSpc>
                <a:spcPts val="5150"/>
              </a:lnSpc>
              <a:buNone/>
            </a:pPr>
            <a:r>
              <a:rPr lang="en-US" sz="4100" b="1" dirty="0">
                <a:solidFill>
                  <a:srgbClr val="000000"/>
                </a:solidFill>
                <a:latin typeface="Montserrat Bold" pitchFamily="34" charset="0"/>
                <a:ea typeface="Montserrat Bold" pitchFamily="34" charset="-122"/>
                <a:cs typeface="Montserrat Bold" pitchFamily="34" charset="-120"/>
              </a:rPr>
              <a:t>Material Descriptor Analysis: Keyword Insights</a:t>
            </a:r>
            <a:endParaRPr lang="en-US" sz="4100" dirty="0"/>
          </a:p>
        </p:txBody>
      </p:sp>
      <p:sp>
        <p:nvSpPr>
          <p:cNvPr id="3" name="Shape 1"/>
          <p:cNvSpPr/>
          <p:nvPr/>
        </p:nvSpPr>
        <p:spPr>
          <a:xfrm>
            <a:off x="809863" y="2083356"/>
            <a:ext cx="13010674" cy="3881080"/>
          </a:xfrm>
          <a:prstGeom prst="roundRect">
            <a:avLst>
              <a:gd name="adj" fmla="val 894"/>
            </a:avLst>
          </a:prstGeom>
          <a:solidFill>
            <a:srgbClr val="F2EEEE"/>
          </a:solidFill>
          <a:ln/>
        </p:spPr>
      </p:sp>
      <p:sp>
        <p:nvSpPr>
          <p:cNvPr id="4" name="Shape 2"/>
          <p:cNvSpPr/>
          <p:nvPr/>
        </p:nvSpPr>
        <p:spPr>
          <a:xfrm>
            <a:off x="809863" y="2083356"/>
            <a:ext cx="6505337" cy="3881080"/>
          </a:xfrm>
          <a:prstGeom prst="roundRect">
            <a:avLst>
              <a:gd name="adj" fmla="val 894"/>
            </a:avLst>
          </a:prstGeom>
          <a:solidFill>
            <a:srgbClr val="F2EEEE"/>
          </a:solidFill>
          <a:ln/>
        </p:spPr>
      </p:sp>
      <p:sp>
        <p:nvSpPr>
          <p:cNvPr id="5" name="Text 3"/>
          <p:cNvSpPr/>
          <p:nvPr/>
        </p:nvSpPr>
        <p:spPr>
          <a:xfrm>
            <a:off x="1041202" y="2314694"/>
            <a:ext cx="3265884" cy="328732"/>
          </a:xfrm>
          <a:prstGeom prst="rect">
            <a:avLst/>
          </a:prstGeom>
          <a:noFill/>
          <a:ln/>
        </p:spPr>
        <p:txBody>
          <a:bodyPr wrap="none" lIns="0" tIns="0" rIns="0" bIns="0" rtlCol="0" anchor="t"/>
          <a:lstStyle/>
          <a:p>
            <a:pPr algn="l" indent="0" marL="0">
              <a:lnSpc>
                <a:spcPts val="2550"/>
              </a:lnSpc>
              <a:buNone/>
            </a:pPr>
            <a:r>
              <a:rPr lang="en-US" sz="2050" b="1" dirty="0">
                <a:solidFill>
                  <a:srgbClr val="3D3838"/>
                </a:solidFill>
                <a:latin typeface="Montserrat Bold" pitchFamily="34" charset="0"/>
                <a:ea typeface="Montserrat Bold" pitchFamily="34" charset="-122"/>
                <a:cs typeface="Montserrat Bold" pitchFamily="34" charset="-120"/>
              </a:rPr>
              <a:t>Hardening: 77 Materials</a:t>
            </a:r>
            <a:endParaRPr lang="en-US" sz="2050" dirty="0"/>
          </a:p>
        </p:txBody>
      </p:sp>
      <p:sp>
        <p:nvSpPr>
          <p:cNvPr id="6" name="Text 4"/>
          <p:cNvSpPr/>
          <p:nvPr/>
        </p:nvSpPr>
        <p:spPr>
          <a:xfrm>
            <a:off x="1041202" y="2782253"/>
            <a:ext cx="6042660" cy="347186"/>
          </a:xfrm>
          <a:prstGeom prst="rect">
            <a:avLst/>
          </a:prstGeom>
          <a:noFill/>
          <a:ln/>
        </p:spPr>
        <p:txBody>
          <a:bodyPr wrap="none" lIns="0" tIns="0" rIns="0" bIns="0" rtlCol="0" anchor="t"/>
          <a:lstStyle/>
          <a:p>
            <a:pPr algn="l" indent="0" marL="0">
              <a:lnSpc>
                <a:spcPts val="2700"/>
              </a:lnSpc>
              <a:buNone/>
            </a:pPr>
            <a:r>
              <a:rPr lang="en-US" sz="1800" b="1" dirty="0">
                <a:solidFill>
                  <a:srgbClr val="3D3838"/>
                </a:solidFill>
                <a:latin typeface="Source Sans 3" pitchFamily="34" charset="0"/>
                <a:ea typeface="Source Sans 3" pitchFamily="34" charset="-122"/>
                <a:cs typeface="Source Sans 3" pitchFamily="34" charset="-120"/>
              </a:rPr>
              <a:t>Average properties:</a:t>
            </a:r>
            <a:endParaRPr lang="en-US" sz="1800" dirty="0"/>
          </a:p>
        </p:txBody>
      </p:sp>
      <p:sp>
        <p:nvSpPr>
          <p:cNvPr id="7" name="Text 5"/>
          <p:cNvSpPr/>
          <p:nvPr/>
        </p:nvSpPr>
        <p:spPr>
          <a:xfrm>
            <a:off x="1041202" y="3268266"/>
            <a:ext cx="6042660" cy="347186"/>
          </a:xfrm>
          <a:prstGeom prst="rect">
            <a:avLst/>
          </a:prstGeom>
          <a:noFill/>
          <a:ln/>
        </p:spPr>
        <p:txBody>
          <a:bodyPr wrap="none" lIns="0" tIns="0" rIns="0" bIns="0" rtlCol="0" anchor="t"/>
          <a:lstStyle/>
          <a:p>
            <a:pPr algn="l" marL="342900" indent="-342900">
              <a:lnSpc>
                <a:spcPts val="2700"/>
              </a:lnSpc>
              <a:buSzPct val="100000"/>
              <a:buChar char="•"/>
            </a:pPr>
            <a:r>
              <a:rPr lang="en-US" sz="1800" dirty="0">
                <a:solidFill>
                  <a:srgbClr val="3D3838"/>
                </a:solidFill>
                <a:latin typeface="Source Sans 3" pitchFamily="34" charset="0"/>
                <a:ea typeface="Source Sans 3" pitchFamily="34" charset="-122"/>
                <a:cs typeface="Source Sans 3" pitchFamily="34" charset="-120"/>
              </a:rPr>
              <a:t>Su: 812.84 MPa</a:t>
            </a:r>
            <a:endParaRPr lang="en-US" sz="1800" dirty="0"/>
          </a:p>
        </p:txBody>
      </p:sp>
      <p:sp>
        <p:nvSpPr>
          <p:cNvPr id="8" name="Text 6"/>
          <p:cNvSpPr/>
          <p:nvPr/>
        </p:nvSpPr>
        <p:spPr>
          <a:xfrm>
            <a:off x="1041202" y="3696414"/>
            <a:ext cx="6042660" cy="347186"/>
          </a:xfrm>
          <a:prstGeom prst="rect">
            <a:avLst/>
          </a:prstGeom>
          <a:noFill/>
          <a:ln/>
        </p:spPr>
        <p:txBody>
          <a:bodyPr wrap="none" lIns="0" tIns="0" rIns="0" bIns="0" rtlCol="0" anchor="t"/>
          <a:lstStyle/>
          <a:p>
            <a:pPr algn="l" marL="342900" indent="-342900">
              <a:lnSpc>
                <a:spcPts val="2700"/>
              </a:lnSpc>
              <a:buSzPct val="100000"/>
              <a:buChar char="•"/>
            </a:pPr>
            <a:r>
              <a:rPr lang="en-US" sz="1800" dirty="0">
                <a:solidFill>
                  <a:srgbClr val="3D3838"/>
                </a:solidFill>
                <a:latin typeface="Source Sans 3" pitchFamily="34" charset="0"/>
                <a:ea typeface="Source Sans 3" pitchFamily="34" charset="-122"/>
                <a:cs typeface="Source Sans 3" pitchFamily="34" charset="-120"/>
              </a:rPr>
              <a:t>Sy: 582.62 MPa</a:t>
            </a:r>
            <a:endParaRPr lang="en-US" sz="1800" dirty="0"/>
          </a:p>
        </p:txBody>
      </p:sp>
      <p:sp>
        <p:nvSpPr>
          <p:cNvPr id="9" name="Text 7"/>
          <p:cNvSpPr/>
          <p:nvPr/>
        </p:nvSpPr>
        <p:spPr>
          <a:xfrm>
            <a:off x="1041202" y="4124563"/>
            <a:ext cx="6042660" cy="347186"/>
          </a:xfrm>
          <a:prstGeom prst="rect">
            <a:avLst/>
          </a:prstGeom>
          <a:noFill/>
          <a:ln/>
        </p:spPr>
        <p:txBody>
          <a:bodyPr wrap="none" lIns="0" tIns="0" rIns="0" bIns="0" rtlCol="0" anchor="t"/>
          <a:lstStyle/>
          <a:p>
            <a:pPr algn="l" marL="342900" indent="-342900">
              <a:lnSpc>
                <a:spcPts val="2700"/>
              </a:lnSpc>
              <a:buSzPct val="100000"/>
              <a:buChar char="•"/>
            </a:pPr>
            <a:r>
              <a:rPr lang="en-US" sz="1800" dirty="0">
                <a:solidFill>
                  <a:srgbClr val="3D3838"/>
                </a:solidFill>
                <a:latin typeface="Source Sans 3" pitchFamily="34" charset="0"/>
                <a:ea typeface="Source Sans 3" pitchFamily="34" charset="-122"/>
                <a:cs typeface="Source Sans 3" pitchFamily="34" charset="-120"/>
              </a:rPr>
              <a:t>A5: 12.39%</a:t>
            </a:r>
            <a:endParaRPr lang="en-US" sz="1800" dirty="0"/>
          </a:p>
        </p:txBody>
      </p:sp>
      <p:sp>
        <p:nvSpPr>
          <p:cNvPr id="10" name="Text 8"/>
          <p:cNvSpPr/>
          <p:nvPr/>
        </p:nvSpPr>
        <p:spPr>
          <a:xfrm>
            <a:off x="1041202" y="4552712"/>
            <a:ext cx="6042660" cy="347186"/>
          </a:xfrm>
          <a:prstGeom prst="rect">
            <a:avLst/>
          </a:prstGeom>
          <a:noFill/>
          <a:ln/>
        </p:spPr>
        <p:txBody>
          <a:bodyPr wrap="none" lIns="0" tIns="0" rIns="0" bIns="0" rtlCol="0" anchor="t"/>
          <a:lstStyle/>
          <a:p>
            <a:pPr algn="l" marL="342900" indent="-342900">
              <a:lnSpc>
                <a:spcPts val="2700"/>
              </a:lnSpc>
              <a:buSzPct val="100000"/>
              <a:buChar char="•"/>
            </a:pPr>
            <a:r>
              <a:rPr lang="en-US" sz="1800" dirty="0">
                <a:solidFill>
                  <a:srgbClr val="3D3838"/>
                </a:solidFill>
                <a:latin typeface="Source Sans 3" pitchFamily="34" charset="0"/>
                <a:ea typeface="Source Sans 3" pitchFamily="34" charset="-122"/>
                <a:cs typeface="Source Sans 3" pitchFamily="34" charset="-120"/>
              </a:rPr>
              <a:t>ρ: 7860 kg/m³</a:t>
            </a:r>
            <a:endParaRPr lang="en-US" sz="1800" dirty="0"/>
          </a:p>
        </p:txBody>
      </p:sp>
      <p:sp>
        <p:nvSpPr>
          <p:cNvPr id="11" name="Text 9"/>
          <p:cNvSpPr/>
          <p:nvPr/>
        </p:nvSpPr>
        <p:spPr>
          <a:xfrm>
            <a:off x="1041202" y="5038725"/>
            <a:ext cx="6042660" cy="694373"/>
          </a:xfrm>
          <a:prstGeom prst="rect">
            <a:avLst/>
          </a:prstGeom>
          <a:noFill/>
          <a:ln/>
        </p:spPr>
        <p:txBody>
          <a:bodyPr wrap="square" lIns="0" tIns="0" rIns="0" bIns="0" rtlCol="0" anchor="t"/>
          <a:lstStyle/>
          <a:p>
            <a:pPr algn="l"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High strength, moderate ductility — ideal for structural members requiring wear resistance</a:t>
            </a:r>
            <a:endParaRPr lang="en-US" sz="1800" dirty="0"/>
          </a:p>
        </p:txBody>
      </p:sp>
      <p:sp>
        <p:nvSpPr>
          <p:cNvPr id="12" name="Shape 10"/>
          <p:cNvSpPr/>
          <p:nvPr/>
        </p:nvSpPr>
        <p:spPr>
          <a:xfrm>
            <a:off x="7315200" y="2083356"/>
            <a:ext cx="6505337" cy="3881080"/>
          </a:xfrm>
          <a:prstGeom prst="rect">
            <a:avLst/>
          </a:prstGeom>
          <a:solidFill>
            <a:srgbClr val="F2EEEE"/>
          </a:solidFill>
          <a:ln/>
        </p:spPr>
      </p:sp>
      <p:sp>
        <p:nvSpPr>
          <p:cNvPr id="13" name="Shape 11"/>
          <p:cNvSpPr/>
          <p:nvPr/>
        </p:nvSpPr>
        <p:spPr>
          <a:xfrm>
            <a:off x="7315200" y="2083356"/>
            <a:ext cx="30480" cy="3881080"/>
          </a:xfrm>
          <a:prstGeom prst="roundRect">
            <a:avLst>
              <a:gd name="adj" fmla="val 113880"/>
            </a:avLst>
          </a:prstGeom>
          <a:solidFill>
            <a:srgbClr val="D8D4D4"/>
          </a:solidFill>
          <a:ln/>
        </p:spPr>
      </p:sp>
      <p:sp>
        <p:nvSpPr>
          <p:cNvPr id="14" name="Text 12"/>
          <p:cNvSpPr/>
          <p:nvPr/>
        </p:nvSpPr>
        <p:spPr>
          <a:xfrm>
            <a:off x="7546538" y="2314694"/>
            <a:ext cx="4364831" cy="328732"/>
          </a:xfrm>
          <a:prstGeom prst="rect">
            <a:avLst/>
          </a:prstGeom>
          <a:noFill/>
          <a:ln/>
        </p:spPr>
        <p:txBody>
          <a:bodyPr wrap="none" lIns="0" tIns="0" rIns="0" bIns="0" rtlCol="0" anchor="t"/>
          <a:lstStyle/>
          <a:p>
            <a:pPr algn="l" indent="0" marL="0">
              <a:lnSpc>
                <a:spcPts val="2550"/>
              </a:lnSpc>
              <a:buNone/>
            </a:pPr>
            <a:r>
              <a:rPr lang="en-US" sz="2050" b="1" dirty="0">
                <a:solidFill>
                  <a:srgbClr val="3D3838"/>
                </a:solidFill>
                <a:latin typeface="Montserrat Bold" pitchFamily="34" charset="0"/>
                <a:ea typeface="Montserrat Bold" pitchFamily="34" charset="-122"/>
                <a:cs typeface="Montserrat Bold" pitchFamily="34" charset="-120"/>
              </a:rPr>
              <a:t>Corrosion-Resistant: 8 Materials</a:t>
            </a:r>
            <a:endParaRPr lang="en-US" sz="2050" dirty="0"/>
          </a:p>
        </p:txBody>
      </p:sp>
      <p:sp>
        <p:nvSpPr>
          <p:cNvPr id="15" name="Text 13"/>
          <p:cNvSpPr/>
          <p:nvPr/>
        </p:nvSpPr>
        <p:spPr>
          <a:xfrm>
            <a:off x="7546538" y="2782253"/>
            <a:ext cx="6042660" cy="347186"/>
          </a:xfrm>
          <a:prstGeom prst="rect">
            <a:avLst/>
          </a:prstGeom>
          <a:noFill/>
          <a:ln/>
        </p:spPr>
        <p:txBody>
          <a:bodyPr wrap="none" lIns="0" tIns="0" rIns="0" bIns="0" rtlCol="0" anchor="t"/>
          <a:lstStyle/>
          <a:p>
            <a:pPr algn="l" indent="0" marL="0">
              <a:lnSpc>
                <a:spcPts val="2700"/>
              </a:lnSpc>
              <a:buNone/>
            </a:pPr>
            <a:r>
              <a:rPr lang="en-US" sz="1800" b="1" dirty="0">
                <a:solidFill>
                  <a:srgbClr val="3D3838"/>
                </a:solidFill>
                <a:latin typeface="Source Sans 3" pitchFamily="34" charset="0"/>
                <a:ea typeface="Source Sans 3" pitchFamily="34" charset="-122"/>
                <a:cs typeface="Source Sans 3" pitchFamily="34" charset="-120"/>
              </a:rPr>
              <a:t>Average properties:</a:t>
            </a:r>
            <a:endParaRPr lang="en-US" sz="1800" dirty="0"/>
          </a:p>
        </p:txBody>
      </p:sp>
      <p:sp>
        <p:nvSpPr>
          <p:cNvPr id="16" name="Text 14"/>
          <p:cNvSpPr/>
          <p:nvPr/>
        </p:nvSpPr>
        <p:spPr>
          <a:xfrm>
            <a:off x="7546538" y="3268266"/>
            <a:ext cx="6042660" cy="347186"/>
          </a:xfrm>
          <a:prstGeom prst="rect">
            <a:avLst/>
          </a:prstGeom>
          <a:noFill/>
          <a:ln/>
        </p:spPr>
        <p:txBody>
          <a:bodyPr wrap="none" lIns="0" tIns="0" rIns="0" bIns="0" rtlCol="0" anchor="t"/>
          <a:lstStyle/>
          <a:p>
            <a:pPr algn="l" marL="342900" indent="-342900">
              <a:lnSpc>
                <a:spcPts val="2700"/>
              </a:lnSpc>
              <a:buSzPct val="100000"/>
              <a:buChar char="•"/>
            </a:pPr>
            <a:r>
              <a:rPr lang="en-US" sz="1800" dirty="0">
                <a:solidFill>
                  <a:srgbClr val="3D3838"/>
                </a:solidFill>
                <a:latin typeface="Source Sans 3" pitchFamily="34" charset="0"/>
                <a:ea typeface="Source Sans 3" pitchFamily="34" charset="-122"/>
                <a:cs typeface="Source Sans 3" pitchFamily="34" charset="-120"/>
              </a:rPr>
              <a:t>Su: 775.00 MPa</a:t>
            </a:r>
            <a:endParaRPr lang="en-US" sz="1800" dirty="0"/>
          </a:p>
        </p:txBody>
      </p:sp>
      <p:sp>
        <p:nvSpPr>
          <p:cNvPr id="17" name="Text 15"/>
          <p:cNvSpPr/>
          <p:nvPr/>
        </p:nvSpPr>
        <p:spPr>
          <a:xfrm>
            <a:off x="7546538" y="3696414"/>
            <a:ext cx="6042660" cy="347186"/>
          </a:xfrm>
          <a:prstGeom prst="rect">
            <a:avLst/>
          </a:prstGeom>
          <a:noFill/>
          <a:ln/>
        </p:spPr>
        <p:txBody>
          <a:bodyPr wrap="none" lIns="0" tIns="0" rIns="0" bIns="0" rtlCol="0" anchor="t"/>
          <a:lstStyle/>
          <a:p>
            <a:pPr algn="l" marL="342900" indent="-342900">
              <a:lnSpc>
                <a:spcPts val="2700"/>
              </a:lnSpc>
              <a:buSzPct val="100000"/>
              <a:buChar char="•"/>
            </a:pPr>
            <a:r>
              <a:rPr lang="en-US" sz="1800" dirty="0">
                <a:solidFill>
                  <a:srgbClr val="3D3838"/>
                </a:solidFill>
                <a:latin typeface="Source Sans 3" pitchFamily="34" charset="0"/>
                <a:ea typeface="Source Sans 3" pitchFamily="34" charset="-122"/>
                <a:cs typeface="Source Sans 3" pitchFamily="34" charset="-120"/>
              </a:rPr>
              <a:t>Sy: 473.81 MPa</a:t>
            </a:r>
            <a:endParaRPr lang="en-US" sz="1800" dirty="0"/>
          </a:p>
        </p:txBody>
      </p:sp>
      <p:sp>
        <p:nvSpPr>
          <p:cNvPr id="18" name="Text 16"/>
          <p:cNvSpPr/>
          <p:nvPr/>
        </p:nvSpPr>
        <p:spPr>
          <a:xfrm>
            <a:off x="7546538" y="4124563"/>
            <a:ext cx="6042660" cy="347186"/>
          </a:xfrm>
          <a:prstGeom prst="rect">
            <a:avLst/>
          </a:prstGeom>
          <a:noFill/>
          <a:ln/>
        </p:spPr>
        <p:txBody>
          <a:bodyPr wrap="none" lIns="0" tIns="0" rIns="0" bIns="0" rtlCol="0" anchor="t"/>
          <a:lstStyle/>
          <a:p>
            <a:pPr algn="l" marL="342900" indent="-342900">
              <a:lnSpc>
                <a:spcPts val="2700"/>
              </a:lnSpc>
              <a:buSzPct val="100000"/>
              <a:buChar char="•"/>
            </a:pPr>
            <a:r>
              <a:rPr lang="en-US" sz="1800" dirty="0">
                <a:solidFill>
                  <a:srgbClr val="3D3838"/>
                </a:solidFill>
                <a:latin typeface="Source Sans 3" pitchFamily="34" charset="0"/>
                <a:ea typeface="Source Sans 3" pitchFamily="34" charset="-122"/>
                <a:cs typeface="Source Sans 3" pitchFamily="34" charset="-120"/>
              </a:rPr>
              <a:t>A5: 24.00%</a:t>
            </a:r>
            <a:endParaRPr lang="en-US" sz="1800" dirty="0"/>
          </a:p>
        </p:txBody>
      </p:sp>
      <p:sp>
        <p:nvSpPr>
          <p:cNvPr id="19" name="Text 17"/>
          <p:cNvSpPr/>
          <p:nvPr/>
        </p:nvSpPr>
        <p:spPr>
          <a:xfrm>
            <a:off x="7546538" y="4552712"/>
            <a:ext cx="6042660" cy="347186"/>
          </a:xfrm>
          <a:prstGeom prst="rect">
            <a:avLst/>
          </a:prstGeom>
          <a:noFill/>
          <a:ln/>
        </p:spPr>
        <p:txBody>
          <a:bodyPr wrap="none" lIns="0" tIns="0" rIns="0" bIns="0" rtlCol="0" anchor="t"/>
          <a:lstStyle/>
          <a:p>
            <a:pPr algn="l" marL="342900" indent="-342900">
              <a:lnSpc>
                <a:spcPts val="2700"/>
              </a:lnSpc>
              <a:buSzPct val="100000"/>
              <a:buChar char="•"/>
            </a:pPr>
            <a:r>
              <a:rPr lang="en-US" sz="1800" dirty="0">
                <a:solidFill>
                  <a:srgbClr val="3D3838"/>
                </a:solidFill>
                <a:latin typeface="Source Sans 3" pitchFamily="34" charset="0"/>
                <a:ea typeface="Source Sans 3" pitchFamily="34" charset="-122"/>
                <a:cs typeface="Source Sans 3" pitchFamily="34" charset="-120"/>
              </a:rPr>
              <a:t>ρ: 7873.75 kg/m³</a:t>
            </a:r>
            <a:endParaRPr lang="en-US" sz="1800" dirty="0"/>
          </a:p>
        </p:txBody>
      </p:sp>
      <p:sp>
        <p:nvSpPr>
          <p:cNvPr id="20" name="Text 18"/>
          <p:cNvSpPr/>
          <p:nvPr/>
        </p:nvSpPr>
        <p:spPr>
          <a:xfrm>
            <a:off x="7546538" y="5038725"/>
            <a:ext cx="6042660" cy="694373"/>
          </a:xfrm>
          <a:prstGeom prst="rect">
            <a:avLst/>
          </a:prstGeom>
          <a:noFill/>
          <a:ln/>
        </p:spPr>
        <p:txBody>
          <a:bodyPr wrap="square" lIns="0" tIns="0" rIns="0" bIns="0" rtlCol="0" anchor="t"/>
          <a:lstStyle/>
          <a:p>
            <a:pPr algn="l"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Superior ductility (24% vs 12%) — optimal for exposed body panels and undercarriage</a:t>
            </a:r>
            <a:endParaRPr lang="en-US" sz="1800" dirty="0"/>
          </a:p>
        </p:txBody>
      </p:sp>
      <p:sp>
        <p:nvSpPr>
          <p:cNvPr id="21" name="Text 19"/>
          <p:cNvSpPr/>
          <p:nvPr/>
        </p:nvSpPr>
        <p:spPr>
          <a:xfrm>
            <a:off x="809863" y="6224707"/>
            <a:ext cx="13010674" cy="1041559"/>
          </a:xfrm>
          <a:prstGeom prst="rect">
            <a:avLst/>
          </a:prstGeom>
          <a:noFill/>
          <a:ln/>
        </p:spPr>
        <p:txBody>
          <a:bodyPr wrap="square" lIns="0" tIns="0" rIns="0" bIns="0" rtlCol="0" anchor="t"/>
          <a:lstStyle/>
          <a:p>
            <a:pPr algn="l" indent="0" marL="0">
              <a:lnSpc>
                <a:spcPts val="2700"/>
              </a:lnSpc>
              <a:buNone/>
            </a:pPr>
            <a:r>
              <a:rPr lang="en-US" sz="1800" b="1" dirty="0">
                <a:solidFill>
                  <a:srgbClr val="3D3838"/>
                </a:solidFill>
                <a:latin typeface="Source Sans 3" pitchFamily="34" charset="0"/>
                <a:ea typeface="Source Sans 3" pitchFamily="34" charset="-122"/>
                <a:cs typeface="Source Sans 3" pitchFamily="34" charset="-120"/>
              </a:rPr>
              <a:t>Ductile keyword:</a:t>
            </a:r>
            <a:pPr algn="l"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 Zero matches in dataset — suggests descriptor field lacks standardized terminology. Materials with A5 &gt; 20% exist but aren't explicitly labeled "ductile." </a:t>
            </a:r>
            <a:pPr algn="l" indent="0" marL="0">
              <a:lnSpc>
                <a:spcPts val="2700"/>
              </a:lnSpc>
              <a:buNone/>
            </a:pPr>
            <a:r>
              <a:rPr lang="en-US" sz="1800" b="1" dirty="0">
                <a:solidFill>
                  <a:srgbClr val="3D3838"/>
                </a:solidFill>
                <a:latin typeface="Source Sans 3" pitchFamily="34" charset="0"/>
                <a:ea typeface="Source Sans 3" pitchFamily="34" charset="-122"/>
                <a:cs typeface="Source Sans 3" pitchFamily="34" charset="-120"/>
              </a:rPr>
              <a:t>Recommendation:</a:t>
            </a:r>
            <a:pPr algn="l"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 Implement semantic search or property-based filtering rather than text matching for material discovery.</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91872" y="829508"/>
            <a:ext cx="12634198" cy="561499"/>
          </a:xfrm>
          <a:prstGeom prst="rect">
            <a:avLst/>
          </a:prstGeom>
          <a:noFill/>
          <a:ln/>
        </p:spPr>
        <p:txBody>
          <a:bodyPr wrap="none" lIns="0" tIns="0" rIns="0" bIns="0" rtlCol="0" anchor="t"/>
          <a:lstStyle/>
          <a:p>
            <a:pPr algn="l" indent="0" marL="0">
              <a:lnSpc>
                <a:spcPts val="4400"/>
              </a:lnSpc>
              <a:buNone/>
            </a:pPr>
            <a:r>
              <a:rPr lang="en-US" sz="3500" b="1" dirty="0">
                <a:solidFill>
                  <a:srgbClr val="000000"/>
                </a:solidFill>
                <a:latin typeface="Montserrat Bold" pitchFamily="34" charset="0"/>
                <a:ea typeface="Montserrat Bold" pitchFamily="34" charset="-122"/>
                <a:cs typeface="Montserrat Bold" pitchFamily="34" charset="-120"/>
              </a:rPr>
              <a:t>Final Recommendation: EV Chassis Material Selection</a:t>
            </a:r>
            <a:endParaRPr lang="en-US" sz="3500" dirty="0"/>
          </a:p>
        </p:txBody>
      </p:sp>
      <p:sp>
        <p:nvSpPr>
          <p:cNvPr id="3" name="Shape 1"/>
          <p:cNvSpPr/>
          <p:nvPr/>
        </p:nvSpPr>
        <p:spPr>
          <a:xfrm>
            <a:off x="691872" y="1786295"/>
            <a:ext cx="6524506" cy="2559844"/>
          </a:xfrm>
          <a:prstGeom prst="roundRect">
            <a:avLst>
              <a:gd name="adj" fmla="val 4287"/>
            </a:avLst>
          </a:prstGeom>
          <a:solidFill>
            <a:srgbClr val="FFFFFF"/>
          </a:solidFill>
          <a:ln w="22860">
            <a:solidFill>
              <a:srgbClr val="2D2E34"/>
            </a:solidFill>
            <a:prstDash val="solid"/>
          </a:ln>
        </p:spPr>
      </p:sp>
      <p:sp>
        <p:nvSpPr>
          <p:cNvPr id="4" name="Shape 2"/>
          <p:cNvSpPr/>
          <p:nvPr/>
        </p:nvSpPr>
        <p:spPr>
          <a:xfrm>
            <a:off x="669012" y="1786295"/>
            <a:ext cx="91440" cy="2559844"/>
          </a:xfrm>
          <a:prstGeom prst="roundRect">
            <a:avLst>
              <a:gd name="adj" fmla="val 32428"/>
            </a:avLst>
          </a:prstGeom>
          <a:solidFill>
            <a:srgbClr val="2D2E34"/>
          </a:solidFill>
          <a:ln/>
        </p:spPr>
      </p:sp>
      <p:sp>
        <p:nvSpPr>
          <p:cNvPr id="5" name="Text 3"/>
          <p:cNvSpPr/>
          <p:nvPr/>
        </p:nvSpPr>
        <p:spPr>
          <a:xfrm>
            <a:off x="980956" y="2006798"/>
            <a:ext cx="2787372" cy="280749"/>
          </a:xfrm>
          <a:prstGeom prst="rect">
            <a:avLst/>
          </a:prstGeom>
          <a:noFill/>
          <a:ln/>
        </p:spPr>
        <p:txBody>
          <a:bodyPr wrap="none" lIns="0" tIns="0" rIns="0" bIns="0" rtlCol="0" anchor="t"/>
          <a:lstStyle/>
          <a:p>
            <a:pPr algn="l" indent="0" marL="0">
              <a:lnSpc>
                <a:spcPts val="2200"/>
              </a:lnSpc>
              <a:buNone/>
            </a:pPr>
            <a:r>
              <a:rPr lang="en-US" sz="1750" b="1" dirty="0">
                <a:solidFill>
                  <a:srgbClr val="3D3838"/>
                </a:solidFill>
                <a:latin typeface="Montserrat Bold" pitchFamily="34" charset="0"/>
                <a:ea typeface="Montserrat Bold" pitchFamily="34" charset="-122"/>
                <a:cs typeface="Montserrat Bold" pitchFamily="34" charset="-120"/>
              </a:rPr>
              <a:t>Primary Structural Rails</a:t>
            </a:r>
            <a:endParaRPr lang="en-US" sz="1750" dirty="0"/>
          </a:p>
        </p:txBody>
      </p:sp>
      <p:sp>
        <p:nvSpPr>
          <p:cNvPr id="6" name="Text 4"/>
          <p:cNvSpPr/>
          <p:nvPr/>
        </p:nvSpPr>
        <p:spPr>
          <a:xfrm>
            <a:off x="980956" y="2406134"/>
            <a:ext cx="6014918" cy="296466"/>
          </a:xfrm>
          <a:prstGeom prst="rect">
            <a:avLst/>
          </a:prstGeom>
          <a:noFill/>
          <a:ln/>
        </p:spPr>
        <p:txBody>
          <a:bodyPr wrap="non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Material:</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Steel SAE 51410 (Tempered 400°F)</a:t>
            </a:r>
            <a:endParaRPr lang="en-US" sz="1550" dirty="0"/>
          </a:p>
        </p:txBody>
      </p:sp>
      <p:sp>
        <p:nvSpPr>
          <p:cNvPr id="7" name="Text 5"/>
          <p:cNvSpPr/>
          <p:nvPr/>
        </p:nvSpPr>
        <p:spPr>
          <a:xfrm>
            <a:off x="980956" y="2821186"/>
            <a:ext cx="6014918" cy="592931"/>
          </a:xfrm>
          <a:prstGeom prst="rect">
            <a:avLst/>
          </a:prstGeom>
          <a:noFill/>
          <a:ln/>
        </p:spPr>
        <p:txBody>
          <a:bodyPr wrap="squar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Justification:</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Highest composite efficiency (85,530), optimal strength-to-weight ratio (0.160), superior hardness for mounting point durability</a:t>
            </a:r>
            <a:endParaRPr lang="en-US" sz="1550" dirty="0"/>
          </a:p>
        </p:txBody>
      </p:sp>
      <p:sp>
        <p:nvSpPr>
          <p:cNvPr id="8" name="Text 6"/>
          <p:cNvSpPr/>
          <p:nvPr/>
        </p:nvSpPr>
        <p:spPr>
          <a:xfrm>
            <a:off x="980956" y="3532703"/>
            <a:ext cx="6014918" cy="296466"/>
          </a:xfrm>
          <a:prstGeom prst="rect">
            <a:avLst/>
          </a:prstGeom>
          <a:noFill/>
          <a:ln/>
        </p:spPr>
        <p:txBody>
          <a:bodyPr wrap="non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Properties: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Su: 1252 MPa, Sy: 867 MPa, E: 206 GPa</a:t>
            </a:r>
            <a:endParaRPr lang="en-US" sz="1550" dirty="0"/>
          </a:p>
        </p:txBody>
      </p:sp>
      <p:sp>
        <p:nvSpPr>
          <p:cNvPr id="9" name="Shape 7"/>
          <p:cNvSpPr/>
          <p:nvPr/>
        </p:nvSpPr>
        <p:spPr>
          <a:xfrm>
            <a:off x="7414022" y="1786295"/>
            <a:ext cx="6524506" cy="2559844"/>
          </a:xfrm>
          <a:prstGeom prst="roundRect">
            <a:avLst>
              <a:gd name="adj" fmla="val 4287"/>
            </a:avLst>
          </a:prstGeom>
          <a:solidFill>
            <a:srgbClr val="FFFFFF"/>
          </a:solidFill>
          <a:ln w="22860">
            <a:solidFill>
              <a:srgbClr val="2D2E34"/>
            </a:solidFill>
            <a:prstDash val="solid"/>
          </a:ln>
        </p:spPr>
      </p:sp>
      <p:sp>
        <p:nvSpPr>
          <p:cNvPr id="10" name="Shape 8"/>
          <p:cNvSpPr/>
          <p:nvPr/>
        </p:nvSpPr>
        <p:spPr>
          <a:xfrm>
            <a:off x="7391162" y="1786295"/>
            <a:ext cx="91440" cy="2559844"/>
          </a:xfrm>
          <a:prstGeom prst="roundRect">
            <a:avLst>
              <a:gd name="adj" fmla="val 32428"/>
            </a:avLst>
          </a:prstGeom>
          <a:solidFill>
            <a:srgbClr val="2D2E34"/>
          </a:solidFill>
          <a:ln/>
        </p:spPr>
      </p:sp>
      <p:sp>
        <p:nvSpPr>
          <p:cNvPr id="11" name="Text 9"/>
          <p:cNvSpPr/>
          <p:nvPr/>
        </p:nvSpPr>
        <p:spPr>
          <a:xfrm>
            <a:off x="7703106" y="2006798"/>
            <a:ext cx="4979075" cy="280749"/>
          </a:xfrm>
          <a:prstGeom prst="rect">
            <a:avLst/>
          </a:prstGeom>
          <a:noFill/>
          <a:ln/>
        </p:spPr>
        <p:txBody>
          <a:bodyPr wrap="none" lIns="0" tIns="0" rIns="0" bIns="0" rtlCol="0" anchor="t"/>
          <a:lstStyle/>
          <a:p>
            <a:pPr algn="l" indent="0" marL="0">
              <a:lnSpc>
                <a:spcPts val="2200"/>
              </a:lnSpc>
              <a:buNone/>
            </a:pPr>
            <a:r>
              <a:rPr lang="en-US" sz="1750" b="1" dirty="0">
                <a:solidFill>
                  <a:srgbClr val="3D3838"/>
                </a:solidFill>
                <a:latin typeface="Montserrat Bold" pitchFamily="34" charset="0"/>
                <a:ea typeface="Montserrat Bold" pitchFamily="34" charset="-122"/>
                <a:cs typeface="Montserrat Bold" pitchFamily="34" charset="-120"/>
              </a:rPr>
              <a:t>Crumple Zones &amp; Bumper Reinforcements</a:t>
            </a:r>
            <a:endParaRPr lang="en-US" sz="1750" dirty="0"/>
          </a:p>
        </p:txBody>
      </p:sp>
      <p:sp>
        <p:nvSpPr>
          <p:cNvPr id="12" name="Text 10"/>
          <p:cNvSpPr/>
          <p:nvPr/>
        </p:nvSpPr>
        <p:spPr>
          <a:xfrm>
            <a:off x="7703106" y="2406134"/>
            <a:ext cx="6014918" cy="296466"/>
          </a:xfrm>
          <a:prstGeom prst="rect">
            <a:avLst/>
          </a:prstGeom>
          <a:noFill/>
          <a:ln/>
        </p:spPr>
        <p:txBody>
          <a:bodyPr wrap="non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Material:</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Steel SAE 30201 (Annealed)</a:t>
            </a:r>
            <a:endParaRPr lang="en-US" sz="1550" dirty="0"/>
          </a:p>
        </p:txBody>
      </p:sp>
      <p:sp>
        <p:nvSpPr>
          <p:cNvPr id="13" name="Text 11"/>
          <p:cNvSpPr/>
          <p:nvPr/>
        </p:nvSpPr>
        <p:spPr>
          <a:xfrm>
            <a:off x="7703106" y="2821186"/>
            <a:ext cx="6014918" cy="592931"/>
          </a:xfrm>
          <a:prstGeom prst="rect">
            <a:avLst/>
          </a:prstGeom>
          <a:noFill/>
          <a:ln/>
        </p:spPr>
        <p:txBody>
          <a:bodyPr wrap="squar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Justification:</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Maximum strength-ductility index (29,341), A5: 37% enables controlled energy absorption, top multi-criteria score</a:t>
            </a:r>
            <a:endParaRPr lang="en-US" sz="1550" dirty="0"/>
          </a:p>
        </p:txBody>
      </p:sp>
      <p:sp>
        <p:nvSpPr>
          <p:cNvPr id="14" name="Text 12"/>
          <p:cNvSpPr/>
          <p:nvPr/>
        </p:nvSpPr>
        <p:spPr>
          <a:xfrm>
            <a:off x="7703106" y="3532703"/>
            <a:ext cx="6014918" cy="592931"/>
          </a:xfrm>
          <a:prstGeom prst="rect">
            <a:avLst/>
          </a:prstGeom>
          <a:noFill/>
          <a:ln/>
        </p:spPr>
        <p:txBody>
          <a:bodyPr wrap="squar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Properties: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Su: 793 MPa, Sy: 304 MPa, elongation optimized for crash performance</a:t>
            </a:r>
            <a:endParaRPr lang="en-US" sz="1550" dirty="0"/>
          </a:p>
        </p:txBody>
      </p:sp>
      <p:sp>
        <p:nvSpPr>
          <p:cNvPr id="15" name="Shape 13"/>
          <p:cNvSpPr/>
          <p:nvPr/>
        </p:nvSpPr>
        <p:spPr>
          <a:xfrm>
            <a:off x="691872" y="4543782"/>
            <a:ext cx="6524506" cy="2856309"/>
          </a:xfrm>
          <a:prstGeom prst="roundRect">
            <a:avLst>
              <a:gd name="adj" fmla="val 3842"/>
            </a:avLst>
          </a:prstGeom>
          <a:solidFill>
            <a:srgbClr val="FFFFFF"/>
          </a:solidFill>
          <a:ln w="22860">
            <a:solidFill>
              <a:srgbClr val="2D2E34"/>
            </a:solidFill>
            <a:prstDash val="solid"/>
          </a:ln>
        </p:spPr>
      </p:sp>
      <p:sp>
        <p:nvSpPr>
          <p:cNvPr id="16" name="Shape 14"/>
          <p:cNvSpPr/>
          <p:nvPr/>
        </p:nvSpPr>
        <p:spPr>
          <a:xfrm>
            <a:off x="669012" y="4543782"/>
            <a:ext cx="91440" cy="2856309"/>
          </a:xfrm>
          <a:prstGeom prst="roundRect">
            <a:avLst>
              <a:gd name="adj" fmla="val 32428"/>
            </a:avLst>
          </a:prstGeom>
          <a:solidFill>
            <a:srgbClr val="2D2E34"/>
          </a:solidFill>
          <a:ln/>
        </p:spPr>
      </p:sp>
      <p:sp>
        <p:nvSpPr>
          <p:cNvPr id="17" name="Text 15"/>
          <p:cNvSpPr/>
          <p:nvPr/>
        </p:nvSpPr>
        <p:spPr>
          <a:xfrm>
            <a:off x="980956" y="4764286"/>
            <a:ext cx="2934057" cy="280749"/>
          </a:xfrm>
          <a:prstGeom prst="rect">
            <a:avLst/>
          </a:prstGeom>
          <a:noFill/>
          <a:ln/>
        </p:spPr>
        <p:txBody>
          <a:bodyPr wrap="none" lIns="0" tIns="0" rIns="0" bIns="0" rtlCol="0" anchor="t"/>
          <a:lstStyle/>
          <a:p>
            <a:pPr algn="l" indent="0" marL="0">
              <a:lnSpc>
                <a:spcPts val="2200"/>
              </a:lnSpc>
              <a:buNone/>
            </a:pPr>
            <a:r>
              <a:rPr lang="en-US" sz="1750" b="1" dirty="0">
                <a:solidFill>
                  <a:srgbClr val="3D3838"/>
                </a:solidFill>
                <a:latin typeface="Montserrat Bold" pitchFamily="34" charset="0"/>
                <a:ea typeface="Montserrat Bold" pitchFamily="34" charset="-122"/>
                <a:cs typeface="Montserrat Bold" pitchFamily="34" charset="-120"/>
              </a:rPr>
              <a:t>Suspension Components</a:t>
            </a:r>
            <a:endParaRPr lang="en-US" sz="1750" dirty="0"/>
          </a:p>
        </p:txBody>
      </p:sp>
      <p:sp>
        <p:nvSpPr>
          <p:cNvPr id="18" name="Text 16"/>
          <p:cNvSpPr/>
          <p:nvPr/>
        </p:nvSpPr>
        <p:spPr>
          <a:xfrm>
            <a:off x="980956" y="5163622"/>
            <a:ext cx="6014918" cy="296466"/>
          </a:xfrm>
          <a:prstGeom prst="rect">
            <a:avLst/>
          </a:prstGeom>
          <a:noFill/>
          <a:ln/>
        </p:spPr>
        <p:txBody>
          <a:bodyPr wrap="non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Material:</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Steel SAE 1141</a:t>
            </a:r>
            <a:endParaRPr lang="en-US" sz="1550" dirty="0"/>
          </a:p>
        </p:txBody>
      </p:sp>
      <p:sp>
        <p:nvSpPr>
          <p:cNvPr id="19" name="Text 17"/>
          <p:cNvSpPr/>
          <p:nvPr/>
        </p:nvSpPr>
        <p:spPr>
          <a:xfrm>
            <a:off x="980956" y="5578673"/>
            <a:ext cx="6014918" cy="889397"/>
          </a:xfrm>
          <a:prstGeom prst="rect">
            <a:avLst/>
          </a:prstGeom>
          <a:noFill/>
          <a:ln/>
        </p:spPr>
        <p:txBody>
          <a:bodyPr wrap="squar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Justification:</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Best strength-to-hardness ratio (5.77) ensures machinability + fatigue resistance, Bhn: 217 provides wear resistance for articulating joints</a:t>
            </a:r>
            <a:endParaRPr lang="en-US" sz="1550" dirty="0"/>
          </a:p>
        </p:txBody>
      </p:sp>
      <p:sp>
        <p:nvSpPr>
          <p:cNvPr id="20" name="Text 18"/>
          <p:cNvSpPr/>
          <p:nvPr/>
        </p:nvSpPr>
        <p:spPr>
          <a:xfrm>
            <a:off x="980956" y="6586657"/>
            <a:ext cx="6014918" cy="592931"/>
          </a:xfrm>
          <a:prstGeom prst="rect">
            <a:avLst/>
          </a:prstGeom>
          <a:noFill/>
          <a:ln/>
        </p:spPr>
        <p:txBody>
          <a:bodyPr wrap="squar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Properties: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Balanced Su/Sy for cyclic loading, optimized for forging operations</a:t>
            </a:r>
            <a:endParaRPr lang="en-US" sz="1550" dirty="0"/>
          </a:p>
        </p:txBody>
      </p:sp>
      <p:sp>
        <p:nvSpPr>
          <p:cNvPr id="21" name="Shape 19"/>
          <p:cNvSpPr/>
          <p:nvPr/>
        </p:nvSpPr>
        <p:spPr>
          <a:xfrm>
            <a:off x="7414022" y="4543782"/>
            <a:ext cx="6524506" cy="2856309"/>
          </a:xfrm>
          <a:prstGeom prst="roundRect">
            <a:avLst>
              <a:gd name="adj" fmla="val 3842"/>
            </a:avLst>
          </a:prstGeom>
          <a:solidFill>
            <a:srgbClr val="FFFFFF"/>
          </a:solidFill>
          <a:ln w="22860">
            <a:solidFill>
              <a:srgbClr val="2D2E34"/>
            </a:solidFill>
            <a:prstDash val="solid"/>
          </a:ln>
        </p:spPr>
      </p:sp>
      <p:sp>
        <p:nvSpPr>
          <p:cNvPr id="22" name="Shape 20"/>
          <p:cNvSpPr/>
          <p:nvPr/>
        </p:nvSpPr>
        <p:spPr>
          <a:xfrm>
            <a:off x="7391162" y="4543782"/>
            <a:ext cx="91440" cy="2856309"/>
          </a:xfrm>
          <a:prstGeom prst="roundRect">
            <a:avLst>
              <a:gd name="adj" fmla="val 32428"/>
            </a:avLst>
          </a:prstGeom>
          <a:solidFill>
            <a:srgbClr val="2D2E34"/>
          </a:solidFill>
          <a:ln/>
        </p:spPr>
      </p:sp>
      <p:sp>
        <p:nvSpPr>
          <p:cNvPr id="23" name="Text 21"/>
          <p:cNvSpPr/>
          <p:nvPr/>
        </p:nvSpPr>
        <p:spPr>
          <a:xfrm>
            <a:off x="7703106" y="4764286"/>
            <a:ext cx="3067645" cy="280749"/>
          </a:xfrm>
          <a:prstGeom prst="rect">
            <a:avLst/>
          </a:prstGeom>
          <a:noFill/>
          <a:ln/>
        </p:spPr>
        <p:txBody>
          <a:bodyPr wrap="none" lIns="0" tIns="0" rIns="0" bIns="0" rtlCol="0" anchor="t"/>
          <a:lstStyle/>
          <a:p>
            <a:pPr algn="l" indent="0" marL="0">
              <a:lnSpc>
                <a:spcPts val="2200"/>
              </a:lnSpc>
              <a:buNone/>
            </a:pPr>
            <a:r>
              <a:rPr lang="en-US" sz="1750" b="1" dirty="0">
                <a:solidFill>
                  <a:srgbClr val="3D3838"/>
                </a:solidFill>
                <a:latin typeface="Montserrat Bold" pitchFamily="34" charset="0"/>
                <a:ea typeface="Montserrat Bold" pitchFamily="34" charset="-122"/>
                <a:cs typeface="Montserrat Bold" pitchFamily="34" charset="-120"/>
              </a:rPr>
              <a:t>Corrosion-Exposed Panels</a:t>
            </a:r>
            <a:endParaRPr lang="en-US" sz="1750" dirty="0"/>
          </a:p>
        </p:txBody>
      </p:sp>
      <p:sp>
        <p:nvSpPr>
          <p:cNvPr id="24" name="Text 22"/>
          <p:cNvSpPr/>
          <p:nvPr/>
        </p:nvSpPr>
        <p:spPr>
          <a:xfrm>
            <a:off x="7703106" y="5163622"/>
            <a:ext cx="6014918" cy="296466"/>
          </a:xfrm>
          <a:prstGeom prst="rect">
            <a:avLst/>
          </a:prstGeom>
          <a:noFill/>
          <a:ln/>
        </p:spPr>
        <p:txBody>
          <a:bodyPr wrap="non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Material:</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DIN X6CrNiTi1810 or Corrosion-Resistant subset (8 materials)</a:t>
            </a:r>
            <a:endParaRPr lang="en-US" sz="1550" dirty="0"/>
          </a:p>
        </p:txBody>
      </p:sp>
      <p:sp>
        <p:nvSpPr>
          <p:cNvPr id="25" name="Text 23"/>
          <p:cNvSpPr/>
          <p:nvPr/>
        </p:nvSpPr>
        <p:spPr>
          <a:xfrm>
            <a:off x="7703106" y="5578673"/>
            <a:ext cx="6014918" cy="592931"/>
          </a:xfrm>
          <a:prstGeom prst="rect">
            <a:avLst/>
          </a:prstGeom>
          <a:noFill/>
          <a:ln/>
        </p:spPr>
        <p:txBody>
          <a:bodyPr wrap="squar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Justification:</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A5: 24% (vs 12% hardened steels), alkaline pH compatibility, stainless chemistry for underbody/coastal environments</a:t>
            </a:r>
            <a:endParaRPr lang="en-US" sz="1550" dirty="0"/>
          </a:p>
        </p:txBody>
      </p:sp>
      <p:sp>
        <p:nvSpPr>
          <p:cNvPr id="26" name="Text 24"/>
          <p:cNvSpPr/>
          <p:nvPr/>
        </p:nvSpPr>
        <p:spPr>
          <a:xfrm>
            <a:off x="7703106" y="6290191"/>
            <a:ext cx="6014918" cy="592931"/>
          </a:xfrm>
          <a:prstGeom prst="rect">
            <a:avLst/>
          </a:prstGeom>
          <a:noFill/>
          <a:ln/>
        </p:spPr>
        <p:txBody>
          <a:bodyPr wrap="squar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Properties: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Lower strength acceptable for non-structural panels, ductility prevents stress corrosion cracking</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7110" y="654010"/>
            <a:ext cx="10872192" cy="557808"/>
          </a:xfrm>
          <a:prstGeom prst="rect">
            <a:avLst/>
          </a:prstGeom>
          <a:noFill/>
          <a:ln/>
        </p:spPr>
        <p:txBody>
          <a:bodyPr wrap="none" lIns="0" tIns="0" rIns="0" bIns="0" rtlCol="0" anchor="t"/>
          <a:lstStyle/>
          <a:p>
            <a:pPr algn="l" indent="0" marL="0">
              <a:lnSpc>
                <a:spcPts val="4350"/>
              </a:lnSpc>
              <a:buNone/>
            </a:pPr>
            <a:r>
              <a:rPr lang="en-US" sz="3500" b="1" dirty="0">
                <a:solidFill>
                  <a:srgbClr val="000000"/>
                </a:solidFill>
                <a:latin typeface="Montserrat Bold" pitchFamily="34" charset="0"/>
                <a:ea typeface="Montserrat Bold" pitchFamily="34" charset="-122"/>
                <a:cs typeface="Montserrat Bold" pitchFamily="34" charset="-120"/>
              </a:rPr>
              <a:t>Conclusion: Data-Driven Material Optimization</a:t>
            </a:r>
            <a:endParaRPr lang="en-US" sz="3500" dirty="0"/>
          </a:p>
        </p:txBody>
      </p:sp>
      <p:pic>
        <p:nvPicPr>
          <p:cNvPr id="3" name="Image 0" descr="preencoded.png">    </p:cNvPr>
          <p:cNvPicPr>
            <a:picLocks noChangeAspect="1"/>
          </p:cNvPicPr>
          <p:nvPr/>
        </p:nvPicPr>
        <p:blipFill>
          <a:blip r:embed="rId1"/>
          <a:stretch>
            <a:fillRect/>
          </a:stretch>
        </p:blipFill>
        <p:spPr>
          <a:xfrm>
            <a:off x="687110" y="1898928"/>
            <a:ext cx="6529864" cy="1143000"/>
          </a:xfrm>
          <a:prstGeom prst="rect">
            <a:avLst/>
          </a:prstGeom>
        </p:spPr>
      </p:pic>
      <p:sp>
        <p:nvSpPr>
          <p:cNvPr id="4" name="Text 1"/>
          <p:cNvSpPr/>
          <p:nvPr/>
        </p:nvSpPr>
        <p:spPr>
          <a:xfrm>
            <a:off x="883444" y="2684264"/>
            <a:ext cx="2231112" cy="278844"/>
          </a:xfrm>
          <a:prstGeom prst="rect">
            <a:avLst/>
          </a:prstGeom>
          <a:noFill/>
          <a:ln/>
        </p:spPr>
        <p:txBody>
          <a:bodyPr wrap="none" lIns="0" tIns="0" rIns="0" bIns="0" rtlCol="0" anchor="t"/>
          <a:lstStyle/>
          <a:p>
            <a:pPr algn="l" indent="0" marL="0">
              <a:lnSpc>
                <a:spcPts val="2150"/>
              </a:lnSpc>
              <a:buNone/>
            </a:pPr>
            <a:r>
              <a:rPr lang="en-US" sz="1750" b="1" dirty="0">
                <a:solidFill>
                  <a:srgbClr val="3D3838"/>
                </a:solidFill>
                <a:latin typeface="Montserrat Bold" pitchFamily="34" charset="0"/>
                <a:ea typeface="Montserrat Bold" pitchFamily="34" charset="-122"/>
                <a:cs typeface="Montserrat Bold" pitchFamily="34" charset="-120"/>
              </a:rPr>
              <a:t>Dataset Integrity</a:t>
            </a:r>
            <a:endParaRPr lang="en-US" sz="1750" dirty="0"/>
          </a:p>
        </p:txBody>
      </p:sp>
      <p:sp>
        <p:nvSpPr>
          <p:cNvPr id="5" name="Text 2"/>
          <p:cNvSpPr/>
          <p:nvPr/>
        </p:nvSpPr>
        <p:spPr>
          <a:xfrm>
            <a:off x="883444" y="3080861"/>
            <a:ext cx="6137196" cy="588883"/>
          </a:xfrm>
          <a:prstGeom prst="rect">
            <a:avLst/>
          </a:prstGeom>
          <a:noFill/>
          <a:ln/>
        </p:spPr>
        <p:txBody>
          <a:bodyPr wrap="square" lIns="0" tIns="0" rIns="0" bIns="0" rtlCol="0" anchor="t"/>
          <a:lstStyle/>
          <a:p>
            <a:pPr algn="l" indent="0" marL="0">
              <a:lnSpc>
                <a:spcPts val="2300"/>
              </a:lnSpc>
              <a:buNone/>
            </a:pPr>
            <a:r>
              <a:rPr lang="en-US" sz="1500" dirty="0">
                <a:solidFill>
                  <a:srgbClr val="3D3838"/>
                </a:solidFill>
                <a:latin typeface="Source Sans 3" pitchFamily="34" charset="0"/>
                <a:ea typeface="Source Sans 3" pitchFamily="34" charset="-122"/>
                <a:cs typeface="Source Sans 3" pitchFamily="34" charset="-120"/>
              </a:rPr>
              <a:t>Rigorous cleaning achieved 94.4% cross-dataset agreement, outlier handling reduced variance 12-28%, enabling reliable analysis</a:t>
            </a:r>
            <a:endParaRPr lang="en-US" sz="1500" dirty="0"/>
          </a:p>
        </p:txBody>
      </p:sp>
      <p:pic>
        <p:nvPicPr>
          <p:cNvPr id="6" name="Image 1" descr="preencoded.png">    </p:cNvPr>
          <p:cNvPicPr>
            <a:picLocks noChangeAspect="1"/>
          </p:cNvPicPr>
          <p:nvPr/>
        </p:nvPicPr>
        <p:blipFill>
          <a:blip r:embed="rId2"/>
          <a:stretch>
            <a:fillRect/>
          </a:stretch>
        </p:blipFill>
        <p:spPr>
          <a:xfrm>
            <a:off x="7413308" y="1604486"/>
            <a:ext cx="6529983" cy="1143000"/>
          </a:xfrm>
          <a:prstGeom prst="rect">
            <a:avLst/>
          </a:prstGeom>
        </p:spPr>
      </p:pic>
      <p:sp>
        <p:nvSpPr>
          <p:cNvPr id="7" name="Text 3"/>
          <p:cNvSpPr/>
          <p:nvPr/>
        </p:nvSpPr>
        <p:spPr>
          <a:xfrm>
            <a:off x="7609642" y="2389823"/>
            <a:ext cx="2936796" cy="278844"/>
          </a:xfrm>
          <a:prstGeom prst="rect">
            <a:avLst/>
          </a:prstGeom>
          <a:noFill/>
          <a:ln/>
        </p:spPr>
        <p:txBody>
          <a:bodyPr wrap="none" lIns="0" tIns="0" rIns="0" bIns="0" rtlCol="0" anchor="t"/>
          <a:lstStyle/>
          <a:p>
            <a:pPr algn="l" indent="0" marL="0">
              <a:lnSpc>
                <a:spcPts val="2150"/>
              </a:lnSpc>
              <a:buNone/>
            </a:pPr>
            <a:r>
              <a:rPr lang="en-US" sz="1750" b="1" dirty="0">
                <a:solidFill>
                  <a:srgbClr val="3D3838"/>
                </a:solidFill>
                <a:latin typeface="Montserrat Bold" pitchFamily="34" charset="0"/>
                <a:ea typeface="Montserrat Bold" pitchFamily="34" charset="-122"/>
                <a:cs typeface="Montserrat Bold" pitchFamily="34" charset="-120"/>
              </a:rPr>
              <a:t>Multi-Criteria Framework</a:t>
            </a:r>
            <a:endParaRPr lang="en-US" sz="1750" dirty="0"/>
          </a:p>
        </p:txBody>
      </p:sp>
      <p:sp>
        <p:nvSpPr>
          <p:cNvPr id="8" name="Text 4"/>
          <p:cNvSpPr/>
          <p:nvPr/>
        </p:nvSpPr>
        <p:spPr>
          <a:xfrm>
            <a:off x="7609642" y="2786420"/>
            <a:ext cx="6137315" cy="588883"/>
          </a:xfrm>
          <a:prstGeom prst="rect">
            <a:avLst/>
          </a:prstGeom>
          <a:noFill/>
          <a:ln/>
        </p:spPr>
        <p:txBody>
          <a:bodyPr wrap="square" lIns="0" tIns="0" rIns="0" bIns="0" rtlCol="0" anchor="t"/>
          <a:lstStyle/>
          <a:p>
            <a:pPr algn="l" indent="0" marL="0">
              <a:lnSpc>
                <a:spcPts val="2300"/>
              </a:lnSpc>
              <a:buNone/>
            </a:pPr>
            <a:r>
              <a:rPr lang="en-US" sz="1500" dirty="0">
                <a:solidFill>
                  <a:srgbClr val="3D3838"/>
                </a:solidFill>
                <a:latin typeface="Source Sans 3" pitchFamily="34" charset="0"/>
                <a:ea typeface="Source Sans 3" pitchFamily="34" charset="-122"/>
                <a:cs typeface="Source Sans 3" pitchFamily="34" charset="-120"/>
              </a:rPr>
              <a:t>Weighted scoring (35% strength, 25% ductility, 15% weight, 15% pH, -10% μ penalty) identified optimal materials for four chassis zones</a:t>
            </a:r>
            <a:endParaRPr lang="en-US" sz="1500" dirty="0"/>
          </a:p>
        </p:txBody>
      </p:sp>
      <p:pic>
        <p:nvPicPr>
          <p:cNvPr id="9" name="Image 2" descr="preencoded.png">    </p:cNvPr>
          <p:cNvPicPr>
            <a:picLocks noChangeAspect="1"/>
          </p:cNvPicPr>
          <p:nvPr/>
        </p:nvPicPr>
        <p:blipFill>
          <a:blip r:embed="rId3"/>
          <a:stretch>
            <a:fillRect/>
          </a:stretch>
        </p:blipFill>
        <p:spPr>
          <a:xfrm>
            <a:off x="687110" y="4356854"/>
            <a:ext cx="6529864" cy="1143000"/>
          </a:xfrm>
          <a:prstGeom prst="rect">
            <a:avLst/>
          </a:prstGeom>
        </p:spPr>
      </p:pic>
      <p:sp>
        <p:nvSpPr>
          <p:cNvPr id="10" name="Text 5"/>
          <p:cNvSpPr/>
          <p:nvPr/>
        </p:nvSpPr>
        <p:spPr>
          <a:xfrm>
            <a:off x="883444" y="5142190"/>
            <a:ext cx="2446139" cy="278844"/>
          </a:xfrm>
          <a:prstGeom prst="rect">
            <a:avLst/>
          </a:prstGeom>
          <a:noFill/>
          <a:ln/>
        </p:spPr>
        <p:txBody>
          <a:bodyPr wrap="none" lIns="0" tIns="0" rIns="0" bIns="0" rtlCol="0" anchor="t"/>
          <a:lstStyle/>
          <a:p>
            <a:pPr algn="l" indent="0" marL="0">
              <a:lnSpc>
                <a:spcPts val="2150"/>
              </a:lnSpc>
              <a:buNone/>
            </a:pPr>
            <a:r>
              <a:rPr lang="en-US" sz="1750" b="1" dirty="0">
                <a:solidFill>
                  <a:srgbClr val="3D3838"/>
                </a:solidFill>
                <a:latin typeface="Montserrat Bold" pitchFamily="34" charset="0"/>
                <a:ea typeface="Montserrat Bold" pitchFamily="34" charset="-122"/>
                <a:cs typeface="Montserrat Bold" pitchFamily="34" charset="-120"/>
              </a:rPr>
              <a:t>Application Mapping</a:t>
            </a:r>
            <a:endParaRPr lang="en-US" sz="1750" dirty="0"/>
          </a:p>
        </p:txBody>
      </p:sp>
      <p:sp>
        <p:nvSpPr>
          <p:cNvPr id="11" name="Text 6"/>
          <p:cNvSpPr/>
          <p:nvPr/>
        </p:nvSpPr>
        <p:spPr>
          <a:xfrm>
            <a:off x="883444" y="5538788"/>
            <a:ext cx="6137196" cy="588883"/>
          </a:xfrm>
          <a:prstGeom prst="rect">
            <a:avLst/>
          </a:prstGeom>
          <a:noFill/>
          <a:ln/>
        </p:spPr>
        <p:txBody>
          <a:bodyPr wrap="square" lIns="0" tIns="0" rIns="0" bIns="0" rtlCol="0" anchor="t"/>
          <a:lstStyle/>
          <a:p>
            <a:pPr algn="l" indent="0" marL="0">
              <a:lnSpc>
                <a:spcPts val="2300"/>
              </a:lnSpc>
              <a:buNone/>
            </a:pPr>
            <a:r>
              <a:rPr lang="en-US" sz="1500" dirty="0">
                <a:solidFill>
                  <a:srgbClr val="3D3838"/>
                </a:solidFill>
                <a:latin typeface="Source Sans 3" pitchFamily="34" charset="0"/>
                <a:ea typeface="Source Sans 3" pitchFamily="34" charset="-122"/>
                <a:cs typeface="Source Sans 3" pitchFamily="34" charset="-120"/>
              </a:rPr>
              <a:t>Use Flag analysis revealed ductility + elastic modulus prioritized over raw strength — confirms energy absorption focus for EV safety</a:t>
            </a:r>
            <a:endParaRPr lang="en-US" sz="1500" dirty="0"/>
          </a:p>
        </p:txBody>
      </p:sp>
      <p:pic>
        <p:nvPicPr>
          <p:cNvPr id="12" name="Image 3" descr="preencoded.png">    </p:cNvPr>
          <p:cNvPicPr>
            <a:picLocks noChangeAspect="1"/>
          </p:cNvPicPr>
          <p:nvPr/>
        </p:nvPicPr>
        <p:blipFill>
          <a:blip r:embed="rId4"/>
          <a:stretch>
            <a:fillRect/>
          </a:stretch>
        </p:blipFill>
        <p:spPr>
          <a:xfrm>
            <a:off x="7413308" y="4062413"/>
            <a:ext cx="6529983" cy="1143000"/>
          </a:xfrm>
          <a:prstGeom prst="rect">
            <a:avLst/>
          </a:prstGeom>
        </p:spPr>
      </p:pic>
      <p:sp>
        <p:nvSpPr>
          <p:cNvPr id="13" name="Text 7"/>
          <p:cNvSpPr/>
          <p:nvPr/>
        </p:nvSpPr>
        <p:spPr>
          <a:xfrm>
            <a:off x="7609642" y="4847749"/>
            <a:ext cx="2328863" cy="278844"/>
          </a:xfrm>
          <a:prstGeom prst="rect">
            <a:avLst/>
          </a:prstGeom>
          <a:noFill/>
          <a:ln/>
        </p:spPr>
        <p:txBody>
          <a:bodyPr wrap="none" lIns="0" tIns="0" rIns="0" bIns="0" rtlCol="0" anchor="t"/>
          <a:lstStyle/>
          <a:p>
            <a:pPr algn="l" indent="0" marL="0">
              <a:lnSpc>
                <a:spcPts val="2150"/>
              </a:lnSpc>
              <a:buNone/>
            </a:pPr>
            <a:r>
              <a:rPr lang="en-US" sz="1750" b="1" dirty="0">
                <a:solidFill>
                  <a:srgbClr val="3D3838"/>
                </a:solidFill>
                <a:latin typeface="Montserrat Bold" pitchFamily="34" charset="0"/>
                <a:ea typeface="Montserrat Bold" pitchFamily="34" charset="-122"/>
                <a:cs typeface="Montserrat Bold" pitchFamily="34" charset="-120"/>
              </a:rPr>
              <a:t>Engineering Impact</a:t>
            </a:r>
            <a:endParaRPr lang="en-US" sz="1750" dirty="0"/>
          </a:p>
        </p:txBody>
      </p:sp>
      <p:sp>
        <p:nvSpPr>
          <p:cNvPr id="14" name="Text 8"/>
          <p:cNvSpPr/>
          <p:nvPr/>
        </p:nvSpPr>
        <p:spPr>
          <a:xfrm>
            <a:off x="7609642" y="5244346"/>
            <a:ext cx="6137315" cy="883325"/>
          </a:xfrm>
          <a:prstGeom prst="rect">
            <a:avLst/>
          </a:prstGeom>
          <a:noFill/>
          <a:ln/>
        </p:spPr>
        <p:txBody>
          <a:bodyPr wrap="square" lIns="0" tIns="0" rIns="0" bIns="0" rtlCol="0" anchor="t"/>
          <a:lstStyle/>
          <a:p>
            <a:pPr algn="l" indent="0" marL="0">
              <a:lnSpc>
                <a:spcPts val="2300"/>
              </a:lnSpc>
              <a:buNone/>
            </a:pPr>
            <a:r>
              <a:rPr lang="en-US" sz="1500" dirty="0">
                <a:solidFill>
                  <a:srgbClr val="3D3838"/>
                </a:solidFill>
                <a:latin typeface="Source Sans 3" pitchFamily="34" charset="0"/>
                <a:ea typeface="Source Sans 3" pitchFamily="34" charset="-122"/>
                <a:cs typeface="Source Sans 3" pitchFamily="34" charset="-120"/>
              </a:rPr>
              <a:t>Recommended material suite balances crashworthiness (SAE 30201), structural efficiency (SAE 51410), machinability (SAE 1141), and corrosion resistance (X6CrNiTi1810) for comprehensive EV chassis performance</a:t>
            </a:r>
            <a:endParaRPr lang="en-US" sz="1500" dirty="0"/>
          </a:p>
        </p:txBody>
      </p:sp>
      <p:sp>
        <p:nvSpPr>
          <p:cNvPr id="15" name="Text 9"/>
          <p:cNvSpPr/>
          <p:nvPr/>
        </p:nvSpPr>
        <p:spPr>
          <a:xfrm>
            <a:off x="981551" y="6765727"/>
            <a:ext cx="12961739" cy="588883"/>
          </a:xfrm>
          <a:prstGeom prst="rect">
            <a:avLst/>
          </a:prstGeom>
          <a:noFill/>
          <a:ln/>
        </p:spPr>
        <p:txBody>
          <a:bodyPr wrap="square" lIns="0" tIns="0" rIns="0" bIns="0" rtlCol="0" anchor="t"/>
          <a:lstStyle/>
          <a:p>
            <a:pPr algn="l" indent="0" marL="0">
              <a:lnSpc>
                <a:spcPts val="2300"/>
              </a:lnSpc>
              <a:buNone/>
            </a:pPr>
            <a:r>
              <a:rPr lang="en-US" sz="1500" b="1" dirty="0">
                <a:solidFill>
                  <a:srgbClr val="3D3838"/>
                </a:solidFill>
                <a:latin typeface="Source Sans 3" pitchFamily="34" charset="0"/>
                <a:ea typeface="Source Sans 3" pitchFamily="34" charset="-122"/>
                <a:cs typeface="Source Sans 3" pitchFamily="34" charset="-120"/>
              </a:rPr>
              <a:t>Future work:</a:t>
            </a:r>
            <a:pPr algn="l" indent="0" marL="0">
              <a:lnSpc>
                <a:spcPts val="2300"/>
              </a:lnSpc>
              <a:buNone/>
            </a:pPr>
            <a:r>
              <a:rPr lang="en-US" sz="1500" dirty="0">
                <a:solidFill>
                  <a:srgbClr val="3D3838"/>
                </a:solidFill>
                <a:latin typeface="Source Sans 3" pitchFamily="34" charset="0"/>
                <a:ea typeface="Source Sans 3" pitchFamily="34" charset="-122"/>
                <a:cs typeface="Source Sans 3" pitchFamily="34" charset="-120"/>
              </a:rPr>
              <a:t> Integrate cost analysis, validate recommendations through finite element crash simulations, expand dataset to include aluminum alloys and composites for further weight reduction opportunities.</a:t>
            </a:r>
            <a:endParaRPr lang="en-US" sz="1500" dirty="0"/>
          </a:p>
        </p:txBody>
      </p:sp>
      <p:sp>
        <p:nvSpPr>
          <p:cNvPr id="16" name="Shape 10"/>
          <p:cNvSpPr/>
          <p:nvPr/>
        </p:nvSpPr>
        <p:spPr>
          <a:xfrm>
            <a:off x="687110" y="6544866"/>
            <a:ext cx="22860" cy="1030605"/>
          </a:xfrm>
          <a:prstGeom prst="rect">
            <a:avLst/>
          </a:prstGeom>
          <a:solidFill>
            <a:srgbClr val="2D2E34"/>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2025-12-28T13:05:41Z</dcterms:created>
  <dcterms:modified xsi:type="dcterms:W3CDTF">2025-12-28T13:05:41Z</dcterms:modified>
</cp:coreProperties>
</file>