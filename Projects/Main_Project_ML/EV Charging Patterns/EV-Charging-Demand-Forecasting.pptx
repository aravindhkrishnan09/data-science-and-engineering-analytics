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4630400" cy="8229600"/>
  <p:notesSz cx="8229600" cy="14630400"/>
  <p:embeddedFontLst>
    <p:embeddedFont>
      <p:font typeface="Montserrat"/>
      <p:regular r:id="rId27"/>
    </p:embeddedFont>
    <p:embeddedFont>
      <p:font typeface="Montserrat"/>
      <p:regular r:id="rId28"/>
    </p:embeddedFont>
    <p:embeddedFont>
      <p:font typeface="Montserrat"/>
      <p:regular r:id="rId29"/>
    </p:embeddedFont>
    <p:embeddedFont>
      <p:font typeface="Montserrat"/>
      <p:regular r:id="rId30"/>
    </p:embeddedFont>
    <p:embeddedFont>
      <p:font typeface="Source Sans 3"/>
      <p:regular r:id="rId31"/>
    </p:embeddedFont>
    <p:embeddedFont>
      <p:font typeface="Source Sans 3"/>
      <p:regular r:id="rId3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EDED"/>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6.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8.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63798" y="2962037"/>
            <a:ext cx="9994821"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EV Charging Demand Forecasting</a:t>
            </a:r>
            <a:endParaRPr lang="en-US" sz="4400" dirty="0"/>
          </a:p>
        </p:txBody>
      </p:sp>
      <p:sp>
        <p:nvSpPr>
          <p:cNvPr id="3" name="Text 1"/>
          <p:cNvSpPr/>
          <p:nvPr/>
        </p:nvSpPr>
        <p:spPr>
          <a:xfrm>
            <a:off x="863798" y="4156948"/>
            <a:ext cx="12902803"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Advanced machine learning analysis of electric vehicle charging patterns across California stations from 2021-2024. This study leverages neural networks, decision trees, and SHAP interpretability frameworks to predict demand patterns and optimize grid infrastructure planning.</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1838801"/>
            <a:ext cx="5609749"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Dataset Overview</a:t>
            </a:r>
            <a:endParaRPr lang="en-US" sz="4400" dirty="0"/>
          </a:p>
        </p:txBody>
      </p:sp>
      <p:sp>
        <p:nvSpPr>
          <p:cNvPr id="3" name="Text 1"/>
          <p:cNvSpPr/>
          <p:nvPr/>
        </p:nvSpPr>
        <p:spPr>
          <a:xfrm>
            <a:off x="863798" y="3157061"/>
            <a:ext cx="3556516" cy="420648"/>
          </a:xfrm>
          <a:prstGeom prst="rect">
            <a:avLst/>
          </a:prstGeom>
          <a:noFill/>
          <a:ln/>
        </p:spPr>
        <p:txBody>
          <a:bodyPr wrap="none" lIns="0" tIns="0" rIns="0" bIns="0" rtlCol="0" anchor="t"/>
          <a:lstStyle/>
          <a:p>
            <a:pPr algn="l" indent="0" marL="0">
              <a:lnSpc>
                <a:spcPts val="3300"/>
              </a:lnSpc>
              <a:buNone/>
            </a:pPr>
            <a:r>
              <a:rPr lang="en-US" sz="2650" b="1" dirty="0">
                <a:solidFill>
                  <a:srgbClr val="000000"/>
                </a:solidFill>
                <a:latin typeface="Montserrat Bold" pitchFamily="34" charset="0"/>
                <a:ea typeface="Montserrat Bold" pitchFamily="34" charset="-122"/>
                <a:cs typeface="Montserrat Bold" pitchFamily="34" charset="-120"/>
              </a:rPr>
              <a:t>Data Characteristics</a:t>
            </a:r>
            <a:endParaRPr lang="en-US" sz="2650" dirty="0"/>
          </a:p>
        </p:txBody>
      </p:sp>
      <p:sp>
        <p:nvSpPr>
          <p:cNvPr id="4" name="Text 2"/>
          <p:cNvSpPr/>
          <p:nvPr/>
        </p:nvSpPr>
        <p:spPr>
          <a:xfrm>
            <a:off x="863798" y="3824526"/>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59,810 hourly observations across 3.5 years</a:t>
            </a:r>
            <a:endParaRPr lang="en-US" sz="1900" dirty="0"/>
          </a:p>
        </p:txBody>
      </p:sp>
      <p:sp>
        <p:nvSpPr>
          <p:cNvPr id="5" name="Text 3"/>
          <p:cNvSpPr/>
          <p:nvPr/>
        </p:nvSpPr>
        <p:spPr>
          <a:xfrm>
            <a:off x="863798" y="4281011"/>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Two California charging stations combined</a:t>
            </a:r>
            <a:endParaRPr lang="en-US" sz="1900" dirty="0"/>
          </a:p>
        </p:txBody>
      </p:sp>
      <p:sp>
        <p:nvSpPr>
          <p:cNvPr id="6" name="Text 4"/>
          <p:cNvSpPr/>
          <p:nvPr/>
        </p:nvSpPr>
        <p:spPr>
          <a:xfrm>
            <a:off x="863798" y="4737497"/>
            <a:ext cx="6150293" cy="740331"/>
          </a:xfrm>
          <a:prstGeom prst="rect">
            <a:avLst/>
          </a:prstGeom>
          <a:noFill/>
          <a:ln/>
        </p:spPr>
        <p:txBody>
          <a:bodyPr wrap="squar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24 features capturing energy, pricing, infrastructure, and environmental metrics</a:t>
            </a:r>
            <a:endParaRPr lang="en-US" sz="1900" dirty="0"/>
          </a:p>
        </p:txBody>
      </p:sp>
      <p:sp>
        <p:nvSpPr>
          <p:cNvPr id="7" name="Text 5"/>
          <p:cNvSpPr/>
          <p:nvPr/>
        </p:nvSpPr>
        <p:spPr>
          <a:xfrm>
            <a:off x="863798" y="5564148"/>
            <a:ext cx="6150293" cy="740331"/>
          </a:xfrm>
          <a:prstGeom prst="rect">
            <a:avLst/>
          </a:prstGeom>
          <a:noFill/>
          <a:ln/>
        </p:spPr>
        <p:txBody>
          <a:bodyPr wrap="squar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Temporal granularity: hourly measurements with seasonal patterns</a:t>
            </a:r>
            <a:endParaRPr lang="en-US" sz="1900" dirty="0"/>
          </a:p>
        </p:txBody>
      </p:sp>
      <p:sp>
        <p:nvSpPr>
          <p:cNvPr id="8" name="Text 6"/>
          <p:cNvSpPr/>
          <p:nvPr/>
        </p:nvSpPr>
        <p:spPr>
          <a:xfrm>
            <a:off x="7623929" y="3157061"/>
            <a:ext cx="3365778" cy="420648"/>
          </a:xfrm>
          <a:prstGeom prst="rect">
            <a:avLst/>
          </a:prstGeom>
          <a:noFill/>
          <a:ln/>
        </p:spPr>
        <p:txBody>
          <a:bodyPr wrap="none" lIns="0" tIns="0" rIns="0" bIns="0" rtlCol="0" anchor="t"/>
          <a:lstStyle/>
          <a:p>
            <a:pPr algn="l" indent="0" marL="0">
              <a:lnSpc>
                <a:spcPts val="3300"/>
              </a:lnSpc>
              <a:buNone/>
            </a:pPr>
            <a:r>
              <a:rPr lang="en-US" sz="2650" b="1" dirty="0">
                <a:solidFill>
                  <a:srgbClr val="000000"/>
                </a:solidFill>
                <a:latin typeface="Montserrat Bold" pitchFamily="34" charset="0"/>
                <a:ea typeface="Montserrat Bold" pitchFamily="34" charset="-122"/>
                <a:cs typeface="Montserrat Bold" pitchFamily="34" charset="-120"/>
              </a:rPr>
              <a:t>Key Variables</a:t>
            </a:r>
            <a:endParaRPr lang="en-US" sz="2650" dirty="0"/>
          </a:p>
        </p:txBody>
      </p:sp>
      <p:sp>
        <p:nvSpPr>
          <p:cNvPr id="9" name="Text 7"/>
          <p:cNvSpPr/>
          <p:nvPr/>
        </p:nvSpPr>
        <p:spPr>
          <a:xfrm>
            <a:off x="7623929" y="3824526"/>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Target: EV Charging Demand (kW)</a:t>
            </a:r>
            <a:endParaRPr lang="en-US" sz="1900" dirty="0"/>
          </a:p>
        </p:txBody>
      </p:sp>
      <p:sp>
        <p:nvSpPr>
          <p:cNvPr id="10" name="Text 8"/>
          <p:cNvSpPr/>
          <p:nvPr/>
        </p:nvSpPr>
        <p:spPr>
          <a:xfrm>
            <a:off x="7623929" y="4281011"/>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Renewable energy production (solar + wind)</a:t>
            </a:r>
            <a:endParaRPr lang="en-US" sz="1900" dirty="0"/>
          </a:p>
        </p:txBody>
      </p:sp>
      <p:sp>
        <p:nvSpPr>
          <p:cNvPr id="11" name="Text 9"/>
          <p:cNvSpPr/>
          <p:nvPr/>
        </p:nvSpPr>
        <p:spPr>
          <a:xfrm>
            <a:off x="7623929" y="4737497"/>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Grid stability and availability metrics</a:t>
            </a:r>
            <a:endParaRPr lang="en-US" sz="1900" dirty="0"/>
          </a:p>
        </p:txBody>
      </p:sp>
      <p:sp>
        <p:nvSpPr>
          <p:cNvPr id="12" name="Text 10"/>
          <p:cNvSpPr/>
          <p:nvPr/>
        </p:nvSpPr>
        <p:spPr>
          <a:xfrm>
            <a:off x="7623929" y="5193983"/>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Weather conditions and temporal features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3798" y="750332"/>
            <a:ext cx="7963257"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Seasonal Demand Patterns</a:t>
            </a:r>
            <a:endParaRPr lang="en-US" sz="4400" dirty="0"/>
          </a:p>
        </p:txBody>
      </p:sp>
      <p:sp>
        <p:nvSpPr>
          <p:cNvPr id="3" name="Text 1"/>
          <p:cNvSpPr/>
          <p:nvPr/>
        </p:nvSpPr>
        <p:spPr>
          <a:xfrm>
            <a:off x="863798" y="1945243"/>
            <a:ext cx="12902803"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EV charging demand exhibits distinct seasonal and daily fluctuations driven by renewable energy availability, grid conditions, and user behavior patterns.</a:t>
            </a:r>
            <a:endParaRPr lang="en-US" sz="1900" dirty="0"/>
          </a:p>
        </p:txBody>
      </p:sp>
      <p:sp>
        <p:nvSpPr>
          <p:cNvPr id="4" name="Text 2"/>
          <p:cNvSpPr/>
          <p:nvPr/>
        </p:nvSpPr>
        <p:spPr>
          <a:xfrm>
            <a:off x="1882140" y="3102531"/>
            <a:ext cx="2804874" cy="350639"/>
          </a:xfrm>
          <a:prstGeom prst="rect">
            <a:avLst/>
          </a:prstGeom>
          <a:noFill/>
          <a:ln/>
        </p:spPr>
        <p:txBody>
          <a:bodyPr wrap="none" lIns="0" tIns="0" rIns="0" bIns="0" rtlCol="0" anchor="t"/>
          <a:lstStyle/>
          <a:p>
            <a:pPr algn="r"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Winter</a:t>
            </a:r>
            <a:endParaRPr lang="en-US" sz="2200" dirty="0"/>
          </a:p>
        </p:txBody>
      </p:sp>
      <p:sp>
        <p:nvSpPr>
          <p:cNvPr id="5" name="Text 3"/>
          <p:cNvSpPr/>
          <p:nvPr/>
        </p:nvSpPr>
        <p:spPr>
          <a:xfrm>
            <a:off x="863798" y="3601164"/>
            <a:ext cx="3823216" cy="1480661"/>
          </a:xfrm>
          <a:prstGeom prst="rect">
            <a:avLst/>
          </a:prstGeom>
          <a:noFill/>
          <a:ln/>
        </p:spPr>
        <p:txBody>
          <a:bodyPr wrap="square" lIns="0" tIns="0" rIns="0" bIns="0" rtlCol="0" anchor="t"/>
          <a:lstStyle/>
          <a:p>
            <a:pPr algn="r"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Highest evening demand, moderate morning usage. Lower renewable production increases grid dependency.</a:t>
            </a:r>
            <a:endParaRPr lang="en-US" sz="1900" dirty="0"/>
          </a:p>
        </p:txBody>
      </p:sp>
      <p:pic>
        <p:nvPicPr>
          <p:cNvPr id="6" name="Image 0" descr="preencoded.png">    </p:cNvPr>
          <p:cNvPicPr>
            <a:picLocks noChangeAspect="1"/>
          </p:cNvPicPr>
          <p:nvPr/>
        </p:nvPicPr>
        <p:blipFill>
          <a:blip r:embed="rId1"/>
          <a:stretch>
            <a:fillRect/>
          </a:stretch>
        </p:blipFill>
        <p:spPr>
          <a:xfrm>
            <a:off x="5057180" y="2963228"/>
            <a:ext cx="4515922" cy="4515922"/>
          </a:xfrm>
          <a:prstGeom prst="rect">
            <a:avLst/>
          </a:prstGeom>
        </p:spPr>
      </p:pic>
      <p:sp>
        <p:nvSpPr>
          <p:cNvPr id="7" name="Text 4"/>
          <p:cNvSpPr/>
          <p:nvPr/>
        </p:nvSpPr>
        <p:spPr>
          <a:xfrm>
            <a:off x="6012775" y="3872627"/>
            <a:ext cx="369213" cy="461605"/>
          </a:xfrm>
          <a:prstGeom prst="rect">
            <a:avLst/>
          </a:prstGeom>
          <a:noFill/>
          <a:ln/>
        </p:spPr>
        <p:txBody>
          <a:bodyPr wrap="none" lIns="0" tIns="0" rIns="0" bIns="0" rtlCol="0" anchor="t"/>
          <a:lstStyle/>
          <a:p>
            <a:pPr algn="l" indent="0" marL="0">
              <a:lnSpc>
                <a:spcPts val="4350"/>
              </a:lnSpc>
              <a:buNone/>
            </a:pPr>
            <a:r>
              <a:rPr lang="en-US" sz="2900" b="1" dirty="0">
                <a:solidFill>
                  <a:srgbClr val="3D3838"/>
                </a:solidFill>
                <a:latin typeface="Montserrat Bold" pitchFamily="34" charset="0"/>
                <a:ea typeface="Montserrat Bold" pitchFamily="34" charset="-122"/>
                <a:cs typeface="Montserrat Bold" pitchFamily="34" charset="-120"/>
              </a:rPr>
              <a:t>1</a:t>
            </a:r>
            <a:endParaRPr lang="en-US" sz="2900" dirty="0"/>
          </a:p>
        </p:txBody>
      </p:sp>
      <p:sp>
        <p:nvSpPr>
          <p:cNvPr id="8" name="Text 5"/>
          <p:cNvSpPr/>
          <p:nvPr/>
        </p:nvSpPr>
        <p:spPr>
          <a:xfrm>
            <a:off x="9943267" y="3102531"/>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Spring</a:t>
            </a:r>
            <a:endParaRPr lang="en-US" sz="2200" dirty="0"/>
          </a:p>
        </p:txBody>
      </p:sp>
      <p:sp>
        <p:nvSpPr>
          <p:cNvPr id="9" name="Text 6"/>
          <p:cNvSpPr/>
          <p:nvPr/>
        </p:nvSpPr>
        <p:spPr>
          <a:xfrm>
            <a:off x="9943267" y="3601164"/>
            <a:ext cx="3823335" cy="148066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Balanced demand across day periods. Improved renewable energy availability supports efficient charging.</a:t>
            </a:r>
            <a:endParaRPr lang="en-US" sz="1900" dirty="0"/>
          </a:p>
        </p:txBody>
      </p:sp>
      <p:pic>
        <p:nvPicPr>
          <p:cNvPr id="10" name="Image 1" descr="preencoded.png">    </p:cNvPr>
          <p:cNvPicPr>
            <a:picLocks noChangeAspect="1"/>
          </p:cNvPicPr>
          <p:nvPr/>
        </p:nvPicPr>
        <p:blipFill>
          <a:blip r:embed="rId2"/>
          <a:stretch>
            <a:fillRect/>
          </a:stretch>
        </p:blipFill>
        <p:spPr>
          <a:xfrm>
            <a:off x="5057180" y="2963228"/>
            <a:ext cx="4515922" cy="4515922"/>
          </a:xfrm>
          <a:prstGeom prst="rect">
            <a:avLst/>
          </a:prstGeom>
        </p:spPr>
      </p:pic>
      <p:sp>
        <p:nvSpPr>
          <p:cNvPr id="11" name="Text 7"/>
          <p:cNvSpPr/>
          <p:nvPr/>
        </p:nvSpPr>
        <p:spPr>
          <a:xfrm>
            <a:off x="8248055" y="3872627"/>
            <a:ext cx="369213" cy="461605"/>
          </a:xfrm>
          <a:prstGeom prst="rect">
            <a:avLst/>
          </a:prstGeom>
          <a:noFill/>
          <a:ln/>
        </p:spPr>
        <p:txBody>
          <a:bodyPr wrap="none" lIns="0" tIns="0" rIns="0" bIns="0" rtlCol="0" anchor="t"/>
          <a:lstStyle/>
          <a:p>
            <a:pPr algn="l" indent="0" marL="0">
              <a:lnSpc>
                <a:spcPts val="4350"/>
              </a:lnSpc>
              <a:buNone/>
            </a:pPr>
            <a:r>
              <a:rPr lang="en-US" sz="2900" b="1" dirty="0">
                <a:solidFill>
                  <a:srgbClr val="3D3838"/>
                </a:solidFill>
                <a:latin typeface="Montserrat Bold" pitchFamily="34" charset="0"/>
                <a:ea typeface="Montserrat Bold" pitchFamily="34" charset="-122"/>
                <a:cs typeface="Montserrat Bold" pitchFamily="34" charset="-120"/>
              </a:rPr>
              <a:t>2</a:t>
            </a:r>
            <a:endParaRPr lang="en-US" sz="2900" dirty="0"/>
          </a:p>
        </p:txBody>
      </p:sp>
      <p:sp>
        <p:nvSpPr>
          <p:cNvPr id="12" name="Text 8"/>
          <p:cNvSpPr/>
          <p:nvPr/>
        </p:nvSpPr>
        <p:spPr>
          <a:xfrm>
            <a:off x="9943267" y="5730597"/>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Summer</a:t>
            </a:r>
            <a:endParaRPr lang="en-US" sz="2200" dirty="0"/>
          </a:p>
        </p:txBody>
      </p:sp>
      <p:sp>
        <p:nvSpPr>
          <p:cNvPr id="13" name="Text 9"/>
          <p:cNvSpPr/>
          <p:nvPr/>
        </p:nvSpPr>
        <p:spPr>
          <a:xfrm>
            <a:off x="9943267" y="6229231"/>
            <a:ext cx="3823335"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Peak afternoon demand coinciding with solar production. Lowest evening renewable output.</a:t>
            </a:r>
            <a:endParaRPr lang="en-US" sz="1900" dirty="0"/>
          </a:p>
        </p:txBody>
      </p:sp>
      <p:pic>
        <p:nvPicPr>
          <p:cNvPr id="14" name="Image 2" descr="preencoded.png">    </p:cNvPr>
          <p:cNvPicPr>
            <a:picLocks noChangeAspect="1"/>
          </p:cNvPicPr>
          <p:nvPr/>
        </p:nvPicPr>
        <p:blipFill>
          <a:blip r:embed="rId3"/>
          <a:stretch>
            <a:fillRect/>
          </a:stretch>
        </p:blipFill>
        <p:spPr>
          <a:xfrm>
            <a:off x="5057180" y="2963228"/>
            <a:ext cx="4515922" cy="4515922"/>
          </a:xfrm>
          <a:prstGeom prst="rect">
            <a:avLst/>
          </a:prstGeom>
        </p:spPr>
      </p:pic>
      <p:sp>
        <p:nvSpPr>
          <p:cNvPr id="15" name="Text 10"/>
          <p:cNvSpPr/>
          <p:nvPr/>
        </p:nvSpPr>
        <p:spPr>
          <a:xfrm>
            <a:off x="8248055" y="6107906"/>
            <a:ext cx="369213" cy="461605"/>
          </a:xfrm>
          <a:prstGeom prst="rect">
            <a:avLst/>
          </a:prstGeom>
          <a:noFill/>
          <a:ln/>
        </p:spPr>
        <p:txBody>
          <a:bodyPr wrap="none" lIns="0" tIns="0" rIns="0" bIns="0" rtlCol="0" anchor="t"/>
          <a:lstStyle/>
          <a:p>
            <a:pPr algn="l" indent="0" marL="0">
              <a:lnSpc>
                <a:spcPts val="4350"/>
              </a:lnSpc>
              <a:buNone/>
            </a:pPr>
            <a:r>
              <a:rPr lang="en-US" sz="2900" b="1" dirty="0">
                <a:solidFill>
                  <a:srgbClr val="3D3838"/>
                </a:solidFill>
                <a:latin typeface="Montserrat Bold" pitchFamily="34" charset="0"/>
                <a:ea typeface="Montserrat Bold" pitchFamily="34" charset="-122"/>
                <a:cs typeface="Montserrat Bold" pitchFamily="34" charset="-120"/>
              </a:rPr>
              <a:t>3</a:t>
            </a:r>
            <a:endParaRPr lang="en-US" sz="2900" dirty="0"/>
          </a:p>
        </p:txBody>
      </p:sp>
      <p:sp>
        <p:nvSpPr>
          <p:cNvPr id="16" name="Text 11"/>
          <p:cNvSpPr/>
          <p:nvPr/>
        </p:nvSpPr>
        <p:spPr>
          <a:xfrm>
            <a:off x="1882140" y="5730597"/>
            <a:ext cx="2804874" cy="350639"/>
          </a:xfrm>
          <a:prstGeom prst="rect">
            <a:avLst/>
          </a:prstGeom>
          <a:noFill/>
          <a:ln/>
        </p:spPr>
        <p:txBody>
          <a:bodyPr wrap="none" lIns="0" tIns="0" rIns="0" bIns="0" rtlCol="0" anchor="t"/>
          <a:lstStyle/>
          <a:p>
            <a:pPr algn="r"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Autumn</a:t>
            </a:r>
            <a:endParaRPr lang="en-US" sz="2200" dirty="0"/>
          </a:p>
        </p:txBody>
      </p:sp>
      <p:sp>
        <p:nvSpPr>
          <p:cNvPr id="17" name="Text 12"/>
          <p:cNvSpPr/>
          <p:nvPr/>
        </p:nvSpPr>
        <p:spPr>
          <a:xfrm>
            <a:off x="863798" y="6229231"/>
            <a:ext cx="3823216" cy="1110496"/>
          </a:xfrm>
          <a:prstGeom prst="rect">
            <a:avLst/>
          </a:prstGeom>
          <a:noFill/>
          <a:ln/>
        </p:spPr>
        <p:txBody>
          <a:bodyPr wrap="square" lIns="0" tIns="0" rIns="0" bIns="0" rtlCol="0" anchor="t"/>
          <a:lstStyle/>
          <a:p>
            <a:pPr algn="r"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Stable nighttime demand with moderate fluctuations. Transitional renewable energy patterns.</a:t>
            </a:r>
            <a:endParaRPr lang="en-US" sz="1900" dirty="0"/>
          </a:p>
        </p:txBody>
      </p:sp>
      <p:pic>
        <p:nvPicPr>
          <p:cNvPr id="18" name="Image 3" descr="preencoded.png">    </p:cNvPr>
          <p:cNvPicPr>
            <a:picLocks noChangeAspect="1"/>
          </p:cNvPicPr>
          <p:nvPr/>
        </p:nvPicPr>
        <p:blipFill>
          <a:blip r:embed="rId4"/>
          <a:stretch>
            <a:fillRect/>
          </a:stretch>
        </p:blipFill>
        <p:spPr>
          <a:xfrm>
            <a:off x="5057180" y="2963228"/>
            <a:ext cx="4515922" cy="4515922"/>
          </a:xfrm>
          <a:prstGeom prst="rect">
            <a:avLst/>
          </a:prstGeom>
        </p:spPr>
      </p:pic>
      <p:sp>
        <p:nvSpPr>
          <p:cNvPr id="19" name="Text 13"/>
          <p:cNvSpPr/>
          <p:nvPr/>
        </p:nvSpPr>
        <p:spPr>
          <a:xfrm>
            <a:off x="6012775" y="6107906"/>
            <a:ext cx="369213" cy="461605"/>
          </a:xfrm>
          <a:prstGeom prst="rect">
            <a:avLst/>
          </a:prstGeom>
          <a:noFill/>
          <a:ln/>
        </p:spPr>
        <p:txBody>
          <a:bodyPr wrap="none" lIns="0" tIns="0" rIns="0" bIns="0" rtlCol="0" anchor="t"/>
          <a:lstStyle/>
          <a:p>
            <a:pPr algn="l" indent="0" marL="0">
              <a:lnSpc>
                <a:spcPts val="4350"/>
              </a:lnSpc>
              <a:buNone/>
            </a:pPr>
            <a:r>
              <a:rPr lang="en-US" sz="2900" b="1" dirty="0">
                <a:solidFill>
                  <a:srgbClr val="3D3838"/>
                </a:solidFill>
                <a:latin typeface="Montserrat Bold" pitchFamily="34" charset="0"/>
                <a:ea typeface="Montserrat Bold" pitchFamily="34" charset="-122"/>
                <a:cs typeface="Montserrat Bold" pitchFamily="34" charset="-120"/>
              </a:rPr>
              <a:t>4</a:t>
            </a:r>
            <a:endParaRPr lang="en-US" sz="2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11292" y="811173"/>
            <a:ext cx="7812524" cy="658535"/>
          </a:xfrm>
          <a:prstGeom prst="rect">
            <a:avLst/>
          </a:prstGeom>
          <a:noFill/>
          <a:ln/>
        </p:spPr>
        <p:txBody>
          <a:bodyPr wrap="none" lIns="0" tIns="0" rIns="0" bIns="0" rtlCol="0" anchor="t"/>
          <a:lstStyle/>
          <a:p>
            <a:pPr algn="l" indent="0" marL="0">
              <a:lnSpc>
                <a:spcPts val="5150"/>
              </a:lnSpc>
              <a:buNone/>
            </a:pPr>
            <a:r>
              <a:rPr lang="en-US" sz="4100" b="1" dirty="0">
                <a:solidFill>
                  <a:srgbClr val="000000"/>
                </a:solidFill>
                <a:latin typeface="Montserrat Bold" pitchFamily="34" charset="0"/>
                <a:ea typeface="Montserrat Bold" pitchFamily="34" charset="-122"/>
                <a:cs typeface="Montserrat Bold" pitchFamily="34" charset="-120"/>
              </a:rPr>
              <a:t>Hourly Demand Distribution</a:t>
            </a:r>
            <a:endParaRPr lang="en-US" sz="4100" dirty="0"/>
          </a:p>
        </p:txBody>
      </p:sp>
      <p:sp>
        <p:nvSpPr>
          <p:cNvPr id="3" name="Text 1"/>
          <p:cNvSpPr/>
          <p:nvPr/>
        </p:nvSpPr>
        <p:spPr>
          <a:xfrm>
            <a:off x="811292" y="1933218"/>
            <a:ext cx="13007816" cy="347663"/>
          </a:xfrm>
          <a:prstGeom prst="rect">
            <a:avLst/>
          </a:prstGeom>
          <a:noFill/>
          <a:ln/>
        </p:spPr>
        <p:txBody>
          <a:bodyPr wrap="none" lIns="0" tIns="0" rIns="0" bIns="0" rtlCol="0" anchor="t"/>
          <a:lstStyle/>
          <a:p>
            <a:pPr algn="l" indent="0" marL="0">
              <a:lnSpc>
                <a:spcPts val="2700"/>
              </a:lnSpc>
              <a:buNone/>
            </a:pPr>
            <a:r>
              <a:rPr lang="en-US" sz="1800" dirty="0">
                <a:solidFill>
                  <a:srgbClr val="3D3838"/>
                </a:solidFill>
                <a:latin typeface="Source Sans 3" pitchFamily="34" charset="0"/>
                <a:ea typeface="Source Sans 3" pitchFamily="34" charset="-122"/>
                <a:cs typeface="Source Sans 3" pitchFamily="34" charset="-120"/>
              </a:rPr>
              <a:t>Normalized charging demand reveals clear temporal patterns that inform infrastructure planning and load management strategies.</a:t>
            </a:r>
            <a:endParaRPr lang="en-US" sz="1800" dirty="0"/>
          </a:p>
        </p:txBody>
      </p:sp>
      <p:sp>
        <p:nvSpPr>
          <p:cNvPr id="4" name="Shape 2"/>
          <p:cNvSpPr/>
          <p:nvPr/>
        </p:nvSpPr>
        <p:spPr>
          <a:xfrm>
            <a:off x="811292" y="4980027"/>
            <a:ext cx="13007816" cy="30480"/>
          </a:xfrm>
          <a:prstGeom prst="roundRect">
            <a:avLst>
              <a:gd name="adj" fmla="val 114078"/>
            </a:avLst>
          </a:prstGeom>
          <a:solidFill>
            <a:srgbClr val="D8D4D4"/>
          </a:solidFill>
          <a:ln/>
        </p:spPr>
      </p:sp>
      <p:sp>
        <p:nvSpPr>
          <p:cNvPr id="5" name="Shape 3"/>
          <p:cNvSpPr/>
          <p:nvPr/>
        </p:nvSpPr>
        <p:spPr>
          <a:xfrm>
            <a:off x="3310652" y="4284702"/>
            <a:ext cx="30480" cy="695325"/>
          </a:xfrm>
          <a:prstGeom prst="roundRect">
            <a:avLst>
              <a:gd name="adj" fmla="val 114078"/>
            </a:avLst>
          </a:prstGeom>
          <a:solidFill>
            <a:srgbClr val="D8D4D4"/>
          </a:solidFill>
          <a:ln/>
        </p:spPr>
      </p:sp>
      <p:sp>
        <p:nvSpPr>
          <p:cNvPr id="6" name="Shape 4"/>
          <p:cNvSpPr/>
          <p:nvPr/>
        </p:nvSpPr>
        <p:spPr>
          <a:xfrm>
            <a:off x="3065145" y="4719280"/>
            <a:ext cx="521494" cy="521494"/>
          </a:xfrm>
          <a:prstGeom prst="roundRect">
            <a:avLst>
              <a:gd name="adj" fmla="val 6668"/>
            </a:avLst>
          </a:prstGeom>
          <a:solidFill>
            <a:srgbClr val="F2EEEE"/>
          </a:solidFill>
          <a:ln/>
        </p:spPr>
      </p:sp>
      <p:sp>
        <p:nvSpPr>
          <p:cNvPr id="7" name="Text 5"/>
          <p:cNvSpPr/>
          <p:nvPr/>
        </p:nvSpPr>
        <p:spPr>
          <a:xfrm>
            <a:off x="3167896" y="4782503"/>
            <a:ext cx="315992" cy="395049"/>
          </a:xfrm>
          <a:prstGeom prst="rect">
            <a:avLst/>
          </a:prstGeom>
          <a:noFill/>
          <a:ln/>
        </p:spPr>
        <p:txBody>
          <a:bodyPr wrap="none" lIns="0" tIns="0" rIns="0" bIns="0" rtlCol="0" anchor="t"/>
          <a:lstStyle/>
          <a:p>
            <a:pPr algn="ctr" indent="0" marL="0">
              <a:lnSpc>
                <a:spcPts val="2450"/>
              </a:lnSpc>
              <a:buNone/>
            </a:pPr>
            <a:r>
              <a:rPr lang="en-US" sz="2450" b="1" dirty="0">
                <a:solidFill>
                  <a:srgbClr val="3D3838"/>
                </a:solidFill>
                <a:latin typeface="Montserrat Bold" pitchFamily="34" charset="0"/>
                <a:ea typeface="Montserrat Bold" pitchFamily="34" charset="-122"/>
                <a:cs typeface="Montserrat Bold" pitchFamily="34" charset="-120"/>
              </a:rPr>
              <a:t>1</a:t>
            </a:r>
            <a:endParaRPr lang="en-US" sz="2450" dirty="0"/>
          </a:p>
        </p:txBody>
      </p:sp>
      <p:sp>
        <p:nvSpPr>
          <p:cNvPr id="8" name="Text 6"/>
          <p:cNvSpPr/>
          <p:nvPr/>
        </p:nvSpPr>
        <p:spPr>
          <a:xfrm>
            <a:off x="2008823" y="2541627"/>
            <a:ext cx="2634139" cy="329208"/>
          </a:xfrm>
          <a:prstGeom prst="rect">
            <a:avLst/>
          </a:prstGeom>
          <a:noFill/>
          <a:ln/>
        </p:spPr>
        <p:txBody>
          <a:bodyPr wrap="none" lIns="0" tIns="0" rIns="0" bIns="0" rtlCol="0" anchor="t"/>
          <a:lstStyle/>
          <a:p>
            <a:pPr algn="ctr" indent="0" marL="0">
              <a:lnSpc>
                <a:spcPts val="2550"/>
              </a:lnSpc>
              <a:buNone/>
            </a:pPr>
            <a:r>
              <a:rPr lang="en-US" sz="2050" b="1" dirty="0">
                <a:solidFill>
                  <a:srgbClr val="3D3838"/>
                </a:solidFill>
                <a:latin typeface="Montserrat Bold" pitchFamily="34" charset="0"/>
                <a:ea typeface="Montserrat Bold" pitchFamily="34" charset="-122"/>
                <a:cs typeface="Montserrat Bold" pitchFamily="34" charset="-120"/>
              </a:rPr>
              <a:t>Nighttime (0-6h)</a:t>
            </a:r>
            <a:endParaRPr lang="en-US" sz="2050" dirty="0"/>
          </a:p>
        </p:txBody>
      </p:sp>
      <p:sp>
        <p:nvSpPr>
          <p:cNvPr id="9" name="Text 7"/>
          <p:cNvSpPr/>
          <p:nvPr/>
        </p:nvSpPr>
        <p:spPr>
          <a:xfrm>
            <a:off x="1042988" y="3009900"/>
            <a:ext cx="4565928" cy="1042988"/>
          </a:xfrm>
          <a:prstGeom prst="rect">
            <a:avLst/>
          </a:prstGeom>
          <a:noFill/>
          <a:ln/>
        </p:spPr>
        <p:txBody>
          <a:bodyPr wrap="square" lIns="0" tIns="0" rIns="0" bIns="0" rtlCol="0" anchor="t"/>
          <a:lstStyle/>
          <a:p>
            <a:pPr algn="ctr" indent="0" marL="0">
              <a:lnSpc>
                <a:spcPts val="2700"/>
              </a:lnSpc>
              <a:buNone/>
            </a:pPr>
            <a:r>
              <a:rPr lang="en-US" sz="1800" dirty="0">
                <a:solidFill>
                  <a:srgbClr val="3D3838"/>
                </a:solidFill>
                <a:latin typeface="Source Sans 3" pitchFamily="34" charset="0"/>
                <a:ea typeface="Source Sans 3" pitchFamily="34" charset="-122"/>
                <a:cs typeface="Source Sans 3" pitchFamily="34" charset="-120"/>
              </a:rPr>
              <a:t>Lowest demand period with normalized values 0.35-0.45. Ideal window for grid-friendly charging.</a:t>
            </a:r>
            <a:endParaRPr lang="en-US" sz="1800" dirty="0"/>
          </a:p>
        </p:txBody>
      </p:sp>
      <p:sp>
        <p:nvSpPr>
          <p:cNvPr id="10" name="Shape 8"/>
          <p:cNvSpPr/>
          <p:nvPr/>
        </p:nvSpPr>
        <p:spPr>
          <a:xfrm>
            <a:off x="5970151" y="4980027"/>
            <a:ext cx="30480" cy="695325"/>
          </a:xfrm>
          <a:prstGeom prst="roundRect">
            <a:avLst>
              <a:gd name="adj" fmla="val 114078"/>
            </a:avLst>
          </a:prstGeom>
          <a:solidFill>
            <a:srgbClr val="D8D4D4"/>
          </a:solidFill>
          <a:ln/>
        </p:spPr>
      </p:sp>
      <p:sp>
        <p:nvSpPr>
          <p:cNvPr id="11" name="Shape 9"/>
          <p:cNvSpPr/>
          <p:nvPr/>
        </p:nvSpPr>
        <p:spPr>
          <a:xfrm>
            <a:off x="5724644" y="4719280"/>
            <a:ext cx="521494" cy="521494"/>
          </a:xfrm>
          <a:prstGeom prst="roundRect">
            <a:avLst>
              <a:gd name="adj" fmla="val 6668"/>
            </a:avLst>
          </a:prstGeom>
          <a:solidFill>
            <a:srgbClr val="F2EEEE"/>
          </a:solidFill>
          <a:ln/>
        </p:spPr>
      </p:sp>
      <p:sp>
        <p:nvSpPr>
          <p:cNvPr id="12" name="Text 10"/>
          <p:cNvSpPr/>
          <p:nvPr/>
        </p:nvSpPr>
        <p:spPr>
          <a:xfrm>
            <a:off x="5827395" y="4782503"/>
            <a:ext cx="315992" cy="395049"/>
          </a:xfrm>
          <a:prstGeom prst="rect">
            <a:avLst/>
          </a:prstGeom>
          <a:noFill/>
          <a:ln/>
        </p:spPr>
        <p:txBody>
          <a:bodyPr wrap="none" lIns="0" tIns="0" rIns="0" bIns="0" rtlCol="0" anchor="t"/>
          <a:lstStyle/>
          <a:p>
            <a:pPr algn="ctr" indent="0" marL="0">
              <a:lnSpc>
                <a:spcPts val="2450"/>
              </a:lnSpc>
              <a:buNone/>
            </a:pPr>
            <a:r>
              <a:rPr lang="en-US" sz="2450" b="1" dirty="0">
                <a:solidFill>
                  <a:srgbClr val="3D3838"/>
                </a:solidFill>
                <a:latin typeface="Montserrat Bold" pitchFamily="34" charset="0"/>
                <a:ea typeface="Montserrat Bold" pitchFamily="34" charset="-122"/>
                <a:cs typeface="Montserrat Bold" pitchFamily="34" charset="-120"/>
              </a:rPr>
              <a:t>2</a:t>
            </a:r>
            <a:endParaRPr lang="en-US" sz="2450" dirty="0"/>
          </a:p>
        </p:txBody>
      </p:sp>
      <p:sp>
        <p:nvSpPr>
          <p:cNvPr id="13" name="Text 11"/>
          <p:cNvSpPr/>
          <p:nvPr/>
        </p:nvSpPr>
        <p:spPr>
          <a:xfrm>
            <a:off x="4668322" y="5907167"/>
            <a:ext cx="2634139" cy="329208"/>
          </a:xfrm>
          <a:prstGeom prst="rect">
            <a:avLst/>
          </a:prstGeom>
          <a:noFill/>
          <a:ln/>
        </p:spPr>
        <p:txBody>
          <a:bodyPr wrap="none" lIns="0" tIns="0" rIns="0" bIns="0" rtlCol="0" anchor="t"/>
          <a:lstStyle/>
          <a:p>
            <a:pPr algn="ctr" indent="0" marL="0">
              <a:lnSpc>
                <a:spcPts val="2550"/>
              </a:lnSpc>
              <a:buNone/>
            </a:pPr>
            <a:r>
              <a:rPr lang="en-US" sz="2050" b="1" dirty="0">
                <a:solidFill>
                  <a:srgbClr val="3D3838"/>
                </a:solidFill>
                <a:latin typeface="Montserrat Bold" pitchFamily="34" charset="0"/>
                <a:ea typeface="Montserrat Bold" pitchFamily="34" charset="-122"/>
                <a:cs typeface="Montserrat Bold" pitchFamily="34" charset="-120"/>
              </a:rPr>
              <a:t>Morning (6-12h)</a:t>
            </a:r>
            <a:endParaRPr lang="en-US" sz="2050" dirty="0"/>
          </a:p>
        </p:txBody>
      </p:sp>
      <p:sp>
        <p:nvSpPr>
          <p:cNvPr id="14" name="Text 12"/>
          <p:cNvSpPr/>
          <p:nvPr/>
        </p:nvSpPr>
        <p:spPr>
          <a:xfrm>
            <a:off x="3702487" y="6375440"/>
            <a:ext cx="4565928" cy="695325"/>
          </a:xfrm>
          <a:prstGeom prst="rect">
            <a:avLst/>
          </a:prstGeom>
          <a:noFill/>
          <a:ln/>
        </p:spPr>
        <p:txBody>
          <a:bodyPr wrap="square" lIns="0" tIns="0" rIns="0" bIns="0" rtlCol="0" anchor="t"/>
          <a:lstStyle/>
          <a:p>
            <a:pPr algn="ctr" indent="0" marL="0">
              <a:lnSpc>
                <a:spcPts val="2700"/>
              </a:lnSpc>
              <a:buNone/>
            </a:pPr>
            <a:r>
              <a:rPr lang="en-US" sz="1800" dirty="0">
                <a:solidFill>
                  <a:srgbClr val="3D3838"/>
                </a:solidFill>
                <a:latin typeface="Source Sans 3" pitchFamily="34" charset="0"/>
                <a:ea typeface="Source Sans 3" pitchFamily="34" charset="-122"/>
                <a:cs typeface="Source Sans 3" pitchFamily="34" charset="-120"/>
              </a:rPr>
              <a:t>Gradual increase to 0.50-0.55 as commuters begin charging. Solar production ramps up.</a:t>
            </a:r>
            <a:endParaRPr lang="en-US" sz="1800" dirty="0"/>
          </a:p>
        </p:txBody>
      </p:sp>
      <p:sp>
        <p:nvSpPr>
          <p:cNvPr id="15" name="Shape 13"/>
          <p:cNvSpPr/>
          <p:nvPr/>
        </p:nvSpPr>
        <p:spPr>
          <a:xfrm>
            <a:off x="8629650" y="4284702"/>
            <a:ext cx="30480" cy="695325"/>
          </a:xfrm>
          <a:prstGeom prst="roundRect">
            <a:avLst>
              <a:gd name="adj" fmla="val 114078"/>
            </a:avLst>
          </a:prstGeom>
          <a:solidFill>
            <a:srgbClr val="D8D4D4"/>
          </a:solidFill>
          <a:ln/>
        </p:spPr>
      </p:sp>
      <p:sp>
        <p:nvSpPr>
          <p:cNvPr id="16" name="Shape 14"/>
          <p:cNvSpPr/>
          <p:nvPr/>
        </p:nvSpPr>
        <p:spPr>
          <a:xfrm>
            <a:off x="8384143" y="4719280"/>
            <a:ext cx="521494" cy="521494"/>
          </a:xfrm>
          <a:prstGeom prst="roundRect">
            <a:avLst>
              <a:gd name="adj" fmla="val 6668"/>
            </a:avLst>
          </a:prstGeom>
          <a:solidFill>
            <a:srgbClr val="F2EEEE"/>
          </a:solidFill>
          <a:ln/>
        </p:spPr>
      </p:sp>
      <p:sp>
        <p:nvSpPr>
          <p:cNvPr id="17" name="Text 15"/>
          <p:cNvSpPr/>
          <p:nvPr/>
        </p:nvSpPr>
        <p:spPr>
          <a:xfrm>
            <a:off x="8486894" y="4782503"/>
            <a:ext cx="315992" cy="395049"/>
          </a:xfrm>
          <a:prstGeom prst="rect">
            <a:avLst/>
          </a:prstGeom>
          <a:noFill/>
          <a:ln/>
        </p:spPr>
        <p:txBody>
          <a:bodyPr wrap="none" lIns="0" tIns="0" rIns="0" bIns="0" rtlCol="0" anchor="t"/>
          <a:lstStyle/>
          <a:p>
            <a:pPr algn="ctr" indent="0" marL="0">
              <a:lnSpc>
                <a:spcPts val="2450"/>
              </a:lnSpc>
              <a:buNone/>
            </a:pPr>
            <a:r>
              <a:rPr lang="en-US" sz="2450" b="1" dirty="0">
                <a:solidFill>
                  <a:srgbClr val="3D3838"/>
                </a:solidFill>
                <a:latin typeface="Montserrat Bold" pitchFamily="34" charset="0"/>
                <a:ea typeface="Montserrat Bold" pitchFamily="34" charset="-122"/>
                <a:cs typeface="Montserrat Bold" pitchFamily="34" charset="-120"/>
              </a:rPr>
              <a:t>3</a:t>
            </a:r>
            <a:endParaRPr lang="en-US" sz="2450" dirty="0"/>
          </a:p>
        </p:txBody>
      </p:sp>
      <p:sp>
        <p:nvSpPr>
          <p:cNvPr id="18" name="Text 16"/>
          <p:cNvSpPr/>
          <p:nvPr/>
        </p:nvSpPr>
        <p:spPr>
          <a:xfrm>
            <a:off x="7327821" y="2541627"/>
            <a:ext cx="2634139" cy="329208"/>
          </a:xfrm>
          <a:prstGeom prst="rect">
            <a:avLst/>
          </a:prstGeom>
          <a:noFill/>
          <a:ln/>
        </p:spPr>
        <p:txBody>
          <a:bodyPr wrap="none" lIns="0" tIns="0" rIns="0" bIns="0" rtlCol="0" anchor="t"/>
          <a:lstStyle/>
          <a:p>
            <a:pPr algn="ctr" indent="0" marL="0">
              <a:lnSpc>
                <a:spcPts val="2550"/>
              </a:lnSpc>
              <a:buNone/>
            </a:pPr>
            <a:r>
              <a:rPr lang="en-US" sz="2050" b="1" dirty="0">
                <a:solidFill>
                  <a:srgbClr val="3D3838"/>
                </a:solidFill>
                <a:latin typeface="Montserrat Bold" pitchFamily="34" charset="0"/>
                <a:ea typeface="Montserrat Bold" pitchFamily="34" charset="-122"/>
                <a:cs typeface="Montserrat Bold" pitchFamily="34" charset="-120"/>
              </a:rPr>
              <a:t>Afternoon (12-18h)</a:t>
            </a:r>
            <a:endParaRPr lang="en-US" sz="2050" dirty="0"/>
          </a:p>
        </p:txBody>
      </p:sp>
      <p:sp>
        <p:nvSpPr>
          <p:cNvPr id="19" name="Text 17"/>
          <p:cNvSpPr/>
          <p:nvPr/>
        </p:nvSpPr>
        <p:spPr>
          <a:xfrm>
            <a:off x="6361986" y="3009900"/>
            <a:ext cx="4565928" cy="1042988"/>
          </a:xfrm>
          <a:prstGeom prst="rect">
            <a:avLst/>
          </a:prstGeom>
          <a:noFill/>
          <a:ln/>
        </p:spPr>
        <p:txBody>
          <a:bodyPr wrap="square" lIns="0" tIns="0" rIns="0" bIns="0" rtlCol="0" anchor="t"/>
          <a:lstStyle/>
          <a:p>
            <a:pPr algn="ctr" indent="0" marL="0">
              <a:lnSpc>
                <a:spcPts val="2700"/>
              </a:lnSpc>
              <a:buNone/>
            </a:pPr>
            <a:r>
              <a:rPr lang="en-US" sz="1800" dirty="0">
                <a:solidFill>
                  <a:srgbClr val="3D3838"/>
                </a:solidFill>
                <a:latin typeface="Source Sans 3" pitchFamily="34" charset="0"/>
                <a:ea typeface="Source Sans 3" pitchFamily="34" charset="-122"/>
                <a:cs typeface="Source Sans 3" pitchFamily="34" charset="-120"/>
              </a:rPr>
              <a:t>Peak demand window reaching 0.60-0.65. Maximum solar availability enables renewable charging.</a:t>
            </a:r>
            <a:endParaRPr lang="en-US" sz="1800" dirty="0"/>
          </a:p>
        </p:txBody>
      </p:sp>
      <p:sp>
        <p:nvSpPr>
          <p:cNvPr id="20" name="Shape 18"/>
          <p:cNvSpPr/>
          <p:nvPr/>
        </p:nvSpPr>
        <p:spPr>
          <a:xfrm>
            <a:off x="11289149" y="4980027"/>
            <a:ext cx="30480" cy="695325"/>
          </a:xfrm>
          <a:prstGeom prst="roundRect">
            <a:avLst>
              <a:gd name="adj" fmla="val 114078"/>
            </a:avLst>
          </a:prstGeom>
          <a:solidFill>
            <a:srgbClr val="D8D4D4"/>
          </a:solidFill>
          <a:ln/>
        </p:spPr>
      </p:sp>
      <p:sp>
        <p:nvSpPr>
          <p:cNvPr id="21" name="Shape 19"/>
          <p:cNvSpPr/>
          <p:nvPr/>
        </p:nvSpPr>
        <p:spPr>
          <a:xfrm>
            <a:off x="11043642" y="4719280"/>
            <a:ext cx="521494" cy="521494"/>
          </a:xfrm>
          <a:prstGeom prst="roundRect">
            <a:avLst>
              <a:gd name="adj" fmla="val 6668"/>
            </a:avLst>
          </a:prstGeom>
          <a:solidFill>
            <a:srgbClr val="F2EEEE"/>
          </a:solidFill>
          <a:ln/>
        </p:spPr>
      </p:sp>
      <p:sp>
        <p:nvSpPr>
          <p:cNvPr id="22" name="Text 20"/>
          <p:cNvSpPr/>
          <p:nvPr/>
        </p:nvSpPr>
        <p:spPr>
          <a:xfrm>
            <a:off x="11146393" y="4782503"/>
            <a:ext cx="315992" cy="395049"/>
          </a:xfrm>
          <a:prstGeom prst="rect">
            <a:avLst/>
          </a:prstGeom>
          <a:noFill/>
          <a:ln/>
        </p:spPr>
        <p:txBody>
          <a:bodyPr wrap="none" lIns="0" tIns="0" rIns="0" bIns="0" rtlCol="0" anchor="t"/>
          <a:lstStyle/>
          <a:p>
            <a:pPr algn="ctr" indent="0" marL="0">
              <a:lnSpc>
                <a:spcPts val="2450"/>
              </a:lnSpc>
              <a:buNone/>
            </a:pPr>
            <a:r>
              <a:rPr lang="en-US" sz="2450" b="1" dirty="0">
                <a:solidFill>
                  <a:srgbClr val="3D3838"/>
                </a:solidFill>
                <a:latin typeface="Montserrat Bold" pitchFamily="34" charset="0"/>
                <a:ea typeface="Montserrat Bold" pitchFamily="34" charset="-122"/>
                <a:cs typeface="Montserrat Bold" pitchFamily="34" charset="-120"/>
              </a:rPr>
              <a:t>4</a:t>
            </a:r>
            <a:endParaRPr lang="en-US" sz="2450" dirty="0"/>
          </a:p>
        </p:txBody>
      </p:sp>
      <p:sp>
        <p:nvSpPr>
          <p:cNvPr id="23" name="Text 21"/>
          <p:cNvSpPr/>
          <p:nvPr/>
        </p:nvSpPr>
        <p:spPr>
          <a:xfrm>
            <a:off x="9987320" y="5907167"/>
            <a:ext cx="2634139" cy="329208"/>
          </a:xfrm>
          <a:prstGeom prst="rect">
            <a:avLst/>
          </a:prstGeom>
          <a:noFill/>
          <a:ln/>
        </p:spPr>
        <p:txBody>
          <a:bodyPr wrap="none" lIns="0" tIns="0" rIns="0" bIns="0" rtlCol="0" anchor="t"/>
          <a:lstStyle/>
          <a:p>
            <a:pPr algn="ctr" indent="0" marL="0">
              <a:lnSpc>
                <a:spcPts val="2550"/>
              </a:lnSpc>
              <a:buNone/>
            </a:pPr>
            <a:r>
              <a:rPr lang="en-US" sz="2050" b="1" dirty="0">
                <a:solidFill>
                  <a:srgbClr val="3D3838"/>
                </a:solidFill>
                <a:latin typeface="Montserrat Bold" pitchFamily="34" charset="0"/>
                <a:ea typeface="Montserrat Bold" pitchFamily="34" charset="-122"/>
                <a:cs typeface="Montserrat Bold" pitchFamily="34" charset="-120"/>
              </a:rPr>
              <a:t>Evening (18-24h)</a:t>
            </a:r>
            <a:endParaRPr lang="en-US" sz="2050" dirty="0"/>
          </a:p>
        </p:txBody>
      </p:sp>
      <p:sp>
        <p:nvSpPr>
          <p:cNvPr id="24" name="Text 22"/>
          <p:cNvSpPr/>
          <p:nvPr/>
        </p:nvSpPr>
        <p:spPr>
          <a:xfrm>
            <a:off x="9021485" y="6375440"/>
            <a:ext cx="4565928" cy="1042988"/>
          </a:xfrm>
          <a:prstGeom prst="rect">
            <a:avLst/>
          </a:prstGeom>
          <a:noFill/>
          <a:ln/>
        </p:spPr>
        <p:txBody>
          <a:bodyPr wrap="square" lIns="0" tIns="0" rIns="0" bIns="0" rtlCol="0" anchor="t"/>
          <a:lstStyle/>
          <a:p>
            <a:pPr algn="ctr" indent="0" marL="0">
              <a:lnSpc>
                <a:spcPts val="2700"/>
              </a:lnSpc>
              <a:buNone/>
            </a:pPr>
            <a:r>
              <a:rPr lang="en-US" sz="1800" dirty="0">
                <a:solidFill>
                  <a:srgbClr val="3D3838"/>
                </a:solidFill>
                <a:latin typeface="Source Sans 3" pitchFamily="34" charset="0"/>
                <a:ea typeface="Source Sans 3" pitchFamily="34" charset="-122"/>
                <a:cs typeface="Source Sans 3" pitchFamily="34" charset="-120"/>
              </a:rPr>
              <a:t>Secondary peak at 0.55-0.60 as users return home. Grid pressure intensifies as solar declines.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18517" y="407313"/>
            <a:ext cx="5378053" cy="420886"/>
          </a:xfrm>
          <a:prstGeom prst="rect">
            <a:avLst/>
          </a:prstGeom>
          <a:noFill/>
          <a:ln/>
        </p:spPr>
        <p:txBody>
          <a:bodyPr wrap="none" lIns="0" tIns="0" rIns="0" bIns="0" rtlCol="0" anchor="t"/>
          <a:lstStyle/>
          <a:p>
            <a:pPr algn="l" indent="0" marL="0">
              <a:lnSpc>
                <a:spcPts val="3300"/>
              </a:lnSpc>
              <a:buNone/>
            </a:pPr>
            <a:r>
              <a:rPr lang="en-US" sz="2650" b="1" dirty="0">
                <a:solidFill>
                  <a:srgbClr val="000000"/>
                </a:solidFill>
                <a:latin typeface="Montserrat Bold" pitchFamily="34" charset="0"/>
                <a:ea typeface="Montserrat Bold" pitchFamily="34" charset="-122"/>
                <a:cs typeface="Montserrat Bold" pitchFamily="34" charset="-120"/>
              </a:rPr>
              <a:t>Renewable Energy Production</a:t>
            </a:r>
            <a:endParaRPr lang="en-US" sz="2650" dirty="0"/>
          </a:p>
        </p:txBody>
      </p:sp>
      <p:sp>
        <p:nvSpPr>
          <p:cNvPr id="3" name="Text 1"/>
          <p:cNvSpPr/>
          <p:nvPr/>
        </p:nvSpPr>
        <p:spPr>
          <a:xfrm>
            <a:off x="518517" y="1124426"/>
            <a:ext cx="13593366" cy="222171"/>
          </a:xfrm>
          <a:prstGeom prst="rect">
            <a:avLst/>
          </a:prstGeom>
          <a:noFill/>
          <a:ln/>
        </p:spPr>
        <p:txBody>
          <a:bodyPr wrap="none" lIns="0" tIns="0" rIns="0" bIns="0" rtlCol="0" anchor="t"/>
          <a:lstStyle/>
          <a:p>
            <a:pPr algn="l" indent="0" marL="0">
              <a:lnSpc>
                <a:spcPts val="1700"/>
              </a:lnSpc>
              <a:buNone/>
            </a:pPr>
            <a:r>
              <a:rPr lang="en-US" sz="1150" dirty="0">
                <a:solidFill>
                  <a:srgbClr val="3D3838"/>
                </a:solidFill>
                <a:latin typeface="Source Sans 3" pitchFamily="34" charset="0"/>
                <a:ea typeface="Source Sans 3" pitchFamily="34" charset="-122"/>
                <a:cs typeface="Source Sans 3" pitchFamily="34" charset="-120"/>
              </a:rPr>
              <a:t>Total renewable energy production (solar + wind combined) demonstrates seasonal variability that directly influences charging sustainability and grid impact.</a:t>
            </a:r>
            <a:endParaRPr lang="en-US" sz="1150" dirty="0"/>
          </a:p>
        </p:txBody>
      </p:sp>
      <p:pic>
        <p:nvPicPr>
          <p:cNvPr id="4" name="Image 0" descr="preencoded.png">    </p:cNvPr>
          <p:cNvPicPr>
            <a:picLocks noChangeAspect="1"/>
          </p:cNvPicPr>
          <p:nvPr/>
        </p:nvPicPr>
        <p:blipFill>
          <a:blip r:embed="rId1"/>
          <a:stretch>
            <a:fillRect/>
          </a:stretch>
        </p:blipFill>
        <p:spPr>
          <a:xfrm>
            <a:off x="518517" y="1513165"/>
            <a:ext cx="13593366" cy="7612261"/>
          </a:xfrm>
          <a:prstGeom prst="rect">
            <a:avLst/>
          </a:prstGeom>
        </p:spPr>
      </p:pic>
      <p:sp>
        <p:nvSpPr>
          <p:cNvPr id="5" name="Text 2"/>
          <p:cNvSpPr/>
          <p:nvPr/>
        </p:nvSpPr>
        <p:spPr>
          <a:xfrm>
            <a:off x="518517" y="9291995"/>
            <a:ext cx="13593366" cy="444341"/>
          </a:xfrm>
          <a:prstGeom prst="rect">
            <a:avLst/>
          </a:prstGeom>
          <a:noFill/>
          <a:ln/>
        </p:spPr>
        <p:txBody>
          <a:bodyPr wrap="square" lIns="0" tIns="0" rIns="0" bIns="0" rtlCol="0" anchor="t"/>
          <a:lstStyle/>
          <a:p>
            <a:pPr algn="l" indent="0" marL="0">
              <a:lnSpc>
                <a:spcPts val="1700"/>
              </a:lnSpc>
              <a:buNone/>
            </a:pPr>
            <a:r>
              <a:rPr lang="en-US" sz="1150" dirty="0">
                <a:solidFill>
                  <a:srgbClr val="3D3838"/>
                </a:solidFill>
                <a:latin typeface="Source Sans 3" pitchFamily="34" charset="0"/>
                <a:ea typeface="Source Sans 3" pitchFamily="34" charset="-122"/>
                <a:cs typeface="Source Sans 3" pitchFamily="34" charset="-120"/>
              </a:rPr>
              <a:t>Nighttime consistently produces the highest renewable energy across seasons, particularly in summer and spring. This counterintuitive pattern suggests strong wind generation compensates for solar absence, creating optimal conditions for overnight charging strategies.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42950" y="748189"/>
            <a:ext cx="10001012" cy="603052"/>
          </a:xfrm>
          <a:prstGeom prst="rect">
            <a:avLst/>
          </a:prstGeom>
          <a:noFill/>
          <a:ln/>
        </p:spPr>
        <p:txBody>
          <a:bodyPr wrap="none" lIns="0" tIns="0" rIns="0" bIns="0" rtlCol="0" anchor="t"/>
          <a:lstStyle/>
          <a:p>
            <a:pPr algn="l" indent="0" marL="0">
              <a:lnSpc>
                <a:spcPts val="4700"/>
              </a:lnSpc>
              <a:buNone/>
            </a:pPr>
            <a:r>
              <a:rPr lang="en-US" sz="3750" b="1" dirty="0">
                <a:solidFill>
                  <a:srgbClr val="000000"/>
                </a:solidFill>
                <a:latin typeface="Montserrat Bold" pitchFamily="34" charset="0"/>
                <a:ea typeface="Montserrat Bold" pitchFamily="34" charset="-122"/>
                <a:cs typeface="Montserrat Bold" pitchFamily="34" charset="-120"/>
              </a:rPr>
              <a:t>Weather Impact on Charging Efficiency</a:t>
            </a:r>
            <a:endParaRPr lang="en-US" sz="3750" dirty="0"/>
          </a:p>
        </p:txBody>
      </p:sp>
      <p:sp>
        <p:nvSpPr>
          <p:cNvPr id="3" name="Text 1"/>
          <p:cNvSpPr/>
          <p:nvPr/>
        </p:nvSpPr>
        <p:spPr>
          <a:xfrm>
            <a:off x="742950" y="1775817"/>
            <a:ext cx="13144500" cy="636746"/>
          </a:xfrm>
          <a:prstGeom prst="rect">
            <a:avLst/>
          </a:prstGeom>
          <a:noFill/>
          <a:ln/>
        </p:spPr>
        <p:txBody>
          <a:bodyPr wrap="square" lIns="0" tIns="0" rIns="0" bIns="0" rtlCol="0" anchor="t"/>
          <a:lstStyle/>
          <a:p>
            <a:pPr algn="l"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Weather conditions significantly influence EV charging efficiency, with normalized efficiency values ranging from 0.45 to 0.53 across different meteorological scenarios.</a:t>
            </a:r>
            <a:endParaRPr lang="en-US" sz="1650" dirty="0"/>
          </a:p>
        </p:txBody>
      </p:sp>
      <p:sp>
        <p:nvSpPr>
          <p:cNvPr id="4" name="Shape 2"/>
          <p:cNvSpPr/>
          <p:nvPr/>
        </p:nvSpPr>
        <p:spPr>
          <a:xfrm>
            <a:off x="742950" y="2969657"/>
            <a:ext cx="4239935" cy="2149673"/>
          </a:xfrm>
          <a:prstGeom prst="roundRect">
            <a:avLst>
              <a:gd name="adj" fmla="val 5104"/>
            </a:avLst>
          </a:prstGeom>
          <a:solidFill>
            <a:srgbClr val="FFFFFF"/>
          </a:solidFill>
          <a:ln/>
        </p:spPr>
      </p:sp>
      <p:sp>
        <p:nvSpPr>
          <p:cNvPr id="5" name="Shape 3"/>
          <p:cNvSpPr/>
          <p:nvPr/>
        </p:nvSpPr>
        <p:spPr>
          <a:xfrm>
            <a:off x="742950" y="2946797"/>
            <a:ext cx="4239935" cy="91440"/>
          </a:xfrm>
          <a:prstGeom prst="roundRect">
            <a:avLst>
              <a:gd name="adj" fmla="val 34824"/>
            </a:avLst>
          </a:prstGeom>
          <a:solidFill>
            <a:srgbClr val="2D2E34"/>
          </a:solidFill>
          <a:ln/>
        </p:spPr>
      </p:sp>
      <p:sp>
        <p:nvSpPr>
          <p:cNvPr id="6" name="Shape 4"/>
          <p:cNvSpPr/>
          <p:nvPr/>
        </p:nvSpPr>
        <p:spPr>
          <a:xfrm>
            <a:off x="2544425" y="2651284"/>
            <a:ext cx="636865" cy="636865"/>
          </a:xfrm>
          <a:prstGeom prst="roundRect">
            <a:avLst>
              <a:gd name="adj" fmla="val 143578"/>
            </a:avLst>
          </a:prstGeom>
          <a:solidFill>
            <a:srgbClr val="2D2E34"/>
          </a:solidFill>
          <a:ln/>
        </p:spPr>
      </p:sp>
      <p:sp>
        <p:nvSpPr>
          <p:cNvPr id="7" name="Text 5"/>
          <p:cNvSpPr/>
          <p:nvPr/>
        </p:nvSpPr>
        <p:spPr>
          <a:xfrm>
            <a:off x="978098" y="3500318"/>
            <a:ext cx="2412325" cy="301466"/>
          </a:xfrm>
          <a:prstGeom prst="rect">
            <a:avLst/>
          </a:prstGeom>
          <a:noFill/>
          <a:ln/>
        </p:spPr>
        <p:txBody>
          <a:bodyPr wrap="none" lIns="0" tIns="0" rIns="0" bIns="0" rtlCol="0" anchor="t"/>
          <a:lstStyle/>
          <a:p>
            <a:pPr algn="l" indent="0" marL="0">
              <a:lnSpc>
                <a:spcPts val="2350"/>
              </a:lnSpc>
              <a:buNone/>
            </a:pPr>
            <a:r>
              <a:rPr lang="en-US" sz="1850" b="1" dirty="0">
                <a:solidFill>
                  <a:srgbClr val="3D3838"/>
                </a:solidFill>
                <a:latin typeface="Montserrat Bold" pitchFamily="34" charset="0"/>
                <a:ea typeface="Montserrat Bold" pitchFamily="34" charset="-122"/>
                <a:cs typeface="Montserrat Bold" pitchFamily="34" charset="-120"/>
              </a:rPr>
              <a:t>Sunny Conditions</a:t>
            </a:r>
            <a:endParaRPr lang="en-US" sz="1850" dirty="0"/>
          </a:p>
        </p:txBody>
      </p:sp>
      <p:sp>
        <p:nvSpPr>
          <p:cNvPr id="8" name="Text 6"/>
          <p:cNvSpPr/>
          <p:nvPr/>
        </p:nvSpPr>
        <p:spPr>
          <a:xfrm>
            <a:off x="978098" y="3929063"/>
            <a:ext cx="3769638" cy="955119"/>
          </a:xfrm>
          <a:prstGeom prst="rect">
            <a:avLst/>
          </a:prstGeom>
          <a:noFill/>
          <a:ln/>
        </p:spPr>
        <p:txBody>
          <a:bodyPr wrap="square" lIns="0" tIns="0" rIns="0" bIns="0" rtlCol="0" anchor="t"/>
          <a:lstStyle/>
          <a:p>
            <a:pPr algn="l"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Highest efficiency at 0.53 normalized. Optimal temperature and solar production create ideal charging environment.</a:t>
            </a:r>
            <a:endParaRPr lang="en-US" sz="1650" dirty="0"/>
          </a:p>
        </p:txBody>
      </p:sp>
      <p:sp>
        <p:nvSpPr>
          <p:cNvPr id="9" name="Shape 7"/>
          <p:cNvSpPr/>
          <p:nvPr/>
        </p:nvSpPr>
        <p:spPr>
          <a:xfrm>
            <a:off x="5195173" y="2969657"/>
            <a:ext cx="4239935" cy="2149673"/>
          </a:xfrm>
          <a:prstGeom prst="roundRect">
            <a:avLst>
              <a:gd name="adj" fmla="val 5104"/>
            </a:avLst>
          </a:prstGeom>
          <a:solidFill>
            <a:srgbClr val="FFFFFF"/>
          </a:solidFill>
          <a:ln/>
        </p:spPr>
      </p:sp>
      <p:sp>
        <p:nvSpPr>
          <p:cNvPr id="10" name="Shape 8"/>
          <p:cNvSpPr/>
          <p:nvPr/>
        </p:nvSpPr>
        <p:spPr>
          <a:xfrm>
            <a:off x="5195173" y="2946797"/>
            <a:ext cx="4239935" cy="91440"/>
          </a:xfrm>
          <a:prstGeom prst="roundRect">
            <a:avLst>
              <a:gd name="adj" fmla="val 34824"/>
            </a:avLst>
          </a:prstGeom>
          <a:solidFill>
            <a:srgbClr val="2D2E34"/>
          </a:solidFill>
          <a:ln/>
        </p:spPr>
      </p:sp>
      <p:sp>
        <p:nvSpPr>
          <p:cNvPr id="11" name="Shape 9"/>
          <p:cNvSpPr/>
          <p:nvPr/>
        </p:nvSpPr>
        <p:spPr>
          <a:xfrm>
            <a:off x="6996648" y="2651284"/>
            <a:ext cx="636865" cy="636865"/>
          </a:xfrm>
          <a:prstGeom prst="roundRect">
            <a:avLst>
              <a:gd name="adj" fmla="val 143578"/>
            </a:avLst>
          </a:prstGeom>
          <a:solidFill>
            <a:srgbClr val="2D2E34"/>
          </a:solidFill>
          <a:ln/>
        </p:spPr>
      </p:sp>
      <p:sp>
        <p:nvSpPr>
          <p:cNvPr id="12" name="Text 10"/>
          <p:cNvSpPr/>
          <p:nvPr/>
        </p:nvSpPr>
        <p:spPr>
          <a:xfrm>
            <a:off x="5430322" y="3500318"/>
            <a:ext cx="2412325" cy="301466"/>
          </a:xfrm>
          <a:prstGeom prst="rect">
            <a:avLst/>
          </a:prstGeom>
          <a:noFill/>
          <a:ln/>
        </p:spPr>
        <p:txBody>
          <a:bodyPr wrap="none" lIns="0" tIns="0" rIns="0" bIns="0" rtlCol="0" anchor="t"/>
          <a:lstStyle/>
          <a:p>
            <a:pPr algn="l" indent="0" marL="0">
              <a:lnSpc>
                <a:spcPts val="2350"/>
              </a:lnSpc>
              <a:buNone/>
            </a:pPr>
            <a:r>
              <a:rPr lang="en-US" sz="1850" b="1" dirty="0">
                <a:solidFill>
                  <a:srgbClr val="3D3838"/>
                </a:solidFill>
                <a:latin typeface="Montserrat Bold" pitchFamily="34" charset="0"/>
                <a:ea typeface="Montserrat Bold" pitchFamily="34" charset="-122"/>
                <a:cs typeface="Montserrat Bold" pitchFamily="34" charset="-120"/>
              </a:rPr>
              <a:t>Cloudy Weather</a:t>
            </a:r>
            <a:endParaRPr lang="en-US" sz="1850" dirty="0"/>
          </a:p>
        </p:txBody>
      </p:sp>
      <p:sp>
        <p:nvSpPr>
          <p:cNvPr id="13" name="Text 11"/>
          <p:cNvSpPr/>
          <p:nvPr/>
        </p:nvSpPr>
        <p:spPr>
          <a:xfrm>
            <a:off x="5430322" y="3929063"/>
            <a:ext cx="3769638" cy="955119"/>
          </a:xfrm>
          <a:prstGeom prst="rect">
            <a:avLst/>
          </a:prstGeom>
          <a:noFill/>
          <a:ln/>
        </p:spPr>
        <p:txBody>
          <a:bodyPr wrap="square" lIns="0" tIns="0" rIns="0" bIns="0" rtlCol="0" anchor="t"/>
          <a:lstStyle/>
          <a:p>
            <a:pPr algn="l"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Moderate efficiency at 0.50 normalized. Reduced solar but stable temperatures maintain performance.</a:t>
            </a:r>
            <a:endParaRPr lang="en-US" sz="1650" dirty="0"/>
          </a:p>
        </p:txBody>
      </p:sp>
      <p:sp>
        <p:nvSpPr>
          <p:cNvPr id="14" name="Shape 12"/>
          <p:cNvSpPr/>
          <p:nvPr/>
        </p:nvSpPr>
        <p:spPr>
          <a:xfrm>
            <a:off x="9647396" y="2969657"/>
            <a:ext cx="4239935" cy="2149673"/>
          </a:xfrm>
          <a:prstGeom prst="roundRect">
            <a:avLst>
              <a:gd name="adj" fmla="val 5104"/>
            </a:avLst>
          </a:prstGeom>
          <a:solidFill>
            <a:srgbClr val="FFFFFF"/>
          </a:solidFill>
          <a:ln/>
        </p:spPr>
      </p:sp>
      <p:sp>
        <p:nvSpPr>
          <p:cNvPr id="15" name="Shape 13"/>
          <p:cNvSpPr/>
          <p:nvPr/>
        </p:nvSpPr>
        <p:spPr>
          <a:xfrm>
            <a:off x="9647396" y="2946797"/>
            <a:ext cx="4239935" cy="91440"/>
          </a:xfrm>
          <a:prstGeom prst="roundRect">
            <a:avLst>
              <a:gd name="adj" fmla="val 34824"/>
            </a:avLst>
          </a:prstGeom>
          <a:solidFill>
            <a:srgbClr val="2D2E34"/>
          </a:solidFill>
          <a:ln/>
        </p:spPr>
      </p:sp>
      <p:sp>
        <p:nvSpPr>
          <p:cNvPr id="16" name="Shape 14"/>
          <p:cNvSpPr/>
          <p:nvPr/>
        </p:nvSpPr>
        <p:spPr>
          <a:xfrm>
            <a:off x="11448871" y="2651284"/>
            <a:ext cx="636865" cy="636865"/>
          </a:xfrm>
          <a:prstGeom prst="roundRect">
            <a:avLst>
              <a:gd name="adj" fmla="val 143578"/>
            </a:avLst>
          </a:prstGeom>
          <a:solidFill>
            <a:srgbClr val="2D2E34"/>
          </a:solidFill>
          <a:ln/>
        </p:spPr>
      </p:sp>
      <p:sp>
        <p:nvSpPr>
          <p:cNvPr id="17" name="Text 15"/>
          <p:cNvSpPr/>
          <p:nvPr/>
        </p:nvSpPr>
        <p:spPr>
          <a:xfrm>
            <a:off x="9882545" y="3500318"/>
            <a:ext cx="2412325" cy="301466"/>
          </a:xfrm>
          <a:prstGeom prst="rect">
            <a:avLst/>
          </a:prstGeom>
          <a:noFill/>
          <a:ln/>
        </p:spPr>
        <p:txBody>
          <a:bodyPr wrap="none" lIns="0" tIns="0" rIns="0" bIns="0" rtlCol="0" anchor="t"/>
          <a:lstStyle/>
          <a:p>
            <a:pPr algn="l" indent="0" marL="0">
              <a:lnSpc>
                <a:spcPts val="2350"/>
              </a:lnSpc>
              <a:buNone/>
            </a:pPr>
            <a:r>
              <a:rPr lang="en-US" sz="1850" b="1" dirty="0">
                <a:solidFill>
                  <a:srgbClr val="3D3838"/>
                </a:solidFill>
                <a:latin typeface="Montserrat Bold" pitchFamily="34" charset="0"/>
                <a:ea typeface="Montserrat Bold" pitchFamily="34" charset="-122"/>
                <a:cs typeface="Montserrat Bold" pitchFamily="34" charset="-120"/>
              </a:rPr>
              <a:t>Partly Cloudy</a:t>
            </a:r>
            <a:endParaRPr lang="en-US" sz="1850" dirty="0"/>
          </a:p>
        </p:txBody>
      </p:sp>
      <p:sp>
        <p:nvSpPr>
          <p:cNvPr id="18" name="Text 16"/>
          <p:cNvSpPr/>
          <p:nvPr/>
        </p:nvSpPr>
        <p:spPr>
          <a:xfrm>
            <a:off x="9882545" y="3929063"/>
            <a:ext cx="3769638" cy="955119"/>
          </a:xfrm>
          <a:prstGeom prst="rect">
            <a:avLst/>
          </a:prstGeom>
          <a:noFill/>
          <a:ln/>
        </p:spPr>
        <p:txBody>
          <a:bodyPr wrap="square" lIns="0" tIns="0" rIns="0" bIns="0" rtlCol="0" anchor="t"/>
          <a:lstStyle/>
          <a:p>
            <a:pPr algn="l"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Efficiency at 0.49 normalized. Variable conditions create moderate charging performance.</a:t>
            </a:r>
            <a:endParaRPr lang="en-US" sz="1650" dirty="0"/>
          </a:p>
        </p:txBody>
      </p:sp>
      <p:sp>
        <p:nvSpPr>
          <p:cNvPr id="19" name="Shape 17"/>
          <p:cNvSpPr/>
          <p:nvPr/>
        </p:nvSpPr>
        <p:spPr>
          <a:xfrm>
            <a:off x="742950" y="5649992"/>
            <a:ext cx="6466046" cy="1831300"/>
          </a:xfrm>
          <a:prstGeom prst="roundRect">
            <a:avLst>
              <a:gd name="adj" fmla="val 5992"/>
            </a:avLst>
          </a:prstGeom>
          <a:solidFill>
            <a:srgbClr val="FFFFFF"/>
          </a:solidFill>
          <a:ln/>
        </p:spPr>
      </p:sp>
      <p:sp>
        <p:nvSpPr>
          <p:cNvPr id="20" name="Shape 18"/>
          <p:cNvSpPr/>
          <p:nvPr/>
        </p:nvSpPr>
        <p:spPr>
          <a:xfrm>
            <a:off x="742950" y="5627132"/>
            <a:ext cx="6466046" cy="91440"/>
          </a:xfrm>
          <a:prstGeom prst="roundRect">
            <a:avLst>
              <a:gd name="adj" fmla="val 34824"/>
            </a:avLst>
          </a:prstGeom>
          <a:solidFill>
            <a:srgbClr val="2D2E34"/>
          </a:solidFill>
          <a:ln/>
        </p:spPr>
      </p:sp>
      <p:sp>
        <p:nvSpPr>
          <p:cNvPr id="21" name="Shape 19"/>
          <p:cNvSpPr/>
          <p:nvPr/>
        </p:nvSpPr>
        <p:spPr>
          <a:xfrm>
            <a:off x="3657540" y="5331619"/>
            <a:ext cx="636865" cy="636865"/>
          </a:xfrm>
          <a:prstGeom prst="roundRect">
            <a:avLst>
              <a:gd name="adj" fmla="val 143578"/>
            </a:avLst>
          </a:prstGeom>
          <a:solidFill>
            <a:srgbClr val="2D2E34"/>
          </a:solidFill>
          <a:ln/>
        </p:spPr>
      </p:sp>
      <p:sp>
        <p:nvSpPr>
          <p:cNvPr id="22" name="Text 20"/>
          <p:cNvSpPr/>
          <p:nvPr/>
        </p:nvSpPr>
        <p:spPr>
          <a:xfrm>
            <a:off x="978098" y="6180653"/>
            <a:ext cx="2412325" cy="301466"/>
          </a:xfrm>
          <a:prstGeom prst="rect">
            <a:avLst/>
          </a:prstGeom>
          <a:noFill/>
          <a:ln/>
        </p:spPr>
        <p:txBody>
          <a:bodyPr wrap="none" lIns="0" tIns="0" rIns="0" bIns="0" rtlCol="0" anchor="t"/>
          <a:lstStyle/>
          <a:p>
            <a:pPr algn="l" indent="0" marL="0">
              <a:lnSpc>
                <a:spcPts val="2350"/>
              </a:lnSpc>
              <a:buNone/>
            </a:pPr>
            <a:r>
              <a:rPr lang="en-US" sz="1850" b="1" dirty="0">
                <a:solidFill>
                  <a:srgbClr val="3D3838"/>
                </a:solidFill>
                <a:latin typeface="Montserrat Bold" pitchFamily="34" charset="0"/>
                <a:ea typeface="Montserrat Bold" pitchFamily="34" charset="-122"/>
                <a:cs typeface="Montserrat Bold" pitchFamily="34" charset="-120"/>
              </a:rPr>
              <a:t>Rainy Periods</a:t>
            </a:r>
            <a:endParaRPr lang="en-US" sz="1850" dirty="0"/>
          </a:p>
        </p:txBody>
      </p:sp>
      <p:sp>
        <p:nvSpPr>
          <p:cNvPr id="23" name="Text 21"/>
          <p:cNvSpPr/>
          <p:nvPr/>
        </p:nvSpPr>
        <p:spPr>
          <a:xfrm>
            <a:off x="978098" y="6609398"/>
            <a:ext cx="5995749" cy="636746"/>
          </a:xfrm>
          <a:prstGeom prst="rect">
            <a:avLst/>
          </a:prstGeom>
          <a:noFill/>
          <a:ln/>
        </p:spPr>
        <p:txBody>
          <a:bodyPr wrap="square" lIns="0" tIns="0" rIns="0" bIns="0" rtlCol="0" anchor="t"/>
          <a:lstStyle/>
          <a:p>
            <a:pPr algn="l"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Efficiency at 0.48 normalized. Lower temperatures and humidity impact charging systems.</a:t>
            </a:r>
            <a:endParaRPr lang="en-US" sz="1650" dirty="0"/>
          </a:p>
        </p:txBody>
      </p:sp>
      <p:sp>
        <p:nvSpPr>
          <p:cNvPr id="24" name="Shape 22"/>
          <p:cNvSpPr/>
          <p:nvPr/>
        </p:nvSpPr>
        <p:spPr>
          <a:xfrm>
            <a:off x="7421285" y="5649992"/>
            <a:ext cx="6466046" cy="1831300"/>
          </a:xfrm>
          <a:prstGeom prst="roundRect">
            <a:avLst>
              <a:gd name="adj" fmla="val 5992"/>
            </a:avLst>
          </a:prstGeom>
          <a:solidFill>
            <a:srgbClr val="FFFFFF"/>
          </a:solidFill>
          <a:ln/>
        </p:spPr>
      </p:sp>
      <p:sp>
        <p:nvSpPr>
          <p:cNvPr id="25" name="Shape 23"/>
          <p:cNvSpPr/>
          <p:nvPr/>
        </p:nvSpPr>
        <p:spPr>
          <a:xfrm>
            <a:off x="7421285" y="5627132"/>
            <a:ext cx="6466046" cy="91440"/>
          </a:xfrm>
          <a:prstGeom prst="roundRect">
            <a:avLst>
              <a:gd name="adj" fmla="val 34824"/>
            </a:avLst>
          </a:prstGeom>
          <a:solidFill>
            <a:srgbClr val="2D2E34"/>
          </a:solidFill>
          <a:ln/>
        </p:spPr>
      </p:sp>
      <p:sp>
        <p:nvSpPr>
          <p:cNvPr id="26" name="Shape 24"/>
          <p:cNvSpPr/>
          <p:nvPr/>
        </p:nvSpPr>
        <p:spPr>
          <a:xfrm>
            <a:off x="10335875" y="5331619"/>
            <a:ext cx="636865" cy="636865"/>
          </a:xfrm>
          <a:prstGeom prst="roundRect">
            <a:avLst>
              <a:gd name="adj" fmla="val 143578"/>
            </a:avLst>
          </a:prstGeom>
          <a:solidFill>
            <a:srgbClr val="2D2E34"/>
          </a:solidFill>
          <a:ln/>
        </p:spPr>
      </p:sp>
      <p:sp>
        <p:nvSpPr>
          <p:cNvPr id="27" name="Text 25"/>
          <p:cNvSpPr/>
          <p:nvPr/>
        </p:nvSpPr>
        <p:spPr>
          <a:xfrm>
            <a:off x="7656433" y="6180653"/>
            <a:ext cx="2412325" cy="301466"/>
          </a:xfrm>
          <a:prstGeom prst="rect">
            <a:avLst/>
          </a:prstGeom>
          <a:noFill/>
          <a:ln/>
        </p:spPr>
        <p:txBody>
          <a:bodyPr wrap="none" lIns="0" tIns="0" rIns="0" bIns="0" rtlCol="0" anchor="t"/>
          <a:lstStyle/>
          <a:p>
            <a:pPr algn="l" indent="0" marL="0">
              <a:lnSpc>
                <a:spcPts val="2350"/>
              </a:lnSpc>
              <a:buNone/>
            </a:pPr>
            <a:r>
              <a:rPr lang="en-US" sz="1850" b="1" dirty="0">
                <a:solidFill>
                  <a:srgbClr val="3D3838"/>
                </a:solidFill>
                <a:latin typeface="Montserrat Bold" pitchFamily="34" charset="0"/>
                <a:ea typeface="Montserrat Bold" pitchFamily="34" charset="-122"/>
                <a:cs typeface="Montserrat Bold" pitchFamily="34" charset="-120"/>
              </a:rPr>
              <a:t>Clear Skies</a:t>
            </a:r>
            <a:endParaRPr lang="en-US" sz="1850" dirty="0"/>
          </a:p>
        </p:txBody>
      </p:sp>
      <p:sp>
        <p:nvSpPr>
          <p:cNvPr id="28" name="Text 26"/>
          <p:cNvSpPr/>
          <p:nvPr/>
        </p:nvSpPr>
        <p:spPr>
          <a:xfrm>
            <a:off x="7656433" y="6609398"/>
            <a:ext cx="5995749" cy="636746"/>
          </a:xfrm>
          <a:prstGeom prst="rect">
            <a:avLst/>
          </a:prstGeom>
          <a:noFill/>
          <a:ln/>
        </p:spPr>
        <p:txBody>
          <a:bodyPr wrap="square" lIns="0" tIns="0" rIns="0" bIns="0" rtlCol="0" anchor="t"/>
          <a:lstStyle/>
          <a:p>
            <a:pPr algn="l"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Lowest efficiency at 0.46 normalized. Extreme temperatures may reduce battery performance.</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39259" y="683776"/>
            <a:ext cx="8768834" cy="600075"/>
          </a:xfrm>
          <a:prstGeom prst="rect">
            <a:avLst/>
          </a:prstGeom>
          <a:noFill/>
          <a:ln/>
        </p:spPr>
        <p:txBody>
          <a:bodyPr wrap="none" lIns="0" tIns="0" rIns="0" bIns="0" rtlCol="0" anchor="t"/>
          <a:lstStyle/>
          <a:p>
            <a:pPr algn="l" indent="0" marL="0">
              <a:lnSpc>
                <a:spcPts val="4700"/>
              </a:lnSpc>
              <a:buNone/>
            </a:pPr>
            <a:r>
              <a:rPr lang="en-US" sz="3750" b="1" dirty="0">
                <a:solidFill>
                  <a:srgbClr val="000000"/>
                </a:solidFill>
                <a:latin typeface="Montserrat Bold" pitchFamily="34" charset="0"/>
                <a:ea typeface="Montserrat Bold" pitchFamily="34" charset="-122"/>
                <a:cs typeface="Montserrat Bold" pitchFamily="34" charset="-120"/>
              </a:rPr>
              <a:t>SHAP Feature Importance Analysis</a:t>
            </a:r>
            <a:endParaRPr lang="en-US" sz="3750" dirty="0"/>
          </a:p>
        </p:txBody>
      </p:sp>
      <p:sp>
        <p:nvSpPr>
          <p:cNvPr id="3" name="Text 1"/>
          <p:cNvSpPr/>
          <p:nvPr/>
        </p:nvSpPr>
        <p:spPr>
          <a:xfrm>
            <a:off x="739259" y="1706285"/>
            <a:ext cx="13151882" cy="316825"/>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SHAP (SHapley Additive exPlanations) reveals which factors most strongly influence EV charging demand predictions in our linear regression model.</a:t>
            </a:r>
            <a:endParaRPr lang="en-US" sz="1650" dirty="0"/>
          </a:p>
        </p:txBody>
      </p:sp>
      <p:pic>
        <p:nvPicPr>
          <p:cNvPr id="4" name="Image 0" descr="preencoded.png">    </p:cNvPr>
          <p:cNvPicPr>
            <a:picLocks noChangeAspect="1"/>
          </p:cNvPicPr>
          <p:nvPr/>
        </p:nvPicPr>
        <p:blipFill>
          <a:blip r:embed="rId1"/>
          <a:stretch>
            <a:fillRect/>
          </a:stretch>
        </p:blipFill>
        <p:spPr>
          <a:xfrm>
            <a:off x="739259" y="2260759"/>
            <a:ext cx="1056203" cy="1482804"/>
          </a:xfrm>
          <a:prstGeom prst="rect">
            <a:avLst/>
          </a:prstGeom>
        </p:spPr>
      </p:pic>
      <p:sp>
        <p:nvSpPr>
          <p:cNvPr id="5" name="Text 2"/>
          <p:cNvSpPr/>
          <p:nvPr/>
        </p:nvSpPr>
        <p:spPr>
          <a:xfrm>
            <a:off x="2006679" y="2471976"/>
            <a:ext cx="3659386" cy="300038"/>
          </a:xfrm>
          <a:prstGeom prst="rect">
            <a:avLst/>
          </a:prstGeom>
          <a:noFill/>
          <a:ln/>
        </p:spPr>
        <p:txBody>
          <a:bodyPr wrap="none" lIns="0" tIns="0" rIns="0" bIns="0" rtlCol="0" anchor="t"/>
          <a:lstStyle/>
          <a:p>
            <a:pPr algn="l" indent="0" marL="0">
              <a:lnSpc>
                <a:spcPts val="2350"/>
              </a:lnSpc>
              <a:buNone/>
            </a:pPr>
            <a:r>
              <a:rPr lang="en-US" sz="1850" b="1" dirty="0">
                <a:solidFill>
                  <a:srgbClr val="3D3838"/>
                </a:solidFill>
                <a:latin typeface="Montserrat Bold" pitchFamily="34" charset="0"/>
                <a:ea typeface="Montserrat Bold" pitchFamily="34" charset="-122"/>
                <a:cs typeface="Montserrat Bold" pitchFamily="34" charset="-120"/>
              </a:rPr>
              <a:t>Renewable Energy Usage (%)</a:t>
            </a:r>
            <a:endParaRPr lang="en-US" sz="1850" dirty="0"/>
          </a:p>
        </p:txBody>
      </p:sp>
      <p:sp>
        <p:nvSpPr>
          <p:cNvPr id="6" name="Text 3"/>
          <p:cNvSpPr/>
          <p:nvPr/>
        </p:nvSpPr>
        <p:spPr>
          <a:xfrm>
            <a:off x="2006679" y="2898696"/>
            <a:ext cx="11884462" cy="633651"/>
          </a:xfrm>
          <a:prstGeom prst="rect">
            <a:avLst/>
          </a:prstGeom>
          <a:noFill/>
          <a:ln/>
        </p:spPr>
        <p:txBody>
          <a:bodyPr wrap="squar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Dominant predictor with strongest impact. Higher renewable usage correlates with reduced grid demand, highlighting sustainability's role in demand patterns.</a:t>
            </a:r>
            <a:endParaRPr lang="en-US" sz="1650" dirty="0"/>
          </a:p>
        </p:txBody>
      </p:sp>
      <p:pic>
        <p:nvPicPr>
          <p:cNvPr id="7" name="Image 1" descr="preencoded.png">    </p:cNvPr>
          <p:cNvPicPr>
            <a:picLocks noChangeAspect="1"/>
          </p:cNvPicPr>
          <p:nvPr/>
        </p:nvPicPr>
        <p:blipFill>
          <a:blip r:embed="rId2"/>
          <a:stretch>
            <a:fillRect/>
          </a:stretch>
        </p:blipFill>
        <p:spPr>
          <a:xfrm>
            <a:off x="739259" y="3743563"/>
            <a:ext cx="1056203" cy="1267420"/>
          </a:xfrm>
          <a:prstGeom prst="rect">
            <a:avLst/>
          </a:prstGeom>
        </p:spPr>
      </p:pic>
      <p:sp>
        <p:nvSpPr>
          <p:cNvPr id="8" name="Text 4"/>
          <p:cNvSpPr/>
          <p:nvPr/>
        </p:nvSpPr>
        <p:spPr>
          <a:xfrm>
            <a:off x="2006679" y="3954780"/>
            <a:ext cx="3060502" cy="300038"/>
          </a:xfrm>
          <a:prstGeom prst="rect">
            <a:avLst/>
          </a:prstGeom>
          <a:noFill/>
          <a:ln/>
        </p:spPr>
        <p:txBody>
          <a:bodyPr wrap="none" lIns="0" tIns="0" rIns="0" bIns="0" rtlCol="0" anchor="t"/>
          <a:lstStyle/>
          <a:p>
            <a:pPr algn="l" indent="0" marL="0">
              <a:lnSpc>
                <a:spcPts val="2350"/>
              </a:lnSpc>
              <a:buNone/>
            </a:pPr>
            <a:r>
              <a:rPr lang="en-US" sz="1850" b="1" dirty="0">
                <a:solidFill>
                  <a:srgbClr val="3D3838"/>
                </a:solidFill>
                <a:latin typeface="Montserrat Bold" pitchFamily="34" charset="0"/>
                <a:ea typeface="Montserrat Bold" pitchFamily="34" charset="-122"/>
                <a:cs typeface="Montserrat Bold" pitchFamily="34" charset="-120"/>
              </a:rPr>
              <a:t>Electricity Price ($/kWh)</a:t>
            </a:r>
            <a:endParaRPr lang="en-US" sz="1850" dirty="0"/>
          </a:p>
        </p:txBody>
      </p:sp>
      <p:sp>
        <p:nvSpPr>
          <p:cNvPr id="9" name="Text 5"/>
          <p:cNvSpPr/>
          <p:nvPr/>
        </p:nvSpPr>
        <p:spPr>
          <a:xfrm>
            <a:off x="2006679" y="4381500"/>
            <a:ext cx="11884462" cy="316825"/>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Second most influential feature. Price signals drive user behavior, with higher prices reducing charging demand through load shifting.</a:t>
            </a:r>
            <a:endParaRPr lang="en-US" sz="1650" dirty="0"/>
          </a:p>
        </p:txBody>
      </p:sp>
      <p:pic>
        <p:nvPicPr>
          <p:cNvPr id="10" name="Image 2" descr="preencoded.png">    </p:cNvPr>
          <p:cNvPicPr>
            <a:picLocks noChangeAspect="1"/>
          </p:cNvPicPr>
          <p:nvPr/>
        </p:nvPicPr>
        <p:blipFill>
          <a:blip r:embed="rId3"/>
          <a:stretch>
            <a:fillRect/>
          </a:stretch>
        </p:blipFill>
        <p:spPr>
          <a:xfrm>
            <a:off x="739259" y="5010983"/>
            <a:ext cx="1056203" cy="1267420"/>
          </a:xfrm>
          <a:prstGeom prst="rect">
            <a:avLst/>
          </a:prstGeom>
        </p:spPr>
      </p:pic>
      <p:sp>
        <p:nvSpPr>
          <p:cNvPr id="11" name="Text 6"/>
          <p:cNvSpPr/>
          <p:nvPr/>
        </p:nvSpPr>
        <p:spPr>
          <a:xfrm>
            <a:off x="2006679" y="5222200"/>
            <a:ext cx="4009787" cy="300038"/>
          </a:xfrm>
          <a:prstGeom prst="rect">
            <a:avLst/>
          </a:prstGeom>
          <a:noFill/>
          <a:ln/>
        </p:spPr>
        <p:txBody>
          <a:bodyPr wrap="none" lIns="0" tIns="0" rIns="0" bIns="0" rtlCol="0" anchor="t"/>
          <a:lstStyle/>
          <a:p>
            <a:pPr algn="l" indent="0" marL="0">
              <a:lnSpc>
                <a:spcPts val="2350"/>
              </a:lnSpc>
              <a:buNone/>
            </a:pPr>
            <a:r>
              <a:rPr lang="en-US" sz="1850" b="1" dirty="0">
                <a:solidFill>
                  <a:srgbClr val="3D3838"/>
                </a:solidFill>
                <a:latin typeface="Montserrat Bold" pitchFamily="34" charset="0"/>
                <a:ea typeface="Montserrat Bold" pitchFamily="34" charset="-122"/>
                <a:cs typeface="Montserrat Bold" pitchFamily="34" charset="-120"/>
              </a:rPr>
              <a:t>Carbon Emissions (kgCO2/kWh)</a:t>
            </a:r>
            <a:endParaRPr lang="en-US" sz="1850" dirty="0"/>
          </a:p>
        </p:txBody>
      </p:sp>
      <p:sp>
        <p:nvSpPr>
          <p:cNvPr id="12" name="Text 7"/>
          <p:cNvSpPr/>
          <p:nvPr/>
        </p:nvSpPr>
        <p:spPr>
          <a:xfrm>
            <a:off x="2006679" y="5648920"/>
            <a:ext cx="11884462" cy="316825"/>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Third key driver. Higher emissions indicate grid stress, correlating with increased charging demand during peak fossil fuel generation.</a:t>
            </a:r>
            <a:endParaRPr lang="en-US" sz="1650" dirty="0"/>
          </a:p>
        </p:txBody>
      </p:sp>
      <p:pic>
        <p:nvPicPr>
          <p:cNvPr id="13" name="Image 3" descr="preencoded.png">    </p:cNvPr>
          <p:cNvPicPr>
            <a:picLocks noChangeAspect="1"/>
          </p:cNvPicPr>
          <p:nvPr/>
        </p:nvPicPr>
        <p:blipFill>
          <a:blip r:embed="rId4"/>
          <a:stretch>
            <a:fillRect/>
          </a:stretch>
        </p:blipFill>
        <p:spPr>
          <a:xfrm>
            <a:off x="739259" y="6278404"/>
            <a:ext cx="1056203" cy="1267420"/>
          </a:xfrm>
          <a:prstGeom prst="rect">
            <a:avLst/>
          </a:prstGeom>
        </p:spPr>
      </p:pic>
      <p:sp>
        <p:nvSpPr>
          <p:cNvPr id="14" name="Text 8"/>
          <p:cNvSpPr/>
          <p:nvPr/>
        </p:nvSpPr>
        <p:spPr>
          <a:xfrm>
            <a:off x="2006679" y="6489621"/>
            <a:ext cx="4193143" cy="300038"/>
          </a:xfrm>
          <a:prstGeom prst="rect">
            <a:avLst/>
          </a:prstGeom>
          <a:noFill/>
          <a:ln/>
        </p:spPr>
        <p:txBody>
          <a:bodyPr wrap="none" lIns="0" tIns="0" rIns="0" bIns="0" rtlCol="0" anchor="t"/>
          <a:lstStyle/>
          <a:p>
            <a:pPr algn="l" indent="0" marL="0">
              <a:lnSpc>
                <a:spcPts val="2350"/>
              </a:lnSpc>
              <a:buNone/>
            </a:pPr>
            <a:r>
              <a:rPr lang="en-US" sz="1850" b="1" dirty="0">
                <a:solidFill>
                  <a:srgbClr val="3D3838"/>
                </a:solidFill>
                <a:latin typeface="Montserrat Bold" pitchFamily="34" charset="0"/>
                <a:ea typeface="Montserrat Bold" pitchFamily="34" charset="-122"/>
                <a:cs typeface="Montserrat Bold" pitchFamily="34" charset="-120"/>
              </a:rPr>
              <a:t>Adjusted Charging Demand (kW)</a:t>
            </a:r>
            <a:endParaRPr lang="en-US" sz="1850" dirty="0"/>
          </a:p>
        </p:txBody>
      </p:sp>
      <p:sp>
        <p:nvSpPr>
          <p:cNvPr id="15" name="Text 9"/>
          <p:cNvSpPr/>
          <p:nvPr/>
        </p:nvSpPr>
        <p:spPr>
          <a:xfrm>
            <a:off x="2006679" y="6916341"/>
            <a:ext cx="11884462" cy="316825"/>
          </a:xfrm>
          <a:prstGeom prst="rect">
            <a:avLst/>
          </a:prstGeom>
          <a:noFill/>
          <a:ln/>
        </p:spPr>
        <p:txBody>
          <a:bodyPr wrap="none" lIns="0" tIns="0" rIns="0" bIns="0" rtlCol="0" anchor="t"/>
          <a:lstStyle/>
          <a:p>
            <a:pPr algn="l" indent="0" marL="0">
              <a:lnSpc>
                <a:spcPts val="2450"/>
              </a:lnSpc>
              <a:buNone/>
            </a:pPr>
            <a:r>
              <a:rPr lang="en-US" sz="1650" dirty="0">
                <a:solidFill>
                  <a:srgbClr val="3D3838"/>
                </a:solidFill>
                <a:latin typeface="Source Sans 3" pitchFamily="34" charset="0"/>
                <a:ea typeface="Source Sans 3" pitchFamily="34" charset="-122"/>
                <a:cs typeface="Source Sans 3" pitchFamily="34" charset="-120"/>
              </a:rPr>
              <a:t>Engineered feature capturing optimized load patterns. Reflects smart charging strategies and demand response programs.</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3798" y="1727716"/>
            <a:ext cx="7907655"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SHAP Model Interpretation</a:t>
            </a:r>
            <a:endParaRPr lang="en-US" sz="4400" dirty="0"/>
          </a:p>
        </p:txBody>
      </p:sp>
      <p:sp>
        <p:nvSpPr>
          <p:cNvPr id="3" name="Text 1"/>
          <p:cNvSpPr/>
          <p:nvPr/>
        </p:nvSpPr>
        <p:spPr>
          <a:xfrm>
            <a:off x="863798" y="3045976"/>
            <a:ext cx="3365778" cy="420648"/>
          </a:xfrm>
          <a:prstGeom prst="rect">
            <a:avLst/>
          </a:prstGeom>
          <a:noFill/>
          <a:ln/>
        </p:spPr>
        <p:txBody>
          <a:bodyPr wrap="none" lIns="0" tIns="0" rIns="0" bIns="0" rtlCol="0" anchor="t"/>
          <a:lstStyle/>
          <a:p>
            <a:pPr algn="l" indent="0" marL="0">
              <a:lnSpc>
                <a:spcPts val="3300"/>
              </a:lnSpc>
              <a:buNone/>
            </a:pPr>
            <a:r>
              <a:rPr lang="en-US" sz="2650" b="1" dirty="0">
                <a:solidFill>
                  <a:srgbClr val="000000"/>
                </a:solidFill>
                <a:latin typeface="Montserrat Bold" pitchFamily="34" charset="0"/>
                <a:ea typeface="Montserrat Bold" pitchFamily="34" charset="-122"/>
                <a:cs typeface="Montserrat Bold" pitchFamily="34" charset="-120"/>
              </a:rPr>
              <a:t>Key Insights</a:t>
            </a:r>
            <a:endParaRPr lang="en-US" sz="2650" dirty="0"/>
          </a:p>
        </p:txBody>
      </p:sp>
      <p:sp>
        <p:nvSpPr>
          <p:cNvPr id="4" name="Text 2"/>
          <p:cNvSpPr/>
          <p:nvPr/>
        </p:nvSpPr>
        <p:spPr>
          <a:xfrm>
            <a:off x="863798" y="3713440"/>
            <a:ext cx="7500699"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The SHAP force plot reveals how individual features push predictions above or below the baseline expected value of 0.139 kW.</a:t>
            </a:r>
            <a:endParaRPr lang="en-US" sz="1900" dirty="0"/>
          </a:p>
        </p:txBody>
      </p:sp>
      <p:sp>
        <p:nvSpPr>
          <p:cNvPr id="5" name="Text 3"/>
          <p:cNvSpPr/>
          <p:nvPr/>
        </p:nvSpPr>
        <p:spPr>
          <a:xfrm>
            <a:off x="863798" y="4675823"/>
            <a:ext cx="7500699"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Renewable energy usage reduction: -0.018 kW impact</a:t>
            </a:r>
            <a:endParaRPr lang="en-US" sz="1900" dirty="0"/>
          </a:p>
        </p:txBody>
      </p:sp>
      <p:sp>
        <p:nvSpPr>
          <p:cNvPr id="6" name="Text 4"/>
          <p:cNvSpPr/>
          <p:nvPr/>
        </p:nvSpPr>
        <p:spPr>
          <a:xfrm>
            <a:off x="863798" y="5132308"/>
            <a:ext cx="7500699"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Electricity price increase: -0.030 kW impact</a:t>
            </a:r>
            <a:endParaRPr lang="en-US" sz="1900" dirty="0"/>
          </a:p>
        </p:txBody>
      </p:sp>
      <p:sp>
        <p:nvSpPr>
          <p:cNvPr id="7" name="Text 5"/>
          <p:cNvSpPr/>
          <p:nvPr/>
        </p:nvSpPr>
        <p:spPr>
          <a:xfrm>
            <a:off x="863798" y="5588794"/>
            <a:ext cx="7500699"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Carbon emissions increase: contributing positive shift</a:t>
            </a:r>
            <a:endParaRPr lang="en-US" sz="1900" dirty="0"/>
          </a:p>
        </p:txBody>
      </p:sp>
      <p:sp>
        <p:nvSpPr>
          <p:cNvPr id="8" name="Text 6"/>
          <p:cNvSpPr/>
          <p:nvPr/>
        </p:nvSpPr>
        <p:spPr>
          <a:xfrm>
            <a:off x="863798" y="6045279"/>
            <a:ext cx="7500699"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Final prediction: 0.091 kW (34% below baseline)</a:t>
            </a:r>
            <a:endParaRPr lang="en-US" sz="1900" dirty="0"/>
          </a:p>
        </p:txBody>
      </p:sp>
      <p:sp>
        <p:nvSpPr>
          <p:cNvPr id="9" name="Text 7"/>
          <p:cNvSpPr/>
          <p:nvPr/>
        </p:nvSpPr>
        <p:spPr>
          <a:xfrm>
            <a:off x="8974336" y="3045976"/>
            <a:ext cx="3422690" cy="420648"/>
          </a:xfrm>
          <a:prstGeom prst="rect">
            <a:avLst/>
          </a:prstGeom>
          <a:noFill/>
          <a:ln/>
        </p:spPr>
        <p:txBody>
          <a:bodyPr wrap="none" lIns="0" tIns="0" rIns="0" bIns="0" rtlCol="0" anchor="t"/>
          <a:lstStyle/>
          <a:p>
            <a:pPr algn="l" indent="0" marL="0">
              <a:lnSpc>
                <a:spcPts val="3300"/>
              </a:lnSpc>
              <a:buNone/>
            </a:pPr>
            <a:r>
              <a:rPr lang="en-US" sz="2650" b="1" dirty="0">
                <a:solidFill>
                  <a:srgbClr val="000000"/>
                </a:solidFill>
                <a:latin typeface="Montserrat Bold" pitchFamily="34" charset="0"/>
                <a:ea typeface="Montserrat Bold" pitchFamily="34" charset="-122"/>
                <a:cs typeface="Montserrat Bold" pitchFamily="34" charset="-120"/>
              </a:rPr>
              <a:t>Actionable Insights</a:t>
            </a:r>
            <a:endParaRPr lang="en-US" sz="2650" dirty="0"/>
          </a:p>
        </p:txBody>
      </p:sp>
      <p:sp>
        <p:nvSpPr>
          <p:cNvPr id="10" name="Text 8"/>
          <p:cNvSpPr/>
          <p:nvPr/>
        </p:nvSpPr>
        <p:spPr>
          <a:xfrm>
            <a:off x="8974336" y="3713440"/>
            <a:ext cx="4799767" cy="148066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Model transparency enables grid operators to understand prediction drivers and implement targeted interventions for demand management.</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63798" y="920948"/>
            <a:ext cx="8391763"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Strategic Recommendations</a:t>
            </a:r>
            <a:endParaRPr lang="en-US" sz="4400" dirty="0"/>
          </a:p>
        </p:txBody>
      </p:sp>
      <p:sp>
        <p:nvSpPr>
          <p:cNvPr id="3" name="Shape 1"/>
          <p:cNvSpPr/>
          <p:nvPr/>
        </p:nvSpPr>
        <p:spPr>
          <a:xfrm>
            <a:off x="863798" y="2115860"/>
            <a:ext cx="6327934" cy="2472928"/>
          </a:xfrm>
          <a:prstGeom prst="roundRect">
            <a:avLst>
              <a:gd name="adj" fmla="val 1497"/>
            </a:avLst>
          </a:prstGeom>
          <a:solidFill>
            <a:srgbClr val="F2EEEE"/>
          </a:solidFill>
          <a:ln/>
        </p:spPr>
      </p:sp>
      <p:sp>
        <p:nvSpPr>
          <p:cNvPr id="4" name="Text 2"/>
          <p:cNvSpPr/>
          <p:nvPr/>
        </p:nvSpPr>
        <p:spPr>
          <a:xfrm>
            <a:off x="1110615" y="2362676"/>
            <a:ext cx="4835723"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Maximize Renewable Integration</a:t>
            </a:r>
            <a:endParaRPr lang="en-US" sz="2200" dirty="0"/>
          </a:p>
        </p:txBody>
      </p:sp>
      <p:sp>
        <p:nvSpPr>
          <p:cNvPr id="5" name="Text 3"/>
          <p:cNvSpPr/>
          <p:nvPr/>
        </p:nvSpPr>
        <p:spPr>
          <a:xfrm>
            <a:off x="1110615" y="2861310"/>
            <a:ext cx="5834301" cy="148066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Prioritize charging during high renewable availability windows. Nighttime and morning periods show strongest renewable production, reducing grid stress and carbon footprint.</a:t>
            </a:r>
            <a:endParaRPr lang="en-US" sz="1900" dirty="0"/>
          </a:p>
        </p:txBody>
      </p:sp>
      <p:sp>
        <p:nvSpPr>
          <p:cNvPr id="6" name="Shape 4"/>
          <p:cNvSpPr/>
          <p:nvPr/>
        </p:nvSpPr>
        <p:spPr>
          <a:xfrm>
            <a:off x="7438549" y="2115860"/>
            <a:ext cx="6328053" cy="2472928"/>
          </a:xfrm>
          <a:prstGeom prst="roundRect">
            <a:avLst>
              <a:gd name="adj" fmla="val 1497"/>
            </a:avLst>
          </a:prstGeom>
          <a:solidFill>
            <a:srgbClr val="F2EEEE"/>
          </a:solidFill>
          <a:ln/>
        </p:spPr>
      </p:sp>
      <p:sp>
        <p:nvSpPr>
          <p:cNvPr id="7" name="Text 5"/>
          <p:cNvSpPr/>
          <p:nvPr/>
        </p:nvSpPr>
        <p:spPr>
          <a:xfrm>
            <a:off x="7685365" y="2362676"/>
            <a:ext cx="4032647"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Dynamic Pricing Incentives</a:t>
            </a:r>
            <a:endParaRPr lang="en-US" sz="2200" dirty="0"/>
          </a:p>
        </p:txBody>
      </p:sp>
      <p:sp>
        <p:nvSpPr>
          <p:cNvPr id="8" name="Text 6"/>
          <p:cNvSpPr/>
          <p:nvPr/>
        </p:nvSpPr>
        <p:spPr>
          <a:xfrm>
            <a:off x="7685365" y="2861310"/>
            <a:ext cx="5834420"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Leverage electricity price signals to shift demand. Time-of-use rates can flatten demand curves by incentivizing off-peak charging behavior.</a:t>
            </a:r>
            <a:endParaRPr lang="en-US" sz="1900" dirty="0"/>
          </a:p>
        </p:txBody>
      </p:sp>
      <p:sp>
        <p:nvSpPr>
          <p:cNvPr id="9" name="Shape 7"/>
          <p:cNvSpPr/>
          <p:nvPr/>
        </p:nvSpPr>
        <p:spPr>
          <a:xfrm>
            <a:off x="863798" y="4835604"/>
            <a:ext cx="6327934" cy="2472928"/>
          </a:xfrm>
          <a:prstGeom prst="roundRect">
            <a:avLst>
              <a:gd name="adj" fmla="val 1497"/>
            </a:avLst>
          </a:prstGeom>
          <a:solidFill>
            <a:srgbClr val="F2EEEE"/>
          </a:solidFill>
          <a:ln/>
        </p:spPr>
      </p:sp>
      <p:sp>
        <p:nvSpPr>
          <p:cNvPr id="10" name="Text 8"/>
          <p:cNvSpPr/>
          <p:nvPr/>
        </p:nvSpPr>
        <p:spPr>
          <a:xfrm>
            <a:off x="1110615" y="5082421"/>
            <a:ext cx="4335780"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Smart Charging Optimization</a:t>
            </a:r>
            <a:endParaRPr lang="en-US" sz="2200" dirty="0"/>
          </a:p>
        </p:txBody>
      </p:sp>
      <p:sp>
        <p:nvSpPr>
          <p:cNvPr id="11" name="Text 9"/>
          <p:cNvSpPr/>
          <p:nvPr/>
        </p:nvSpPr>
        <p:spPr>
          <a:xfrm>
            <a:off x="1110615" y="5581055"/>
            <a:ext cx="5834301" cy="148066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Implement demand response programs using adjusted charging demand metrics. Optimize load distribution to minimize peak stress and maximize renewable utilization.</a:t>
            </a:r>
            <a:endParaRPr lang="en-US" sz="1900" dirty="0"/>
          </a:p>
        </p:txBody>
      </p:sp>
      <p:sp>
        <p:nvSpPr>
          <p:cNvPr id="12" name="Shape 10"/>
          <p:cNvSpPr/>
          <p:nvPr/>
        </p:nvSpPr>
        <p:spPr>
          <a:xfrm>
            <a:off x="7438549" y="4835604"/>
            <a:ext cx="6328053" cy="2472928"/>
          </a:xfrm>
          <a:prstGeom prst="roundRect">
            <a:avLst>
              <a:gd name="adj" fmla="val 1497"/>
            </a:avLst>
          </a:prstGeom>
          <a:solidFill>
            <a:srgbClr val="F2EEEE"/>
          </a:solidFill>
          <a:ln/>
        </p:spPr>
      </p:sp>
      <p:sp>
        <p:nvSpPr>
          <p:cNvPr id="13" name="Text 11"/>
          <p:cNvSpPr/>
          <p:nvPr/>
        </p:nvSpPr>
        <p:spPr>
          <a:xfrm>
            <a:off x="7685365" y="5082421"/>
            <a:ext cx="4123492"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Carbon Footprint Reduction</a:t>
            </a:r>
            <a:endParaRPr lang="en-US" sz="2200" dirty="0"/>
          </a:p>
        </p:txBody>
      </p:sp>
      <p:sp>
        <p:nvSpPr>
          <p:cNvPr id="14" name="Text 12"/>
          <p:cNvSpPr/>
          <p:nvPr/>
        </p:nvSpPr>
        <p:spPr>
          <a:xfrm>
            <a:off x="7685365" y="5581055"/>
            <a:ext cx="5834420"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Target low-emission charging windows. Invest in energy efficiency measures and cleaner technologies to support sustainability objectives while managing demand.</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47951" y="588526"/>
            <a:ext cx="7340679" cy="607219"/>
          </a:xfrm>
          <a:prstGeom prst="rect">
            <a:avLst/>
          </a:prstGeom>
          <a:noFill/>
          <a:ln/>
        </p:spPr>
        <p:txBody>
          <a:bodyPr wrap="none" lIns="0" tIns="0" rIns="0" bIns="0" rtlCol="0" anchor="t"/>
          <a:lstStyle/>
          <a:p>
            <a:pPr algn="l" indent="0" marL="0">
              <a:lnSpc>
                <a:spcPts val="4750"/>
              </a:lnSpc>
              <a:buNone/>
            </a:pPr>
            <a:r>
              <a:rPr lang="en-US" sz="3800" b="1" dirty="0">
                <a:solidFill>
                  <a:srgbClr val="000000"/>
                </a:solidFill>
                <a:latin typeface="Montserrat Bold" pitchFamily="34" charset="0"/>
                <a:ea typeface="Montserrat Bold" pitchFamily="34" charset="-122"/>
                <a:cs typeface="Montserrat Bold" pitchFamily="34" charset="-120"/>
              </a:rPr>
              <a:t>Neural Network Architecture</a:t>
            </a:r>
            <a:endParaRPr lang="en-US" sz="3800" dirty="0"/>
          </a:p>
        </p:txBody>
      </p:sp>
      <p:sp>
        <p:nvSpPr>
          <p:cNvPr id="3" name="Text 1"/>
          <p:cNvSpPr/>
          <p:nvPr/>
        </p:nvSpPr>
        <p:spPr>
          <a:xfrm>
            <a:off x="747951" y="1623060"/>
            <a:ext cx="13134499" cy="320516"/>
          </a:xfrm>
          <a:prstGeom prst="rect">
            <a:avLst/>
          </a:prstGeom>
          <a:noFill/>
          <a:ln/>
        </p:spPr>
        <p:txBody>
          <a:bodyPr wrap="none" lIns="0" tIns="0" rIns="0" bIns="0" rtlCol="0" anchor="t"/>
          <a:lstStyle/>
          <a:p>
            <a:pPr algn="l"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Multi-layer perceptron (MLP) regression model predicts EV charging demand using five key economic and environmental features.</a:t>
            </a:r>
            <a:endParaRPr lang="en-US" sz="1650" dirty="0"/>
          </a:p>
        </p:txBody>
      </p:sp>
      <p:pic>
        <p:nvPicPr>
          <p:cNvPr id="4" name="Image 0" descr="preencoded.png">    </p:cNvPr>
          <p:cNvPicPr>
            <a:picLocks noChangeAspect="1"/>
          </p:cNvPicPr>
          <p:nvPr/>
        </p:nvPicPr>
        <p:blipFill>
          <a:blip r:embed="rId1"/>
          <a:stretch>
            <a:fillRect/>
          </a:stretch>
        </p:blipFill>
        <p:spPr>
          <a:xfrm>
            <a:off x="747951" y="2504480"/>
            <a:ext cx="6460450" cy="1143000"/>
          </a:xfrm>
          <a:prstGeom prst="rect">
            <a:avLst/>
          </a:prstGeom>
        </p:spPr>
      </p:pic>
      <p:sp>
        <p:nvSpPr>
          <p:cNvPr id="5" name="Text 2"/>
          <p:cNvSpPr/>
          <p:nvPr/>
        </p:nvSpPr>
        <p:spPr>
          <a:xfrm>
            <a:off x="961549" y="3359110"/>
            <a:ext cx="2428518" cy="303609"/>
          </a:xfrm>
          <a:prstGeom prst="rect">
            <a:avLst/>
          </a:prstGeom>
          <a:noFill/>
          <a:ln/>
        </p:spPr>
        <p:txBody>
          <a:bodyPr wrap="none" lIns="0" tIns="0" rIns="0" bIns="0" rtlCol="0" anchor="t"/>
          <a:lstStyle/>
          <a:p>
            <a:pPr algn="l" indent="0" marL="0">
              <a:lnSpc>
                <a:spcPts val="2350"/>
              </a:lnSpc>
              <a:buNone/>
            </a:pPr>
            <a:r>
              <a:rPr lang="en-US" sz="1900" b="1" dirty="0">
                <a:solidFill>
                  <a:srgbClr val="3D3838"/>
                </a:solidFill>
                <a:latin typeface="Montserrat Bold" pitchFamily="34" charset="0"/>
                <a:ea typeface="Montserrat Bold" pitchFamily="34" charset="-122"/>
                <a:cs typeface="Montserrat Bold" pitchFamily="34" charset="-120"/>
              </a:rPr>
              <a:t>Input Layer</a:t>
            </a:r>
            <a:endParaRPr lang="en-US" sz="1900" dirty="0"/>
          </a:p>
        </p:txBody>
      </p:sp>
      <p:sp>
        <p:nvSpPr>
          <p:cNvPr id="6" name="Text 3"/>
          <p:cNvSpPr/>
          <p:nvPr/>
        </p:nvSpPr>
        <p:spPr>
          <a:xfrm>
            <a:off x="961549" y="3790831"/>
            <a:ext cx="6033254" cy="961549"/>
          </a:xfrm>
          <a:prstGeom prst="rect">
            <a:avLst/>
          </a:prstGeom>
          <a:noFill/>
          <a:ln/>
        </p:spPr>
        <p:txBody>
          <a:bodyPr wrap="square" lIns="0" tIns="0" rIns="0" bIns="0" rtlCol="0" anchor="t"/>
          <a:lstStyle/>
          <a:p>
            <a:pPr algn="l"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Five normalized features: Net Energy Cost, Carbon Footprint Reduction, Electricity Price, Carbon Emissions, and Renewable Energy Usage.</a:t>
            </a:r>
            <a:endParaRPr lang="en-US" sz="1650" dirty="0"/>
          </a:p>
        </p:txBody>
      </p:sp>
      <p:pic>
        <p:nvPicPr>
          <p:cNvPr id="7" name="Image 1" descr="preencoded.png">    </p:cNvPr>
          <p:cNvPicPr>
            <a:picLocks noChangeAspect="1"/>
          </p:cNvPicPr>
          <p:nvPr/>
        </p:nvPicPr>
        <p:blipFill>
          <a:blip r:embed="rId2"/>
          <a:stretch>
            <a:fillRect/>
          </a:stretch>
        </p:blipFill>
        <p:spPr>
          <a:xfrm>
            <a:off x="7421999" y="2183963"/>
            <a:ext cx="6460450" cy="1143000"/>
          </a:xfrm>
          <a:prstGeom prst="rect">
            <a:avLst/>
          </a:prstGeom>
        </p:spPr>
      </p:pic>
      <p:sp>
        <p:nvSpPr>
          <p:cNvPr id="8" name="Text 4"/>
          <p:cNvSpPr/>
          <p:nvPr/>
        </p:nvSpPr>
        <p:spPr>
          <a:xfrm>
            <a:off x="7635597" y="3038594"/>
            <a:ext cx="2428518" cy="303609"/>
          </a:xfrm>
          <a:prstGeom prst="rect">
            <a:avLst/>
          </a:prstGeom>
          <a:noFill/>
          <a:ln/>
        </p:spPr>
        <p:txBody>
          <a:bodyPr wrap="none" lIns="0" tIns="0" rIns="0" bIns="0" rtlCol="0" anchor="t"/>
          <a:lstStyle/>
          <a:p>
            <a:pPr algn="l" indent="0" marL="0">
              <a:lnSpc>
                <a:spcPts val="2350"/>
              </a:lnSpc>
              <a:buNone/>
            </a:pPr>
            <a:r>
              <a:rPr lang="en-US" sz="1900" b="1" dirty="0">
                <a:solidFill>
                  <a:srgbClr val="3D3838"/>
                </a:solidFill>
                <a:latin typeface="Montserrat Bold" pitchFamily="34" charset="0"/>
                <a:ea typeface="Montserrat Bold" pitchFamily="34" charset="-122"/>
                <a:cs typeface="Montserrat Bold" pitchFamily="34" charset="-120"/>
              </a:rPr>
              <a:t>Hidden Layer 1</a:t>
            </a:r>
            <a:endParaRPr lang="en-US" sz="1900" dirty="0"/>
          </a:p>
        </p:txBody>
      </p:sp>
      <p:sp>
        <p:nvSpPr>
          <p:cNvPr id="9" name="Text 5"/>
          <p:cNvSpPr/>
          <p:nvPr/>
        </p:nvSpPr>
        <p:spPr>
          <a:xfrm>
            <a:off x="7635597" y="3470315"/>
            <a:ext cx="6033254" cy="641033"/>
          </a:xfrm>
          <a:prstGeom prst="rect">
            <a:avLst/>
          </a:prstGeom>
          <a:noFill/>
          <a:ln/>
        </p:spPr>
        <p:txBody>
          <a:bodyPr wrap="square" lIns="0" tIns="0" rIns="0" bIns="0" rtlCol="0" anchor="t"/>
          <a:lstStyle/>
          <a:p>
            <a:pPr algn="l"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64 neurons with ReLU activation. Captures complex non-linear relationships between economic and environmental factors.</a:t>
            </a:r>
            <a:endParaRPr lang="en-US" sz="1650" dirty="0"/>
          </a:p>
        </p:txBody>
      </p:sp>
      <p:pic>
        <p:nvPicPr>
          <p:cNvPr id="10" name="Image 2" descr="preencoded.png">    </p:cNvPr>
          <p:cNvPicPr>
            <a:picLocks noChangeAspect="1"/>
          </p:cNvPicPr>
          <p:nvPr/>
        </p:nvPicPr>
        <p:blipFill>
          <a:blip r:embed="rId3"/>
          <a:stretch>
            <a:fillRect/>
          </a:stretch>
        </p:blipFill>
        <p:spPr>
          <a:xfrm>
            <a:off x="747951" y="5500092"/>
            <a:ext cx="6460450" cy="1143000"/>
          </a:xfrm>
          <a:prstGeom prst="rect">
            <a:avLst/>
          </a:prstGeom>
        </p:spPr>
      </p:pic>
      <p:sp>
        <p:nvSpPr>
          <p:cNvPr id="11" name="Text 6"/>
          <p:cNvSpPr/>
          <p:nvPr/>
        </p:nvSpPr>
        <p:spPr>
          <a:xfrm>
            <a:off x="961549" y="6354723"/>
            <a:ext cx="2428518" cy="303609"/>
          </a:xfrm>
          <a:prstGeom prst="rect">
            <a:avLst/>
          </a:prstGeom>
          <a:noFill/>
          <a:ln/>
        </p:spPr>
        <p:txBody>
          <a:bodyPr wrap="none" lIns="0" tIns="0" rIns="0" bIns="0" rtlCol="0" anchor="t"/>
          <a:lstStyle/>
          <a:p>
            <a:pPr algn="l" indent="0" marL="0">
              <a:lnSpc>
                <a:spcPts val="2350"/>
              </a:lnSpc>
              <a:buNone/>
            </a:pPr>
            <a:r>
              <a:rPr lang="en-US" sz="1900" b="1" dirty="0">
                <a:solidFill>
                  <a:srgbClr val="3D3838"/>
                </a:solidFill>
                <a:latin typeface="Montserrat Bold" pitchFamily="34" charset="0"/>
                <a:ea typeface="Montserrat Bold" pitchFamily="34" charset="-122"/>
                <a:cs typeface="Montserrat Bold" pitchFamily="34" charset="-120"/>
              </a:rPr>
              <a:t>Hidden Layer 2</a:t>
            </a:r>
            <a:endParaRPr lang="en-US" sz="1900" dirty="0"/>
          </a:p>
        </p:txBody>
      </p:sp>
      <p:sp>
        <p:nvSpPr>
          <p:cNvPr id="12" name="Text 7"/>
          <p:cNvSpPr/>
          <p:nvPr/>
        </p:nvSpPr>
        <p:spPr>
          <a:xfrm>
            <a:off x="961549" y="6786443"/>
            <a:ext cx="6033254" cy="641033"/>
          </a:xfrm>
          <a:prstGeom prst="rect">
            <a:avLst/>
          </a:prstGeom>
          <a:noFill/>
          <a:ln/>
        </p:spPr>
        <p:txBody>
          <a:bodyPr wrap="square" lIns="0" tIns="0" rIns="0" bIns="0" rtlCol="0" anchor="t"/>
          <a:lstStyle/>
          <a:p>
            <a:pPr algn="l"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32 neurons with ReLU activation. Further feature compression and pattern extraction for demand prediction.</a:t>
            </a:r>
            <a:endParaRPr lang="en-US" sz="1650" dirty="0"/>
          </a:p>
        </p:txBody>
      </p:sp>
      <p:pic>
        <p:nvPicPr>
          <p:cNvPr id="13" name="Image 3" descr="preencoded.png">    </p:cNvPr>
          <p:cNvPicPr>
            <a:picLocks noChangeAspect="1"/>
          </p:cNvPicPr>
          <p:nvPr/>
        </p:nvPicPr>
        <p:blipFill>
          <a:blip r:embed="rId4"/>
          <a:stretch>
            <a:fillRect/>
          </a:stretch>
        </p:blipFill>
        <p:spPr>
          <a:xfrm>
            <a:off x="7421999" y="5179576"/>
            <a:ext cx="6460450" cy="1143000"/>
          </a:xfrm>
          <a:prstGeom prst="rect">
            <a:avLst/>
          </a:prstGeom>
        </p:spPr>
      </p:pic>
      <p:sp>
        <p:nvSpPr>
          <p:cNvPr id="14" name="Text 8"/>
          <p:cNvSpPr/>
          <p:nvPr/>
        </p:nvSpPr>
        <p:spPr>
          <a:xfrm>
            <a:off x="7635597" y="6034207"/>
            <a:ext cx="2428518" cy="303609"/>
          </a:xfrm>
          <a:prstGeom prst="rect">
            <a:avLst/>
          </a:prstGeom>
          <a:noFill/>
          <a:ln/>
        </p:spPr>
        <p:txBody>
          <a:bodyPr wrap="none" lIns="0" tIns="0" rIns="0" bIns="0" rtlCol="0" anchor="t"/>
          <a:lstStyle/>
          <a:p>
            <a:pPr algn="l" indent="0" marL="0">
              <a:lnSpc>
                <a:spcPts val="2350"/>
              </a:lnSpc>
              <a:buNone/>
            </a:pPr>
            <a:r>
              <a:rPr lang="en-US" sz="1900" b="1" dirty="0">
                <a:solidFill>
                  <a:srgbClr val="3D3838"/>
                </a:solidFill>
                <a:latin typeface="Montserrat Bold" pitchFamily="34" charset="0"/>
                <a:ea typeface="Montserrat Bold" pitchFamily="34" charset="-122"/>
                <a:cs typeface="Montserrat Bold" pitchFamily="34" charset="-120"/>
              </a:rPr>
              <a:t>Output Layer</a:t>
            </a:r>
            <a:endParaRPr lang="en-US" sz="1900" dirty="0"/>
          </a:p>
        </p:txBody>
      </p:sp>
      <p:sp>
        <p:nvSpPr>
          <p:cNvPr id="15" name="Text 9"/>
          <p:cNvSpPr/>
          <p:nvPr/>
        </p:nvSpPr>
        <p:spPr>
          <a:xfrm>
            <a:off x="7635597" y="6465927"/>
            <a:ext cx="6033254" cy="641033"/>
          </a:xfrm>
          <a:prstGeom prst="rect">
            <a:avLst/>
          </a:prstGeom>
          <a:noFill/>
          <a:ln/>
        </p:spPr>
        <p:txBody>
          <a:bodyPr wrap="square" lIns="0" tIns="0" rIns="0" bIns="0" rtlCol="0" anchor="t"/>
          <a:lstStyle/>
          <a:p>
            <a:pPr algn="l" indent="0" marL="0">
              <a:lnSpc>
                <a:spcPts val="2500"/>
              </a:lnSpc>
              <a:buNone/>
            </a:pPr>
            <a:r>
              <a:rPr lang="en-US" sz="1650" dirty="0">
                <a:solidFill>
                  <a:srgbClr val="3D3838"/>
                </a:solidFill>
                <a:latin typeface="Source Sans 3" pitchFamily="34" charset="0"/>
                <a:ea typeface="Source Sans 3" pitchFamily="34" charset="-122"/>
                <a:cs typeface="Source Sans 3" pitchFamily="34" charset="-120"/>
              </a:rPr>
              <a:t>Single neuron producing continuous kW demand prediction. Linear activation for regression output.</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63798" y="1580674"/>
            <a:ext cx="8607623"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Neural Network Performance</a:t>
            </a:r>
            <a:endParaRPr lang="en-US" sz="4400" dirty="0"/>
          </a:p>
        </p:txBody>
      </p:sp>
      <p:sp>
        <p:nvSpPr>
          <p:cNvPr id="3" name="Text 1"/>
          <p:cNvSpPr/>
          <p:nvPr/>
        </p:nvSpPr>
        <p:spPr>
          <a:xfrm>
            <a:off x="863798" y="2775585"/>
            <a:ext cx="12902803"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The MLP model demonstrates exceptional predictive accuracy, converging rapidly during training with minimal loss.</a:t>
            </a:r>
            <a:endParaRPr lang="en-US" sz="1900" dirty="0"/>
          </a:p>
        </p:txBody>
      </p:sp>
      <p:sp>
        <p:nvSpPr>
          <p:cNvPr id="4" name="Text 2"/>
          <p:cNvSpPr/>
          <p:nvPr/>
        </p:nvSpPr>
        <p:spPr>
          <a:xfrm>
            <a:off x="863798" y="3546753"/>
            <a:ext cx="2994303" cy="814507"/>
          </a:xfrm>
          <a:prstGeom prst="rect">
            <a:avLst/>
          </a:prstGeom>
          <a:noFill/>
          <a:ln/>
        </p:spPr>
        <p:txBody>
          <a:bodyPr wrap="none" lIns="0" tIns="0" rIns="0" bIns="0" rtlCol="0" anchor="t"/>
          <a:lstStyle/>
          <a:p>
            <a:pPr algn="ctr" indent="0" marL="0">
              <a:lnSpc>
                <a:spcPts val="6400"/>
              </a:lnSpc>
              <a:buNone/>
            </a:pPr>
            <a:r>
              <a:rPr lang="en-US" sz="6400" b="1" dirty="0">
                <a:solidFill>
                  <a:srgbClr val="3D3838"/>
                </a:solidFill>
                <a:latin typeface="Montserrat Bold" pitchFamily="34" charset="0"/>
                <a:ea typeface="Montserrat Bold" pitchFamily="34" charset="-122"/>
                <a:cs typeface="Montserrat Bold" pitchFamily="34" charset="-120"/>
              </a:rPr>
              <a:t>0.9978</a:t>
            </a:r>
            <a:endParaRPr lang="en-US" sz="6400" dirty="0"/>
          </a:p>
        </p:txBody>
      </p:sp>
      <p:sp>
        <p:nvSpPr>
          <p:cNvPr id="5" name="Text 3"/>
          <p:cNvSpPr/>
          <p:nvPr/>
        </p:nvSpPr>
        <p:spPr>
          <a:xfrm>
            <a:off x="958453" y="4669631"/>
            <a:ext cx="2804874" cy="350639"/>
          </a:xfrm>
          <a:prstGeom prst="rect">
            <a:avLst/>
          </a:prstGeom>
          <a:noFill/>
          <a:ln/>
        </p:spPr>
        <p:txBody>
          <a:bodyPr wrap="none" lIns="0" tIns="0" rIns="0" bIns="0" rtlCol="0" anchor="t"/>
          <a:lstStyle/>
          <a:p>
            <a:pPr algn="ctr"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R² Score</a:t>
            </a:r>
            <a:endParaRPr lang="en-US" sz="2200" dirty="0"/>
          </a:p>
        </p:txBody>
      </p:sp>
      <p:sp>
        <p:nvSpPr>
          <p:cNvPr id="6" name="Text 4"/>
          <p:cNvSpPr/>
          <p:nvPr/>
        </p:nvSpPr>
        <p:spPr>
          <a:xfrm>
            <a:off x="863798" y="5168265"/>
            <a:ext cx="2994303" cy="1480661"/>
          </a:xfrm>
          <a:prstGeom prst="rect">
            <a:avLst/>
          </a:prstGeom>
          <a:noFill/>
          <a:ln/>
        </p:spPr>
        <p:txBody>
          <a:bodyPr wrap="square" lIns="0" tIns="0" rIns="0" bIns="0" rtlCol="0" anchor="t"/>
          <a:lstStyle/>
          <a:p>
            <a:pPr algn="ctr"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Explains 99.78% of variance in charging demand, indicating near-perfect fit to underlying patterns.</a:t>
            </a:r>
            <a:endParaRPr lang="en-US" sz="1900" dirty="0"/>
          </a:p>
        </p:txBody>
      </p:sp>
      <p:sp>
        <p:nvSpPr>
          <p:cNvPr id="7" name="Text 5"/>
          <p:cNvSpPr/>
          <p:nvPr/>
        </p:nvSpPr>
        <p:spPr>
          <a:xfrm>
            <a:off x="4166592" y="3546753"/>
            <a:ext cx="2994303" cy="814507"/>
          </a:xfrm>
          <a:prstGeom prst="rect">
            <a:avLst/>
          </a:prstGeom>
          <a:noFill/>
          <a:ln/>
        </p:spPr>
        <p:txBody>
          <a:bodyPr wrap="none" lIns="0" tIns="0" rIns="0" bIns="0" rtlCol="0" anchor="t"/>
          <a:lstStyle/>
          <a:p>
            <a:pPr algn="ctr" indent="0" marL="0">
              <a:lnSpc>
                <a:spcPts val="6400"/>
              </a:lnSpc>
              <a:buNone/>
            </a:pPr>
            <a:r>
              <a:rPr lang="en-US" sz="6400" b="1" dirty="0">
                <a:solidFill>
                  <a:srgbClr val="3D3838"/>
                </a:solidFill>
                <a:latin typeface="Montserrat Bold" pitchFamily="34" charset="0"/>
                <a:ea typeface="Montserrat Bold" pitchFamily="34" charset="-122"/>
                <a:cs typeface="Montserrat Bold" pitchFamily="34" charset="-120"/>
              </a:rPr>
              <a:t>0.0032</a:t>
            </a:r>
            <a:endParaRPr lang="en-US" sz="6400" dirty="0"/>
          </a:p>
        </p:txBody>
      </p:sp>
      <p:sp>
        <p:nvSpPr>
          <p:cNvPr id="8" name="Text 6"/>
          <p:cNvSpPr/>
          <p:nvPr/>
        </p:nvSpPr>
        <p:spPr>
          <a:xfrm>
            <a:off x="4261247" y="4669631"/>
            <a:ext cx="2804874" cy="350639"/>
          </a:xfrm>
          <a:prstGeom prst="rect">
            <a:avLst/>
          </a:prstGeom>
          <a:noFill/>
          <a:ln/>
        </p:spPr>
        <p:txBody>
          <a:bodyPr wrap="none" lIns="0" tIns="0" rIns="0" bIns="0" rtlCol="0" anchor="t"/>
          <a:lstStyle/>
          <a:p>
            <a:pPr algn="ctr"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MAE (kW)</a:t>
            </a:r>
            <a:endParaRPr lang="en-US" sz="2200" dirty="0"/>
          </a:p>
        </p:txBody>
      </p:sp>
      <p:sp>
        <p:nvSpPr>
          <p:cNvPr id="9" name="Text 7"/>
          <p:cNvSpPr/>
          <p:nvPr/>
        </p:nvSpPr>
        <p:spPr>
          <a:xfrm>
            <a:off x="4166592" y="5168265"/>
            <a:ext cx="2994303" cy="1480661"/>
          </a:xfrm>
          <a:prstGeom prst="rect">
            <a:avLst/>
          </a:prstGeom>
          <a:noFill/>
          <a:ln/>
        </p:spPr>
        <p:txBody>
          <a:bodyPr wrap="square" lIns="0" tIns="0" rIns="0" bIns="0" rtlCol="0" anchor="t"/>
          <a:lstStyle/>
          <a:p>
            <a:pPr algn="ctr"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Mean absolute error of just 3.2 watts demonstrates precise predictions at hourly granularity.</a:t>
            </a:r>
            <a:endParaRPr lang="en-US" sz="1900" dirty="0"/>
          </a:p>
        </p:txBody>
      </p:sp>
      <p:sp>
        <p:nvSpPr>
          <p:cNvPr id="10" name="Text 8"/>
          <p:cNvSpPr/>
          <p:nvPr/>
        </p:nvSpPr>
        <p:spPr>
          <a:xfrm>
            <a:off x="7469386" y="3546753"/>
            <a:ext cx="2994303" cy="814507"/>
          </a:xfrm>
          <a:prstGeom prst="rect">
            <a:avLst/>
          </a:prstGeom>
          <a:noFill/>
          <a:ln/>
        </p:spPr>
        <p:txBody>
          <a:bodyPr wrap="none" lIns="0" tIns="0" rIns="0" bIns="0" rtlCol="0" anchor="t"/>
          <a:lstStyle/>
          <a:p>
            <a:pPr algn="ctr" indent="0" marL="0">
              <a:lnSpc>
                <a:spcPts val="6400"/>
              </a:lnSpc>
              <a:buNone/>
            </a:pPr>
            <a:r>
              <a:rPr lang="en-US" sz="6400" b="1" dirty="0">
                <a:solidFill>
                  <a:srgbClr val="3D3838"/>
                </a:solidFill>
                <a:latin typeface="Montserrat Bold" pitchFamily="34" charset="0"/>
                <a:ea typeface="Montserrat Bold" pitchFamily="34" charset="-122"/>
                <a:cs typeface="Montserrat Bold" pitchFamily="34" charset="-120"/>
              </a:rPr>
              <a:t>0.0040</a:t>
            </a:r>
            <a:endParaRPr lang="en-US" sz="6400" dirty="0"/>
          </a:p>
        </p:txBody>
      </p:sp>
      <p:sp>
        <p:nvSpPr>
          <p:cNvPr id="11" name="Text 9"/>
          <p:cNvSpPr/>
          <p:nvPr/>
        </p:nvSpPr>
        <p:spPr>
          <a:xfrm>
            <a:off x="7564041" y="4669631"/>
            <a:ext cx="2804874" cy="350639"/>
          </a:xfrm>
          <a:prstGeom prst="rect">
            <a:avLst/>
          </a:prstGeom>
          <a:noFill/>
          <a:ln/>
        </p:spPr>
        <p:txBody>
          <a:bodyPr wrap="none" lIns="0" tIns="0" rIns="0" bIns="0" rtlCol="0" anchor="t"/>
          <a:lstStyle/>
          <a:p>
            <a:pPr algn="ctr"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RMSE (kW)</a:t>
            </a:r>
            <a:endParaRPr lang="en-US" sz="2200" dirty="0"/>
          </a:p>
        </p:txBody>
      </p:sp>
      <p:sp>
        <p:nvSpPr>
          <p:cNvPr id="12" name="Text 10"/>
          <p:cNvSpPr/>
          <p:nvPr/>
        </p:nvSpPr>
        <p:spPr>
          <a:xfrm>
            <a:off x="7469386" y="5168265"/>
            <a:ext cx="2994303" cy="1480661"/>
          </a:xfrm>
          <a:prstGeom prst="rect">
            <a:avLst/>
          </a:prstGeom>
          <a:noFill/>
          <a:ln/>
        </p:spPr>
        <p:txBody>
          <a:bodyPr wrap="square" lIns="0" tIns="0" rIns="0" bIns="0" rtlCol="0" anchor="t"/>
          <a:lstStyle/>
          <a:p>
            <a:pPr algn="ctr"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Root mean squared error of 4.0 watts confirms minimal prediction deviation from actual values.</a:t>
            </a:r>
            <a:endParaRPr lang="en-US" sz="1900" dirty="0"/>
          </a:p>
        </p:txBody>
      </p:sp>
      <p:sp>
        <p:nvSpPr>
          <p:cNvPr id="13" name="Text 11"/>
          <p:cNvSpPr/>
          <p:nvPr/>
        </p:nvSpPr>
        <p:spPr>
          <a:xfrm>
            <a:off x="10772180" y="3546753"/>
            <a:ext cx="2994422" cy="814507"/>
          </a:xfrm>
          <a:prstGeom prst="rect">
            <a:avLst/>
          </a:prstGeom>
          <a:noFill/>
          <a:ln/>
        </p:spPr>
        <p:txBody>
          <a:bodyPr wrap="none" lIns="0" tIns="0" rIns="0" bIns="0" rtlCol="0" anchor="t"/>
          <a:lstStyle/>
          <a:p>
            <a:pPr algn="ctr" indent="0" marL="0">
              <a:lnSpc>
                <a:spcPts val="6400"/>
              </a:lnSpc>
              <a:buNone/>
            </a:pPr>
            <a:r>
              <a:rPr lang="en-US" sz="6400" b="1" dirty="0">
                <a:solidFill>
                  <a:srgbClr val="3D3838"/>
                </a:solidFill>
                <a:latin typeface="Montserrat Bold" pitchFamily="34" charset="0"/>
                <a:ea typeface="Montserrat Bold" pitchFamily="34" charset="-122"/>
                <a:cs typeface="Montserrat Bold" pitchFamily="34" charset="-120"/>
              </a:rPr>
              <a:t>13</a:t>
            </a:r>
            <a:endParaRPr lang="en-US" sz="6400" dirty="0"/>
          </a:p>
        </p:txBody>
      </p:sp>
      <p:sp>
        <p:nvSpPr>
          <p:cNvPr id="14" name="Text 12"/>
          <p:cNvSpPr/>
          <p:nvPr/>
        </p:nvSpPr>
        <p:spPr>
          <a:xfrm>
            <a:off x="10866953" y="4669631"/>
            <a:ext cx="2804874" cy="350639"/>
          </a:xfrm>
          <a:prstGeom prst="rect">
            <a:avLst/>
          </a:prstGeom>
          <a:noFill/>
          <a:ln/>
        </p:spPr>
        <p:txBody>
          <a:bodyPr wrap="none" lIns="0" tIns="0" rIns="0" bIns="0" rtlCol="0" anchor="t"/>
          <a:lstStyle/>
          <a:p>
            <a:pPr algn="ctr"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Training Epochs</a:t>
            </a:r>
            <a:endParaRPr lang="en-US" sz="2200" dirty="0"/>
          </a:p>
        </p:txBody>
      </p:sp>
      <p:sp>
        <p:nvSpPr>
          <p:cNvPr id="15" name="Text 13"/>
          <p:cNvSpPr/>
          <p:nvPr/>
        </p:nvSpPr>
        <p:spPr>
          <a:xfrm>
            <a:off x="10772180" y="5168265"/>
            <a:ext cx="2994422" cy="1480661"/>
          </a:xfrm>
          <a:prstGeom prst="rect">
            <a:avLst/>
          </a:prstGeom>
          <a:noFill/>
          <a:ln/>
        </p:spPr>
        <p:txBody>
          <a:bodyPr wrap="square" lIns="0" tIns="0" rIns="0" bIns="0" rtlCol="0" anchor="t"/>
          <a:lstStyle/>
          <a:p>
            <a:pPr algn="ctr"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Model converged in just 13 iterations, demonstrating efficient learning from strong feature relationships.</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63798" y="1514713"/>
            <a:ext cx="6452711"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Training Convergence</a:t>
            </a:r>
            <a:endParaRPr lang="en-US" sz="4400" dirty="0"/>
          </a:p>
        </p:txBody>
      </p:sp>
      <p:sp>
        <p:nvSpPr>
          <p:cNvPr id="3" name="Text 1"/>
          <p:cNvSpPr/>
          <p:nvPr/>
        </p:nvSpPr>
        <p:spPr>
          <a:xfrm>
            <a:off x="863798" y="2709624"/>
            <a:ext cx="12902803"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Loss curve analysis reveals rapid optimization with early stopping after convergence detection.</a:t>
            </a:r>
            <a:endParaRPr lang="en-US" sz="1900" dirty="0"/>
          </a:p>
        </p:txBody>
      </p:sp>
      <p:sp>
        <p:nvSpPr>
          <p:cNvPr id="4" name="Text 2"/>
          <p:cNvSpPr/>
          <p:nvPr/>
        </p:nvSpPr>
        <p:spPr>
          <a:xfrm>
            <a:off x="863798" y="3604260"/>
            <a:ext cx="3365778" cy="420648"/>
          </a:xfrm>
          <a:prstGeom prst="rect">
            <a:avLst/>
          </a:prstGeom>
          <a:noFill/>
          <a:ln/>
        </p:spPr>
        <p:txBody>
          <a:bodyPr wrap="none" lIns="0" tIns="0" rIns="0" bIns="0" rtlCol="0" anchor="t"/>
          <a:lstStyle/>
          <a:p>
            <a:pPr algn="l" indent="0" marL="0">
              <a:lnSpc>
                <a:spcPts val="3300"/>
              </a:lnSpc>
              <a:buNone/>
            </a:pPr>
            <a:r>
              <a:rPr lang="en-US" sz="2650" b="1" dirty="0">
                <a:solidFill>
                  <a:srgbClr val="000000"/>
                </a:solidFill>
                <a:latin typeface="Montserrat Bold" pitchFamily="34" charset="0"/>
                <a:ea typeface="Montserrat Bold" pitchFamily="34" charset="-122"/>
                <a:cs typeface="Montserrat Bold" pitchFamily="34" charset="-120"/>
              </a:rPr>
              <a:t>Training Dynamics</a:t>
            </a:r>
            <a:endParaRPr lang="en-US" sz="2650" dirty="0"/>
          </a:p>
        </p:txBody>
      </p:sp>
      <p:sp>
        <p:nvSpPr>
          <p:cNvPr id="5" name="Text 3"/>
          <p:cNvSpPr/>
          <p:nvPr/>
        </p:nvSpPr>
        <p:spPr>
          <a:xfrm>
            <a:off x="863798" y="4271724"/>
            <a:ext cx="547497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Initial loss: 0.00084 (iteration 1)</a:t>
            </a:r>
            <a:endParaRPr lang="en-US" sz="1900" dirty="0"/>
          </a:p>
        </p:txBody>
      </p:sp>
      <p:sp>
        <p:nvSpPr>
          <p:cNvPr id="6" name="Text 4"/>
          <p:cNvSpPr/>
          <p:nvPr/>
        </p:nvSpPr>
        <p:spPr>
          <a:xfrm>
            <a:off x="863798" y="4728210"/>
            <a:ext cx="547497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Sharp decline in first 3 epochs</a:t>
            </a:r>
            <a:endParaRPr lang="en-US" sz="1900" dirty="0"/>
          </a:p>
        </p:txBody>
      </p:sp>
      <p:sp>
        <p:nvSpPr>
          <p:cNvPr id="7" name="Text 5"/>
          <p:cNvSpPr/>
          <p:nvPr/>
        </p:nvSpPr>
        <p:spPr>
          <a:xfrm>
            <a:off x="863798" y="5184696"/>
            <a:ext cx="547497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Stabilization by epoch 10</a:t>
            </a:r>
            <a:endParaRPr lang="en-US" sz="1900" dirty="0"/>
          </a:p>
        </p:txBody>
      </p:sp>
      <p:sp>
        <p:nvSpPr>
          <p:cNvPr id="8" name="Text 6"/>
          <p:cNvSpPr/>
          <p:nvPr/>
        </p:nvSpPr>
        <p:spPr>
          <a:xfrm>
            <a:off x="863798" y="5641181"/>
            <a:ext cx="547497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Early stopping at epoch 13</a:t>
            </a:r>
            <a:endParaRPr lang="en-US" sz="1900" dirty="0"/>
          </a:p>
        </p:txBody>
      </p:sp>
      <p:sp>
        <p:nvSpPr>
          <p:cNvPr id="9" name="Text 7"/>
          <p:cNvSpPr/>
          <p:nvPr/>
        </p:nvSpPr>
        <p:spPr>
          <a:xfrm>
            <a:off x="863798" y="6097667"/>
            <a:ext cx="5474970"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Final loss: 0.00002</a:t>
            </a:r>
            <a:endParaRPr lang="en-US" sz="1900" dirty="0"/>
          </a:p>
        </p:txBody>
      </p:sp>
      <p:sp>
        <p:nvSpPr>
          <p:cNvPr id="10" name="Text 8"/>
          <p:cNvSpPr/>
          <p:nvPr/>
        </p:nvSpPr>
        <p:spPr>
          <a:xfrm>
            <a:off x="6948607" y="3604260"/>
            <a:ext cx="3365778" cy="420648"/>
          </a:xfrm>
          <a:prstGeom prst="rect">
            <a:avLst/>
          </a:prstGeom>
          <a:noFill/>
          <a:ln/>
        </p:spPr>
        <p:txBody>
          <a:bodyPr wrap="none" lIns="0" tIns="0" rIns="0" bIns="0" rtlCol="0" anchor="t"/>
          <a:lstStyle/>
          <a:p>
            <a:pPr algn="l" indent="0" marL="0">
              <a:lnSpc>
                <a:spcPts val="3300"/>
              </a:lnSpc>
              <a:buNone/>
            </a:pPr>
            <a:r>
              <a:rPr lang="en-US" sz="2650" b="1" dirty="0">
                <a:solidFill>
                  <a:srgbClr val="000000"/>
                </a:solidFill>
                <a:latin typeface="Montserrat Bold" pitchFamily="34" charset="0"/>
                <a:ea typeface="Montserrat Bold" pitchFamily="34" charset="-122"/>
                <a:cs typeface="Montserrat Bold" pitchFamily="34" charset="-120"/>
              </a:rPr>
              <a:t>Interpretation</a:t>
            </a:r>
            <a:endParaRPr lang="en-US" sz="2650" dirty="0"/>
          </a:p>
        </p:txBody>
      </p:sp>
      <p:sp>
        <p:nvSpPr>
          <p:cNvPr id="11" name="Text 9"/>
          <p:cNvSpPr/>
          <p:nvPr/>
        </p:nvSpPr>
        <p:spPr>
          <a:xfrm>
            <a:off x="6948607" y="4271724"/>
            <a:ext cx="6825496" cy="2220992"/>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The steep initial drop followed by gradual refinement indicates the model quickly learned primary relationships between economic/environmental features and demand. Early convergence suggests the five selected features capture the essential dynamics of charging behavior without requiring complex non-linear transformations.</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63798" y="1666399"/>
            <a:ext cx="9850041"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Prediction Accuracy Visualization</a:t>
            </a:r>
            <a:endParaRPr lang="en-US" sz="4400" dirty="0"/>
          </a:p>
        </p:txBody>
      </p:sp>
      <p:sp>
        <p:nvSpPr>
          <p:cNvPr id="3" name="Text 1"/>
          <p:cNvSpPr/>
          <p:nvPr/>
        </p:nvSpPr>
        <p:spPr>
          <a:xfrm>
            <a:off x="863798" y="2861310"/>
            <a:ext cx="12902803"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Actual vs. predicted values demonstrate the neural network's precise tracking of demand fluctuations across 100 test samples.</a:t>
            </a:r>
            <a:endParaRPr lang="en-US" sz="1900" dirty="0"/>
          </a:p>
        </p:txBody>
      </p:sp>
      <p:sp>
        <p:nvSpPr>
          <p:cNvPr id="4" name="Text 2"/>
          <p:cNvSpPr/>
          <p:nvPr/>
        </p:nvSpPr>
        <p:spPr>
          <a:xfrm>
            <a:off x="1233964" y="4156948"/>
            <a:ext cx="12532638"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The model's predictions (marked with X) closely follow actual demand values (marked with circles) across diverse operating conditions. Minimal deviation indicates robust generalization to unseen data, validating the model for deployment in real-world forecasting applications.</a:t>
            </a:r>
            <a:endParaRPr lang="en-US" sz="1900" dirty="0"/>
          </a:p>
        </p:txBody>
      </p:sp>
      <p:sp>
        <p:nvSpPr>
          <p:cNvPr id="5" name="Shape 3"/>
          <p:cNvSpPr/>
          <p:nvPr/>
        </p:nvSpPr>
        <p:spPr>
          <a:xfrm>
            <a:off x="863798" y="3879294"/>
            <a:ext cx="30480" cy="1665803"/>
          </a:xfrm>
          <a:prstGeom prst="rect">
            <a:avLst/>
          </a:prstGeom>
          <a:solidFill>
            <a:srgbClr val="2D2E34"/>
          </a:solidFill>
          <a:ln/>
        </p:spPr>
      </p:sp>
      <p:sp>
        <p:nvSpPr>
          <p:cNvPr id="6" name="Text 4"/>
          <p:cNvSpPr/>
          <p:nvPr/>
        </p:nvSpPr>
        <p:spPr>
          <a:xfrm>
            <a:off x="863798" y="5822752"/>
            <a:ext cx="12902803"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This accuracy enables grid operators to anticipate demand with confidence intervals narrow enough for operational decision-making, including capacity planning, renewable integration scheduling, and dynamic pricing implementation.</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63798" y="1447919"/>
            <a:ext cx="11584424"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Decision Tree: Day Period Classification</a:t>
            </a:r>
            <a:endParaRPr lang="en-US" sz="4400" dirty="0"/>
          </a:p>
        </p:txBody>
      </p:sp>
      <p:sp>
        <p:nvSpPr>
          <p:cNvPr id="3" name="Text 1"/>
          <p:cNvSpPr/>
          <p:nvPr/>
        </p:nvSpPr>
        <p:spPr>
          <a:xfrm>
            <a:off x="863798" y="2642830"/>
            <a:ext cx="12902803"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A decision tree classifier achieves perfect accuracy (100%) predicting time-of-day periods using only month and hour features.</a:t>
            </a:r>
            <a:endParaRPr lang="en-US" sz="1900" dirty="0"/>
          </a:p>
        </p:txBody>
      </p:sp>
      <p:sp>
        <p:nvSpPr>
          <p:cNvPr id="4" name="Shape 2"/>
          <p:cNvSpPr/>
          <p:nvPr/>
        </p:nvSpPr>
        <p:spPr>
          <a:xfrm>
            <a:off x="863798" y="3290649"/>
            <a:ext cx="12902803" cy="2472928"/>
          </a:xfrm>
          <a:prstGeom prst="roundRect">
            <a:avLst>
              <a:gd name="adj" fmla="val 1497"/>
            </a:avLst>
          </a:prstGeom>
          <a:solidFill>
            <a:srgbClr val="F2EEEE"/>
          </a:solidFill>
          <a:ln/>
        </p:spPr>
      </p:sp>
      <p:sp>
        <p:nvSpPr>
          <p:cNvPr id="5" name="Shape 3"/>
          <p:cNvSpPr/>
          <p:nvPr/>
        </p:nvSpPr>
        <p:spPr>
          <a:xfrm>
            <a:off x="863798" y="3290649"/>
            <a:ext cx="4300895" cy="2472928"/>
          </a:xfrm>
          <a:prstGeom prst="roundRect">
            <a:avLst>
              <a:gd name="adj" fmla="val 1497"/>
            </a:avLst>
          </a:prstGeom>
          <a:solidFill>
            <a:srgbClr val="F2EEEE"/>
          </a:solidFill>
          <a:ln/>
        </p:spPr>
      </p:sp>
      <p:sp>
        <p:nvSpPr>
          <p:cNvPr id="6" name="Text 4"/>
          <p:cNvSpPr/>
          <p:nvPr/>
        </p:nvSpPr>
        <p:spPr>
          <a:xfrm>
            <a:off x="1110615" y="3537466"/>
            <a:ext cx="3111818"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Perfect Classification</a:t>
            </a:r>
            <a:endParaRPr lang="en-US" sz="2200" dirty="0"/>
          </a:p>
        </p:txBody>
      </p:sp>
      <p:sp>
        <p:nvSpPr>
          <p:cNvPr id="7" name="Text 5"/>
          <p:cNvSpPr/>
          <p:nvPr/>
        </p:nvSpPr>
        <p:spPr>
          <a:xfrm>
            <a:off x="1110615" y="4036100"/>
            <a:ext cx="3807262" cy="148066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Accuracy: 1.00. The model correctly classifies all test samples into Night, Morning, Afternoon, and Evening periods.</a:t>
            </a:r>
            <a:endParaRPr lang="en-US" sz="1900" dirty="0"/>
          </a:p>
        </p:txBody>
      </p:sp>
      <p:sp>
        <p:nvSpPr>
          <p:cNvPr id="8" name="Shape 6"/>
          <p:cNvSpPr/>
          <p:nvPr/>
        </p:nvSpPr>
        <p:spPr>
          <a:xfrm>
            <a:off x="5164693" y="3290649"/>
            <a:ext cx="4300895" cy="2472928"/>
          </a:xfrm>
          <a:prstGeom prst="rect">
            <a:avLst/>
          </a:prstGeom>
          <a:solidFill>
            <a:srgbClr val="F2EEEE"/>
          </a:solidFill>
          <a:ln/>
        </p:spPr>
      </p:sp>
      <p:sp>
        <p:nvSpPr>
          <p:cNvPr id="9" name="Shape 7"/>
          <p:cNvSpPr/>
          <p:nvPr/>
        </p:nvSpPr>
        <p:spPr>
          <a:xfrm>
            <a:off x="5164693" y="3290649"/>
            <a:ext cx="30480" cy="2472928"/>
          </a:xfrm>
          <a:prstGeom prst="roundRect">
            <a:avLst>
              <a:gd name="adj" fmla="val 121472"/>
            </a:avLst>
          </a:prstGeom>
          <a:solidFill>
            <a:srgbClr val="D8D4D4"/>
          </a:solidFill>
          <a:ln/>
        </p:spPr>
      </p:sp>
      <p:sp>
        <p:nvSpPr>
          <p:cNvPr id="10" name="Text 8"/>
          <p:cNvSpPr/>
          <p:nvPr/>
        </p:nvSpPr>
        <p:spPr>
          <a:xfrm>
            <a:off x="5411510" y="3537466"/>
            <a:ext cx="3248144"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Simple Decision Rules</a:t>
            </a:r>
            <a:endParaRPr lang="en-US" sz="2200" dirty="0"/>
          </a:p>
        </p:txBody>
      </p:sp>
      <p:sp>
        <p:nvSpPr>
          <p:cNvPr id="11" name="Text 9"/>
          <p:cNvSpPr/>
          <p:nvPr/>
        </p:nvSpPr>
        <p:spPr>
          <a:xfrm>
            <a:off x="5411510" y="4036100"/>
            <a:ext cx="3807262" cy="148066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Hour-based thresholds provide interpretable splits: Night (0-3, 21-23), Morning (4-11), Afternoon (12-16), Evening (17-20).</a:t>
            </a:r>
            <a:endParaRPr lang="en-US" sz="1900" dirty="0"/>
          </a:p>
        </p:txBody>
      </p:sp>
      <p:sp>
        <p:nvSpPr>
          <p:cNvPr id="12" name="Shape 10"/>
          <p:cNvSpPr/>
          <p:nvPr/>
        </p:nvSpPr>
        <p:spPr>
          <a:xfrm>
            <a:off x="9465588" y="3290649"/>
            <a:ext cx="4301014" cy="2472928"/>
          </a:xfrm>
          <a:prstGeom prst="rect">
            <a:avLst/>
          </a:prstGeom>
          <a:solidFill>
            <a:srgbClr val="F2EEEE"/>
          </a:solidFill>
          <a:ln/>
        </p:spPr>
      </p:sp>
      <p:sp>
        <p:nvSpPr>
          <p:cNvPr id="13" name="Shape 11"/>
          <p:cNvSpPr/>
          <p:nvPr/>
        </p:nvSpPr>
        <p:spPr>
          <a:xfrm>
            <a:off x="9465588" y="3290649"/>
            <a:ext cx="30480" cy="2472928"/>
          </a:xfrm>
          <a:prstGeom prst="roundRect">
            <a:avLst>
              <a:gd name="adj" fmla="val 121472"/>
            </a:avLst>
          </a:prstGeom>
          <a:solidFill>
            <a:srgbClr val="D8D4D4"/>
          </a:solidFill>
          <a:ln/>
        </p:spPr>
      </p:sp>
      <p:sp>
        <p:nvSpPr>
          <p:cNvPr id="14" name="Text 12"/>
          <p:cNvSpPr/>
          <p:nvPr/>
        </p:nvSpPr>
        <p:spPr>
          <a:xfrm>
            <a:off x="9712404" y="3537466"/>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10 Leaf Nodes</a:t>
            </a:r>
            <a:endParaRPr lang="en-US" sz="2200" dirty="0"/>
          </a:p>
        </p:txBody>
      </p:sp>
      <p:sp>
        <p:nvSpPr>
          <p:cNvPr id="15" name="Text 13"/>
          <p:cNvSpPr/>
          <p:nvPr/>
        </p:nvSpPr>
        <p:spPr>
          <a:xfrm>
            <a:off x="9712404" y="4036100"/>
            <a:ext cx="3807381" cy="148066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Model complexity constrained to maintain interpretability while capturing all essential temporal patterns.</a:t>
            </a:r>
            <a:endParaRPr lang="en-US" sz="1900" dirty="0"/>
          </a:p>
        </p:txBody>
      </p:sp>
      <p:sp>
        <p:nvSpPr>
          <p:cNvPr id="16" name="Text 14"/>
          <p:cNvSpPr/>
          <p:nvPr/>
        </p:nvSpPr>
        <p:spPr>
          <a:xfrm>
            <a:off x="863798" y="6041231"/>
            <a:ext cx="12902803"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The confusion matrix shows zero misclassifications across all four day period categories, confirming the model's deterministic nature when temporal boundaries are well-defined.</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95444" y="694968"/>
            <a:ext cx="8841105" cy="564475"/>
          </a:xfrm>
          <a:prstGeom prst="rect">
            <a:avLst/>
          </a:prstGeom>
          <a:noFill/>
          <a:ln/>
        </p:spPr>
        <p:txBody>
          <a:bodyPr wrap="none" lIns="0" tIns="0" rIns="0" bIns="0" rtlCol="0" anchor="t"/>
          <a:lstStyle/>
          <a:p>
            <a:pPr algn="l" indent="0" marL="0">
              <a:lnSpc>
                <a:spcPts val="4400"/>
              </a:lnSpc>
              <a:buNone/>
            </a:pPr>
            <a:r>
              <a:rPr lang="en-US" sz="3550" b="1" dirty="0">
                <a:solidFill>
                  <a:srgbClr val="000000"/>
                </a:solidFill>
                <a:latin typeface="Montserrat Bold" pitchFamily="34" charset="0"/>
                <a:ea typeface="Montserrat Bold" pitchFamily="34" charset="-122"/>
                <a:cs typeface="Montserrat Bold" pitchFamily="34" charset="-120"/>
              </a:rPr>
              <a:t>Decision Tree: Seasonal Classification</a:t>
            </a:r>
            <a:endParaRPr lang="en-US" sz="3550" dirty="0"/>
          </a:p>
        </p:txBody>
      </p:sp>
      <p:sp>
        <p:nvSpPr>
          <p:cNvPr id="3" name="Text 1"/>
          <p:cNvSpPr/>
          <p:nvPr/>
        </p:nvSpPr>
        <p:spPr>
          <a:xfrm>
            <a:off x="695444" y="1656874"/>
            <a:ext cx="13239512" cy="298013"/>
          </a:xfrm>
          <a:prstGeom prst="rect">
            <a:avLst/>
          </a:prstGeom>
          <a:noFill/>
          <a:ln/>
        </p:spPr>
        <p:txBody>
          <a:bodyPr wrap="non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Season prediction using month, hour, charging demand, and electricity price achieves perfect accuracy (100%), with month being the dominant feature.</a:t>
            </a:r>
            <a:endParaRPr lang="en-US" sz="1550" dirty="0"/>
          </a:p>
        </p:txBody>
      </p:sp>
      <p:pic>
        <p:nvPicPr>
          <p:cNvPr id="4" name="Image 0" descr="preencoded.png">    </p:cNvPr>
          <p:cNvPicPr>
            <a:picLocks noChangeAspect="1"/>
          </p:cNvPicPr>
          <p:nvPr/>
        </p:nvPicPr>
        <p:blipFill>
          <a:blip r:embed="rId1"/>
          <a:stretch>
            <a:fillRect/>
          </a:stretch>
        </p:blipFill>
        <p:spPr>
          <a:xfrm>
            <a:off x="3186113" y="2178368"/>
            <a:ext cx="1638300" cy="1096923"/>
          </a:xfrm>
          <a:prstGeom prst="rect">
            <a:avLst/>
          </a:prstGeom>
        </p:spPr>
      </p:pic>
      <p:sp>
        <p:nvSpPr>
          <p:cNvPr id="5" name="Text 2"/>
          <p:cNvSpPr/>
          <p:nvPr/>
        </p:nvSpPr>
        <p:spPr>
          <a:xfrm>
            <a:off x="3865483" y="2686883"/>
            <a:ext cx="279440" cy="349210"/>
          </a:xfrm>
          <a:prstGeom prst="rect">
            <a:avLst/>
          </a:prstGeom>
          <a:noFill/>
          <a:ln/>
        </p:spPr>
        <p:txBody>
          <a:bodyPr wrap="none" lIns="0" tIns="0" rIns="0" bIns="0" rtlCol="0" anchor="t"/>
          <a:lstStyle/>
          <a:p>
            <a:pPr algn="ctr" indent="0" marL="0">
              <a:lnSpc>
                <a:spcPts val="3300"/>
              </a:lnSpc>
              <a:buNone/>
            </a:pPr>
            <a:r>
              <a:rPr lang="en-US" sz="2200" b="1" dirty="0">
                <a:solidFill>
                  <a:srgbClr val="3D3838"/>
                </a:solidFill>
                <a:latin typeface="Montserrat Bold" pitchFamily="34" charset="0"/>
                <a:ea typeface="Montserrat Bold" pitchFamily="34" charset="-122"/>
                <a:cs typeface="Montserrat Bold" pitchFamily="34" charset="-120"/>
              </a:rPr>
              <a:t>1</a:t>
            </a:r>
            <a:endParaRPr lang="en-US" sz="2200" dirty="0"/>
          </a:p>
        </p:txBody>
      </p:sp>
      <p:sp>
        <p:nvSpPr>
          <p:cNvPr id="6" name="Text 3"/>
          <p:cNvSpPr/>
          <p:nvPr/>
        </p:nvSpPr>
        <p:spPr>
          <a:xfrm>
            <a:off x="5023128" y="2377083"/>
            <a:ext cx="1370767" cy="282297"/>
          </a:xfrm>
          <a:prstGeom prst="rect">
            <a:avLst/>
          </a:prstGeom>
          <a:noFill/>
          <a:ln/>
        </p:spPr>
        <p:txBody>
          <a:bodyPr wrap="none" lIns="0" tIns="0" rIns="0" bIns="0" rtlCol="0" anchor="t"/>
          <a:lstStyle/>
          <a:p>
            <a:pPr algn="l" indent="0" marL="0">
              <a:lnSpc>
                <a:spcPts val="2200"/>
              </a:lnSpc>
              <a:buNone/>
            </a:pPr>
            <a:r>
              <a:rPr lang="en-US" sz="1750" b="1" dirty="0">
                <a:solidFill>
                  <a:srgbClr val="3D3838"/>
                </a:solidFill>
                <a:latin typeface="Montserrat Bold" pitchFamily="34" charset="0"/>
                <a:ea typeface="Montserrat Bold" pitchFamily="34" charset="-122"/>
                <a:cs typeface="Montserrat Bold" pitchFamily="34" charset="-120"/>
              </a:rPr>
              <a:t>Month ≤ 2.5</a:t>
            </a:r>
            <a:endParaRPr lang="en-US" sz="1750" dirty="0"/>
          </a:p>
        </p:txBody>
      </p:sp>
      <p:sp>
        <p:nvSpPr>
          <p:cNvPr id="7" name="Text 4"/>
          <p:cNvSpPr/>
          <p:nvPr/>
        </p:nvSpPr>
        <p:spPr>
          <a:xfrm>
            <a:off x="5023128" y="2778562"/>
            <a:ext cx="1370767" cy="298013"/>
          </a:xfrm>
          <a:prstGeom prst="rect">
            <a:avLst/>
          </a:prstGeom>
          <a:noFill/>
          <a:ln/>
        </p:spPr>
        <p:txBody>
          <a:bodyPr wrap="non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Winter (Jan-Feb)</a:t>
            </a:r>
            <a:endParaRPr lang="en-US" sz="1550" dirty="0"/>
          </a:p>
        </p:txBody>
      </p:sp>
      <p:sp>
        <p:nvSpPr>
          <p:cNvPr id="8" name="Shape 5"/>
          <p:cNvSpPr/>
          <p:nvPr/>
        </p:nvSpPr>
        <p:spPr>
          <a:xfrm>
            <a:off x="4874062" y="3290530"/>
            <a:ext cx="9011245" cy="11430"/>
          </a:xfrm>
          <a:prstGeom prst="roundRect">
            <a:avLst>
              <a:gd name="adj" fmla="val 260794"/>
            </a:avLst>
          </a:prstGeom>
          <a:solidFill>
            <a:srgbClr val="D8D4D4"/>
          </a:solidFill>
          <a:ln/>
        </p:spPr>
      </p:sp>
      <p:pic>
        <p:nvPicPr>
          <p:cNvPr id="9" name="Image 1" descr="preencoded.png">    </p:cNvPr>
          <p:cNvPicPr>
            <a:picLocks noChangeAspect="1"/>
          </p:cNvPicPr>
          <p:nvPr/>
        </p:nvPicPr>
        <p:blipFill>
          <a:blip r:embed="rId2"/>
          <a:stretch>
            <a:fillRect/>
          </a:stretch>
        </p:blipFill>
        <p:spPr>
          <a:xfrm>
            <a:off x="2366843" y="3324939"/>
            <a:ext cx="3276719" cy="1096923"/>
          </a:xfrm>
          <a:prstGeom prst="rect">
            <a:avLst/>
          </a:prstGeom>
        </p:spPr>
      </p:pic>
      <p:sp>
        <p:nvSpPr>
          <p:cNvPr id="10" name="Text 6"/>
          <p:cNvSpPr/>
          <p:nvPr/>
        </p:nvSpPr>
        <p:spPr>
          <a:xfrm>
            <a:off x="3865364" y="3698796"/>
            <a:ext cx="279440" cy="349210"/>
          </a:xfrm>
          <a:prstGeom prst="rect">
            <a:avLst/>
          </a:prstGeom>
          <a:noFill/>
          <a:ln/>
        </p:spPr>
        <p:txBody>
          <a:bodyPr wrap="none" lIns="0" tIns="0" rIns="0" bIns="0" rtlCol="0" anchor="t"/>
          <a:lstStyle/>
          <a:p>
            <a:pPr algn="ctr" indent="0" marL="0">
              <a:lnSpc>
                <a:spcPts val="3300"/>
              </a:lnSpc>
              <a:buNone/>
            </a:pPr>
            <a:r>
              <a:rPr lang="en-US" sz="2200" b="1" dirty="0">
                <a:solidFill>
                  <a:srgbClr val="3D3838"/>
                </a:solidFill>
                <a:latin typeface="Montserrat Bold" pitchFamily="34" charset="0"/>
                <a:ea typeface="Montserrat Bold" pitchFamily="34" charset="-122"/>
                <a:cs typeface="Montserrat Bold" pitchFamily="34" charset="-120"/>
              </a:rPr>
              <a:t>2</a:t>
            </a:r>
            <a:endParaRPr lang="en-US" sz="2200" dirty="0"/>
          </a:p>
        </p:txBody>
      </p:sp>
      <p:sp>
        <p:nvSpPr>
          <p:cNvPr id="11" name="Text 7"/>
          <p:cNvSpPr/>
          <p:nvPr/>
        </p:nvSpPr>
        <p:spPr>
          <a:xfrm>
            <a:off x="5842278" y="3523655"/>
            <a:ext cx="1956316" cy="282297"/>
          </a:xfrm>
          <a:prstGeom prst="rect">
            <a:avLst/>
          </a:prstGeom>
          <a:noFill/>
          <a:ln/>
        </p:spPr>
        <p:txBody>
          <a:bodyPr wrap="none" lIns="0" tIns="0" rIns="0" bIns="0" rtlCol="0" anchor="t"/>
          <a:lstStyle/>
          <a:p>
            <a:pPr algn="l" indent="0" marL="0">
              <a:lnSpc>
                <a:spcPts val="2200"/>
              </a:lnSpc>
              <a:buNone/>
            </a:pPr>
            <a:r>
              <a:rPr lang="en-US" sz="1750" b="1" dirty="0">
                <a:solidFill>
                  <a:srgbClr val="3D3838"/>
                </a:solidFill>
                <a:latin typeface="Montserrat Bold" pitchFamily="34" charset="0"/>
                <a:ea typeface="Montserrat Bold" pitchFamily="34" charset="-122"/>
                <a:cs typeface="Montserrat Bold" pitchFamily="34" charset="-120"/>
              </a:rPr>
              <a:t>2.5 &lt; Month ≤ 5.5</a:t>
            </a:r>
            <a:endParaRPr lang="en-US" sz="1750" dirty="0"/>
          </a:p>
        </p:txBody>
      </p:sp>
      <p:sp>
        <p:nvSpPr>
          <p:cNvPr id="12" name="Text 8"/>
          <p:cNvSpPr/>
          <p:nvPr/>
        </p:nvSpPr>
        <p:spPr>
          <a:xfrm>
            <a:off x="5842278" y="3925133"/>
            <a:ext cx="1956316" cy="298013"/>
          </a:xfrm>
          <a:prstGeom prst="rect">
            <a:avLst/>
          </a:prstGeom>
          <a:noFill/>
          <a:ln/>
        </p:spPr>
        <p:txBody>
          <a:bodyPr wrap="non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Spring (Mar-May)</a:t>
            </a:r>
            <a:endParaRPr lang="en-US" sz="1550" dirty="0"/>
          </a:p>
        </p:txBody>
      </p:sp>
      <p:sp>
        <p:nvSpPr>
          <p:cNvPr id="13" name="Shape 9"/>
          <p:cNvSpPr/>
          <p:nvPr/>
        </p:nvSpPr>
        <p:spPr>
          <a:xfrm>
            <a:off x="5693212" y="4437102"/>
            <a:ext cx="8192095" cy="11430"/>
          </a:xfrm>
          <a:prstGeom prst="roundRect">
            <a:avLst>
              <a:gd name="adj" fmla="val 260794"/>
            </a:avLst>
          </a:prstGeom>
          <a:solidFill>
            <a:srgbClr val="D8D4D4"/>
          </a:solidFill>
          <a:ln/>
        </p:spPr>
      </p:sp>
      <p:pic>
        <p:nvPicPr>
          <p:cNvPr id="14" name="Image 2" descr="preencoded.png">    </p:cNvPr>
          <p:cNvPicPr>
            <a:picLocks noChangeAspect="1"/>
          </p:cNvPicPr>
          <p:nvPr/>
        </p:nvPicPr>
        <p:blipFill>
          <a:blip r:embed="rId3"/>
          <a:stretch>
            <a:fillRect/>
          </a:stretch>
        </p:blipFill>
        <p:spPr>
          <a:xfrm>
            <a:off x="1547693" y="4471511"/>
            <a:ext cx="4915138" cy="1096923"/>
          </a:xfrm>
          <a:prstGeom prst="rect">
            <a:avLst/>
          </a:prstGeom>
        </p:spPr>
      </p:pic>
      <p:sp>
        <p:nvSpPr>
          <p:cNvPr id="15" name="Text 10"/>
          <p:cNvSpPr/>
          <p:nvPr/>
        </p:nvSpPr>
        <p:spPr>
          <a:xfrm>
            <a:off x="3865483" y="4845368"/>
            <a:ext cx="279440" cy="349210"/>
          </a:xfrm>
          <a:prstGeom prst="rect">
            <a:avLst/>
          </a:prstGeom>
          <a:noFill/>
          <a:ln/>
        </p:spPr>
        <p:txBody>
          <a:bodyPr wrap="none" lIns="0" tIns="0" rIns="0" bIns="0" rtlCol="0" anchor="t"/>
          <a:lstStyle/>
          <a:p>
            <a:pPr algn="ctr" indent="0" marL="0">
              <a:lnSpc>
                <a:spcPts val="3300"/>
              </a:lnSpc>
              <a:buNone/>
            </a:pPr>
            <a:r>
              <a:rPr lang="en-US" sz="2200" b="1" dirty="0">
                <a:solidFill>
                  <a:srgbClr val="3D3838"/>
                </a:solidFill>
                <a:latin typeface="Montserrat Bold" pitchFamily="34" charset="0"/>
                <a:ea typeface="Montserrat Bold" pitchFamily="34" charset="-122"/>
                <a:cs typeface="Montserrat Bold" pitchFamily="34" charset="-120"/>
              </a:rPr>
              <a:t>3</a:t>
            </a:r>
            <a:endParaRPr lang="en-US" sz="2200" dirty="0"/>
          </a:p>
        </p:txBody>
      </p:sp>
      <p:sp>
        <p:nvSpPr>
          <p:cNvPr id="16" name="Text 11"/>
          <p:cNvSpPr/>
          <p:nvPr/>
        </p:nvSpPr>
        <p:spPr>
          <a:xfrm>
            <a:off x="6661547" y="4670227"/>
            <a:ext cx="1972151" cy="282297"/>
          </a:xfrm>
          <a:prstGeom prst="rect">
            <a:avLst/>
          </a:prstGeom>
          <a:noFill/>
          <a:ln/>
        </p:spPr>
        <p:txBody>
          <a:bodyPr wrap="none" lIns="0" tIns="0" rIns="0" bIns="0" rtlCol="0" anchor="t"/>
          <a:lstStyle/>
          <a:p>
            <a:pPr algn="l" indent="0" marL="0">
              <a:lnSpc>
                <a:spcPts val="2200"/>
              </a:lnSpc>
              <a:buNone/>
            </a:pPr>
            <a:r>
              <a:rPr lang="en-US" sz="1750" b="1" dirty="0">
                <a:solidFill>
                  <a:srgbClr val="3D3838"/>
                </a:solidFill>
                <a:latin typeface="Montserrat Bold" pitchFamily="34" charset="0"/>
                <a:ea typeface="Montserrat Bold" pitchFamily="34" charset="-122"/>
                <a:cs typeface="Montserrat Bold" pitchFamily="34" charset="-120"/>
              </a:rPr>
              <a:t>5.5 &lt; Month ≤ 8.5</a:t>
            </a:r>
            <a:endParaRPr lang="en-US" sz="1750" dirty="0"/>
          </a:p>
        </p:txBody>
      </p:sp>
      <p:sp>
        <p:nvSpPr>
          <p:cNvPr id="17" name="Text 12"/>
          <p:cNvSpPr/>
          <p:nvPr/>
        </p:nvSpPr>
        <p:spPr>
          <a:xfrm>
            <a:off x="6661547" y="5071705"/>
            <a:ext cx="1972151" cy="298013"/>
          </a:xfrm>
          <a:prstGeom prst="rect">
            <a:avLst/>
          </a:prstGeom>
          <a:noFill/>
          <a:ln/>
        </p:spPr>
        <p:txBody>
          <a:bodyPr wrap="non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Summer (Jun-Aug)</a:t>
            </a:r>
            <a:endParaRPr lang="en-US" sz="1550" dirty="0"/>
          </a:p>
        </p:txBody>
      </p:sp>
      <p:sp>
        <p:nvSpPr>
          <p:cNvPr id="18" name="Shape 13"/>
          <p:cNvSpPr/>
          <p:nvPr/>
        </p:nvSpPr>
        <p:spPr>
          <a:xfrm>
            <a:off x="6512481" y="5583674"/>
            <a:ext cx="7372826" cy="11430"/>
          </a:xfrm>
          <a:prstGeom prst="roundRect">
            <a:avLst>
              <a:gd name="adj" fmla="val 260794"/>
            </a:avLst>
          </a:prstGeom>
          <a:solidFill>
            <a:srgbClr val="D8D4D4"/>
          </a:solidFill>
          <a:ln/>
        </p:spPr>
      </p:sp>
      <p:pic>
        <p:nvPicPr>
          <p:cNvPr id="19" name="Image 3" descr="preencoded.png">    </p:cNvPr>
          <p:cNvPicPr>
            <a:picLocks noChangeAspect="1"/>
          </p:cNvPicPr>
          <p:nvPr/>
        </p:nvPicPr>
        <p:blipFill>
          <a:blip r:embed="rId4"/>
          <a:stretch>
            <a:fillRect/>
          </a:stretch>
        </p:blipFill>
        <p:spPr>
          <a:xfrm>
            <a:off x="728424" y="5618083"/>
            <a:ext cx="6553557" cy="1096923"/>
          </a:xfrm>
          <a:prstGeom prst="rect">
            <a:avLst/>
          </a:prstGeom>
        </p:spPr>
      </p:pic>
      <p:sp>
        <p:nvSpPr>
          <p:cNvPr id="20" name="Text 14"/>
          <p:cNvSpPr/>
          <p:nvPr/>
        </p:nvSpPr>
        <p:spPr>
          <a:xfrm>
            <a:off x="3865483" y="5991939"/>
            <a:ext cx="279440" cy="349210"/>
          </a:xfrm>
          <a:prstGeom prst="rect">
            <a:avLst/>
          </a:prstGeom>
          <a:noFill/>
          <a:ln/>
        </p:spPr>
        <p:txBody>
          <a:bodyPr wrap="none" lIns="0" tIns="0" rIns="0" bIns="0" rtlCol="0" anchor="t"/>
          <a:lstStyle/>
          <a:p>
            <a:pPr algn="ctr" indent="0" marL="0">
              <a:lnSpc>
                <a:spcPts val="3300"/>
              </a:lnSpc>
              <a:buNone/>
            </a:pPr>
            <a:r>
              <a:rPr lang="en-US" sz="2200" b="1" dirty="0">
                <a:solidFill>
                  <a:srgbClr val="3D3838"/>
                </a:solidFill>
                <a:latin typeface="Montserrat Bold" pitchFamily="34" charset="0"/>
                <a:ea typeface="Montserrat Bold" pitchFamily="34" charset="-122"/>
                <a:cs typeface="Montserrat Bold" pitchFamily="34" charset="-120"/>
              </a:rPr>
              <a:t>4</a:t>
            </a:r>
            <a:endParaRPr lang="en-US" sz="2200" dirty="0"/>
          </a:p>
        </p:txBody>
      </p:sp>
      <p:sp>
        <p:nvSpPr>
          <p:cNvPr id="21" name="Text 15"/>
          <p:cNvSpPr/>
          <p:nvPr/>
        </p:nvSpPr>
        <p:spPr>
          <a:xfrm>
            <a:off x="7480697" y="5816798"/>
            <a:ext cx="1529001" cy="282297"/>
          </a:xfrm>
          <a:prstGeom prst="rect">
            <a:avLst/>
          </a:prstGeom>
          <a:noFill/>
          <a:ln/>
        </p:spPr>
        <p:txBody>
          <a:bodyPr wrap="none" lIns="0" tIns="0" rIns="0" bIns="0" rtlCol="0" anchor="t"/>
          <a:lstStyle/>
          <a:p>
            <a:pPr algn="l" indent="0" marL="0">
              <a:lnSpc>
                <a:spcPts val="2200"/>
              </a:lnSpc>
              <a:buNone/>
            </a:pPr>
            <a:r>
              <a:rPr lang="en-US" sz="1750" b="1" dirty="0">
                <a:solidFill>
                  <a:srgbClr val="3D3838"/>
                </a:solidFill>
                <a:latin typeface="Montserrat Bold" pitchFamily="34" charset="0"/>
                <a:ea typeface="Montserrat Bold" pitchFamily="34" charset="-122"/>
                <a:cs typeface="Montserrat Bold" pitchFamily="34" charset="-120"/>
              </a:rPr>
              <a:t>Month &gt; 8.5</a:t>
            </a:r>
            <a:endParaRPr lang="en-US" sz="1750" dirty="0"/>
          </a:p>
        </p:txBody>
      </p:sp>
      <p:sp>
        <p:nvSpPr>
          <p:cNvPr id="22" name="Text 16"/>
          <p:cNvSpPr/>
          <p:nvPr/>
        </p:nvSpPr>
        <p:spPr>
          <a:xfrm>
            <a:off x="7480697" y="6218277"/>
            <a:ext cx="1529001" cy="298013"/>
          </a:xfrm>
          <a:prstGeom prst="rect">
            <a:avLst/>
          </a:prstGeom>
          <a:noFill/>
          <a:ln/>
        </p:spPr>
        <p:txBody>
          <a:bodyPr wrap="non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Autumn (Sep-Nov)</a:t>
            </a:r>
            <a:endParaRPr lang="en-US" sz="1550" dirty="0"/>
          </a:p>
        </p:txBody>
      </p:sp>
      <p:sp>
        <p:nvSpPr>
          <p:cNvPr id="23" name="Text 17"/>
          <p:cNvSpPr/>
          <p:nvPr/>
        </p:nvSpPr>
        <p:spPr>
          <a:xfrm>
            <a:off x="695444" y="6938486"/>
            <a:ext cx="13239512" cy="596027"/>
          </a:xfrm>
          <a:prstGeom prst="rect">
            <a:avLst/>
          </a:prstGeom>
          <a:noFill/>
          <a:ln/>
        </p:spPr>
        <p:txBody>
          <a:bodyPr wrap="square" lIns="0" tIns="0" rIns="0" bIns="0" rtlCol="0" anchor="t"/>
          <a:lstStyle/>
          <a:p>
            <a:pPr algn="l" indent="0" marL="0">
              <a:lnSpc>
                <a:spcPts val="2300"/>
              </a:lnSpc>
              <a:buNone/>
            </a:pPr>
            <a:r>
              <a:rPr lang="en-US" sz="1550" dirty="0">
                <a:solidFill>
                  <a:srgbClr val="3D3838"/>
                </a:solidFill>
                <a:latin typeface="Source Sans 3" pitchFamily="34" charset="0"/>
                <a:ea typeface="Source Sans 3" pitchFamily="34" charset="-122"/>
                <a:cs typeface="Source Sans 3" pitchFamily="34" charset="-120"/>
              </a:rPr>
              <a:t>The tree structure reveals that month alone sufficiently determines season with perfect accuracy, though additional features (demand, price) were available. This demonstrates the deterministic relationship between calendar month and meteorological season.</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63798" y="1770936"/>
            <a:ext cx="8417004"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Understanding Gini Impurity</a:t>
            </a:r>
            <a:endParaRPr lang="en-US" sz="4400" dirty="0"/>
          </a:p>
        </p:txBody>
      </p:sp>
      <p:sp>
        <p:nvSpPr>
          <p:cNvPr id="3" name="Text 1"/>
          <p:cNvSpPr/>
          <p:nvPr/>
        </p:nvSpPr>
        <p:spPr>
          <a:xfrm>
            <a:off x="863798" y="3089196"/>
            <a:ext cx="3525917" cy="420648"/>
          </a:xfrm>
          <a:prstGeom prst="rect">
            <a:avLst/>
          </a:prstGeom>
          <a:noFill/>
          <a:ln/>
        </p:spPr>
        <p:txBody>
          <a:bodyPr wrap="none" lIns="0" tIns="0" rIns="0" bIns="0" rtlCol="0" anchor="t"/>
          <a:lstStyle/>
          <a:p>
            <a:pPr algn="l" indent="0" marL="0">
              <a:lnSpc>
                <a:spcPts val="3300"/>
              </a:lnSpc>
              <a:buNone/>
            </a:pPr>
            <a:r>
              <a:rPr lang="en-US" sz="2650" b="1" dirty="0">
                <a:solidFill>
                  <a:srgbClr val="000000"/>
                </a:solidFill>
                <a:latin typeface="Montserrat Bold" pitchFamily="34" charset="0"/>
                <a:ea typeface="Montserrat Bold" pitchFamily="34" charset="-122"/>
                <a:cs typeface="Montserrat Bold" pitchFamily="34" charset="-120"/>
              </a:rPr>
              <a:t>Technical Definition</a:t>
            </a:r>
            <a:endParaRPr lang="en-US" sz="2650" dirty="0"/>
          </a:p>
        </p:txBody>
      </p:sp>
      <p:sp>
        <p:nvSpPr>
          <p:cNvPr id="4" name="Text 2"/>
          <p:cNvSpPr/>
          <p:nvPr/>
        </p:nvSpPr>
        <p:spPr>
          <a:xfrm>
            <a:off x="863798" y="3756660"/>
            <a:ext cx="6150293"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Gini impurity measures node purity in classification trees, ranging from 0 (pure) to 0.5 (maximum impurity for binary classification).</a:t>
            </a:r>
            <a:endParaRPr lang="en-US" sz="1900" dirty="0"/>
          </a:p>
        </p:txBody>
      </p:sp>
      <p:sp>
        <p:nvSpPr>
          <p:cNvPr id="5" name="Text 3"/>
          <p:cNvSpPr/>
          <p:nvPr/>
        </p:nvSpPr>
        <p:spPr>
          <a:xfrm>
            <a:off x="863798" y="5089208"/>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Gini = 0: All samples belong to one class</a:t>
            </a:r>
            <a:endParaRPr lang="en-US" sz="1900" dirty="0"/>
          </a:p>
        </p:txBody>
      </p:sp>
      <p:sp>
        <p:nvSpPr>
          <p:cNvPr id="6" name="Text 4"/>
          <p:cNvSpPr/>
          <p:nvPr/>
        </p:nvSpPr>
        <p:spPr>
          <a:xfrm>
            <a:off x="863798" y="5545693"/>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Higher Gini: Mixed class distribution</a:t>
            </a:r>
            <a:endParaRPr lang="en-US" sz="1900" dirty="0"/>
          </a:p>
        </p:txBody>
      </p:sp>
      <p:sp>
        <p:nvSpPr>
          <p:cNvPr id="7" name="Text 5"/>
          <p:cNvSpPr/>
          <p:nvPr/>
        </p:nvSpPr>
        <p:spPr>
          <a:xfrm>
            <a:off x="863798" y="6002179"/>
            <a:ext cx="6150293" cy="370165"/>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3D3838"/>
                </a:solidFill>
                <a:latin typeface="Source Sans 3" pitchFamily="34" charset="0"/>
                <a:ea typeface="Source Sans 3" pitchFamily="34" charset="-122"/>
                <a:cs typeface="Source Sans 3" pitchFamily="34" charset="-120"/>
              </a:rPr>
              <a:t>Decision trees minimize Gini at each split</a:t>
            </a:r>
            <a:endParaRPr lang="en-US" sz="1900" dirty="0"/>
          </a:p>
        </p:txBody>
      </p:sp>
      <p:sp>
        <p:nvSpPr>
          <p:cNvPr id="8" name="Text 6"/>
          <p:cNvSpPr/>
          <p:nvPr/>
        </p:nvSpPr>
        <p:spPr>
          <a:xfrm>
            <a:off x="7623929" y="3089196"/>
            <a:ext cx="3571756" cy="420648"/>
          </a:xfrm>
          <a:prstGeom prst="rect">
            <a:avLst/>
          </a:prstGeom>
          <a:noFill/>
          <a:ln/>
        </p:spPr>
        <p:txBody>
          <a:bodyPr wrap="none" lIns="0" tIns="0" rIns="0" bIns="0" rtlCol="0" anchor="t"/>
          <a:lstStyle/>
          <a:p>
            <a:pPr algn="l" indent="0" marL="0">
              <a:lnSpc>
                <a:spcPts val="3300"/>
              </a:lnSpc>
              <a:buNone/>
            </a:pPr>
            <a:r>
              <a:rPr lang="en-US" sz="2650" b="1" dirty="0">
                <a:solidFill>
                  <a:srgbClr val="000000"/>
                </a:solidFill>
                <a:latin typeface="Montserrat Bold" pitchFamily="34" charset="0"/>
                <a:ea typeface="Montserrat Bold" pitchFamily="34" charset="-122"/>
                <a:cs typeface="Montserrat Bold" pitchFamily="34" charset="-120"/>
              </a:rPr>
              <a:t>Cricket Ball Analogy</a:t>
            </a:r>
            <a:endParaRPr lang="en-US" sz="2650" dirty="0"/>
          </a:p>
        </p:txBody>
      </p:sp>
      <p:sp>
        <p:nvSpPr>
          <p:cNvPr id="9" name="Text 7"/>
          <p:cNvSpPr/>
          <p:nvPr/>
        </p:nvSpPr>
        <p:spPr>
          <a:xfrm>
            <a:off x="7623929" y="3756660"/>
            <a:ext cx="6150293"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Imagine sorting cricket balls by color into boxes. A box with only red balls has Gini = 0 (perfect). A box with equal red and white balls has high Gini (impure).</a:t>
            </a:r>
            <a:endParaRPr lang="en-US" sz="1900" dirty="0"/>
          </a:p>
        </p:txBody>
      </p:sp>
      <p:sp>
        <p:nvSpPr>
          <p:cNvPr id="10" name="Text 8"/>
          <p:cNvSpPr/>
          <p:nvPr/>
        </p:nvSpPr>
        <p:spPr>
          <a:xfrm>
            <a:off x="7623929" y="5089208"/>
            <a:ext cx="6150293"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The decision tree asks questions like "Is the ball red?" to create progressively purer boxes until each contains only one color (class).</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63798" y="1278255"/>
            <a:ext cx="7829193"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Grid Availability Prediction</a:t>
            </a:r>
            <a:endParaRPr lang="en-US" sz="4400" dirty="0"/>
          </a:p>
        </p:txBody>
      </p:sp>
      <p:sp>
        <p:nvSpPr>
          <p:cNvPr id="3" name="Text 1"/>
          <p:cNvSpPr/>
          <p:nvPr/>
        </p:nvSpPr>
        <p:spPr>
          <a:xfrm>
            <a:off x="863798" y="2473166"/>
            <a:ext cx="12902803"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Decision tree classifier predicts grid availability status using electricity price, hour, month, and grid stability index, achieving 95% accuracy.</a:t>
            </a:r>
            <a:endParaRPr lang="en-US" sz="1900" dirty="0"/>
          </a:p>
        </p:txBody>
      </p:sp>
      <p:pic>
        <p:nvPicPr>
          <p:cNvPr id="4" name="Image 0" descr="preencoded.png">    </p:cNvPr>
          <p:cNvPicPr>
            <a:picLocks noChangeAspect="1"/>
          </p:cNvPicPr>
          <p:nvPr/>
        </p:nvPicPr>
        <p:blipFill>
          <a:blip r:embed="rId1"/>
          <a:stretch>
            <a:fillRect/>
          </a:stretch>
        </p:blipFill>
        <p:spPr>
          <a:xfrm>
            <a:off x="863798" y="3491151"/>
            <a:ext cx="4300895" cy="987266"/>
          </a:xfrm>
          <a:prstGeom prst="rect">
            <a:avLst/>
          </a:prstGeom>
        </p:spPr>
      </p:pic>
      <p:sp>
        <p:nvSpPr>
          <p:cNvPr id="5" name="Text 2"/>
          <p:cNvSpPr/>
          <p:nvPr/>
        </p:nvSpPr>
        <p:spPr>
          <a:xfrm>
            <a:off x="1110615" y="4725233"/>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Primary Feature</a:t>
            </a:r>
            <a:endParaRPr lang="en-US" sz="2200" dirty="0"/>
          </a:p>
        </p:txBody>
      </p:sp>
      <p:sp>
        <p:nvSpPr>
          <p:cNvPr id="6" name="Text 3"/>
          <p:cNvSpPr/>
          <p:nvPr/>
        </p:nvSpPr>
        <p:spPr>
          <a:xfrm>
            <a:off x="1110615" y="5223867"/>
            <a:ext cx="3807262" cy="1110496"/>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Electricity price ($/kWh) provides the first split. Price ≤ 0.191 strongly indicates grid availability.</a:t>
            </a:r>
            <a:endParaRPr lang="en-US" sz="1900" dirty="0"/>
          </a:p>
        </p:txBody>
      </p:sp>
      <p:pic>
        <p:nvPicPr>
          <p:cNvPr id="7" name="Image 1" descr="preencoded.png">    </p:cNvPr>
          <p:cNvPicPr>
            <a:picLocks noChangeAspect="1"/>
          </p:cNvPicPr>
          <p:nvPr/>
        </p:nvPicPr>
        <p:blipFill>
          <a:blip r:embed="rId2"/>
          <a:stretch>
            <a:fillRect/>
          </a:stretch>
        </p:blipFill>
        <p:spPr>
          <a:xfrm>
            <a:off x="5164693" y="3491151"/>
            <a:ext cx="4300895" cy="987266"/>
          </a:xfrm>
          <a:prstGeom prst="rect">
            <a:avLst/>
          </a:prstGeom>
        </p:spPr>
      </p:pic>
      <p:sp>
        <p:nvSpPr>
          <p:cNvPr id="8" name="Text 4"/>
          <p:cNvSpPr/>
          <p:nvPr/>
        </p:nvSpPr>
        <p:spPr>
          <a:xfrm>
            <a:off x="5411510" y="4725233"/>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Secondary Feature</a:t>
            </a:r>
            <a:endParaRPr lang="en-US" sz="2200" dirty="0"/>
          </a:p>
        </p:txBody>
      </p:sp>
      <p:sp>
        <p:nvSpPr>
          <p:cNvPr id="9" name="Text 5"/>
          <p:cNvSpPr/>
          <p:nvPr/>
        </p:nvSpPr>
        <p:spPr>
          <a:xfrm>
            <a:off x="5411510" y="5223867"/>
            <a:ext cx="3807262" cy="148066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Grid stability index refines predictions. Higher stability (&gt;0.516) confirms availability when price is low.</a:t>
            </a:r>
            <a:endParaRPr lang="en-US" sz="1900" dirty="0"/>
          </a:p>
        </p:txBody>
      </p:sp>
      <p:pic>
        <p:nvPicPr>
          <p:cNvPr id="10" name="Image 2" descr="preencoded.png">    </p:cNvPr>
          <p:cNvPicPr>
            <a:picLocks noChangeAspect="1"/>
          </p:cNvPicPr>
          <p:nvPr/>
        </p:nvPicPr>
        <p:blipFill>
          <a:blip r:embed="rId3"/>
          <a:stretch>
            <a:fillRect/>
          </a:stretch>
        </p:blipFill>
        <p:spPr>
          <a:xfrm>
            <a:off x="9465588" y="3491151"/>
            <a:ext cx="4301014" cy="987266"/>
          </a:xfrm>
          <a:prstGeom prst="rect">
            <a:avLst/>
          </a:prstGeom>
        </p:spPr>
      </p:pic>
      <p:sp>
        <p:nvSpPr>
          <p:cNvPr id="11" name="Text 6"/>
          <p:cNvSpPr/>
          <p:nvPr/>
        </p:nvSpPr>
        <p:spPr>
          <a:xfrm>
            <a:off x="9712404" y="4725233"/>
            <a:ext cx="2804874" cy="350639"/>
          </a:xfrm>
          <a:prstGeom prst="rect">
            <a:avLst/>
          </a:prstGeom>
          <a:noFill/>
          <a:ln/>
        </p:spPr>
        <p:txBody>
          <a:bodyPr wrap="none" lIns="0" tIns="0" rIns="0" bIns="0" rtlCol="0" anchor="t"/>
          <a:lstStyle/>
          <a:p>
            <a:pPr algn="l" indent="0" marL="0">
              <a:lnSpc>
                <a:spcPts val="2750"/>
              </a:lnSpc>
              <a:buNone/>
            </a:pPr>
            <a:r>
              <a:rPr lang="en-US" sz="2200" b="1" dirty="0">
                <a:solidFill>
                  <a:srgbClr val="3D3838"/>
                </a:solidFill>
                <a:latin typeface="Montserrat Bold" pitchFamily="34" charset="0"/>
                <a:ea typeface="Montserrat Bold" pitchFamily="34" charset="-122"/>
                <a:cs typeface="Montserrat Bold" pitchFamily="34" charset="-120"/>
              </a:rPr>
              <a:t>Temporal Factors</a:t>
            </a:r>
            <a:endParaRPr lang="en-US" sz="2200" dirty="0"/>
          </a:p>
        </p:txBody>
      </p:sp>
      <p:sp>
        <p:nvSpPr>
          <p:cNvPr id="12" name="Text 7"/>
          <p:cNvSpPr/>
          <p:nvPr/>
        </p:nvSpPr>
        <p:spPr>
          <a:xfrm>
            <a:off x="9712404" y="5223867"/>
            <a:ext cx="3807381" cy="148066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Hour and month provide final classification refinement for borderline cases with mixed indicators.</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63798" y="1215985"/>
            <a:ext cx="9086731"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Grid Availability Decision Rules</a:t>
            </a:r>
            <a:endParaRPr lang="en-US" sz="4400" dirty="0"/>
          </a:p>
        </p:txBody>
      </p:sp>
      <p:sp>
        <p:nvSpPr>
          <p:cNvPr id="3" name="Text 1"/>
          <p:cNvSpPr/>
          <p:nvPr/>
        </p:nvSpPr>
        <p:spPr>
          <a:xfrm>
            <a:off x="863798" y="2410897"/>
            <a:ext cx="12902803"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The decision tree reveals critical thresholds that determine grid availability status through interpretable if-then rules.</a:t>
            </a:r>
            <a:endParaRPr lang="en-US" sz="1900" dirty="0"/>
          </a:p>
        </p:txBody>
      </p:sp>
      <p:sp>
        <p:nvSpPr>
          <p:cNvPr id="4" name="Shape 2"/>
          <p:cNvSpPr/>
          <p:nvPr/>
        </p:nvSpPr>
        <p:spPr>
          <a:xfrm>
            <a:off x="863798" y="3058716"/>
            <a:ext cx="555308" cy="555308"/>
          </a:xfrm>
          <a:prstGeom prst="roundRect">
            <a:avLst>
              <a:gd name="adj" fmla="val 6667"/>
            </a:avLst>
          </a:prstGeom>
          <a:solidFill>
            <a:srgbClr val="F2EEEE"/>
          </a:solidFill>
          <a:ln/>
        </p:spPr>
      </p:sp>
      <p:sp>
        <p:nvSpPr>
          <p:cNvPr id="5" name="Text 3"/>
          <p:cNvSpPr/>
          <p:nvPr/>
        </p:nvSpPr>
        <p:spPr>
          <a:xfrm>
            <a:off x="1665923" y="3104912"/>
            <a:ext cx="3293150" cy="1261943"/>
          </a:xfrm>
          <a:prstGeom prst="rect">
            <a:avLst/>
          </a:prstGeom>
          <a:noFill/>
          <a:ln/>
        </p:spPr>
        <p:txBody>
          <a:bodyPr wrap="square" lIns="0" tIns="0" rIns="0" bIns="0" rtlCol="0" anchor="t"/>
          <a:lstStyle/>
          <a:p>
            <a:pPr algn="l" indent="0" marL="0">
              <a:lnSpc>
                <a:spcPts val="3300"/>
              </a:lnSpc>
              <a:buNone/>
            </a:pPr>
            <a:r>
              <a:rPr lang="en-US" sz="2650" b="1" dirty="0">
                <a:solidFill>
                  <a:srgbClr val="3D3838"/>
                </a:solidFill>
                <a:latin typeface="Montserrat Bold" pitchFamily="34" charset="0"/>
                <a:ea typeface="Montserrat Bold" pitchFamily="34" charset="-122"/>
                <a:cs typeface="Montserrat Bold" pitchFamily="34" charset="-120"/>
              </a:rPr>
              <a:t>Low Price + High Stability = Available</a:t>
            </a:r>
            <a:endParaRPr lang="en-US" sz="2650" dirty="0"/>
          </a:p>
        </p:txBody>
      </p:sp>
      <p:sp>
        <p:nvSpPr>
          <p:cNvPr id="6" name="Text 4"/>
          <p:cNvSpPr/>
          <p:nvPr/>
        </p:nvSpPr>
        <p:spPr>
          <a:xfrm>
            <a:off x="1665923" y="4514850"/>
            <a:ext cx="3293150" cy="1850827"/>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When electricity price ≤ $0.191/kWh and grid stability index &gt; 0.516, the grid is reliably available. This represents optimal operating conditions.</a:t>
            </a:r>
            <a:endParaRPr lang="en-US" sz="1900" dirty="0"/>
          </a:p>
        </p:txBody>
      </p:sp>
      <p:sp>
        <p:nvSpPr>
          <p:cNvPr id="7" name="Shape 5"/>
          <p:cNvSpPr/>
          <p:nvPr/>
        </p:nvSpPr>
        <p:spPr>
          <a:xfrm>
            <a:off x="5267563" y="3058716"/>
            <a:ext cx="555308" cy="555308"/>
          </a:xfrm>
          <a:prstGeom prst="roundRect">
            <a:avLst>
              <a:gd name="adj" fmla="val 6667"/>
            </a:avLst>
          </a:prstGeom>
          <a:solidFill>
            <a:srgbClr val="F2EEEE"/>
          </a:solidFill>
          <a:ln/>
        </p:spPr>
      </p:sp>
      <p:sp>
        <p:nvSpPr>
          <p:cNvPr id="8" name="Text 6"/>
          <p:cNvSpPr/>
          <p:nvPr/>
        </p:nvSpPr>
        <p:spPr>
          <a:xfrm>
            <a:off x="6069687" y="3104912"/>
            <a:ext cx="3293150" cy="841296"/>
          </a:xfrm>
          <a:prstGeom prst="rect">
            <a:avLst/>
          </a:prstGeom>
          <a:noFill/>
          <a:ln/>
        </p:spPr>
        <p:txBody>
          <a:bodyPr wrap="square" lIns="0" tIns="0" rIns="0" bIns="0" rtlCol="0" anchor="t"/>
          <a:lstStyle/>
          <a:p>
            <a:pPr algn="l" indent="0" marL="0">
              <a:lnSpc>
                <a:spcPts val="3300"/>
              </a:lnSpc>
              <a:buNone/>
            </a:pPr>
            <a:r>
              <a:rPr lang="en-US" sz="2650" b="1" dirty="0">
                <a:solidFill>
                  <a:srgbClr val="3D3838"/>
                </a:solidFill>
                <a:latin typeface="Montserrat Bold" pitchFamily="34" charset="0"/>
                <a:ea typeface="Montserrat Bold" pitchFamily="34" charset="-122"/>
                <a:cs typeface="Montserrat Bold" pitchFamily="34" charset="-120"/>
              </a:rPr>
              <a:t>High Price = Likely Unavailable</a:t>
            </a:r>
            <a:endParaRPr lang="en-US" sz="2650" dirty="0"/>
          </a:p>
        </p:txBody>
      </p:sp>
      <p:sp>
        <p:nvSpPr>
          <p:cNvPr id="9" name="Text 7"/>
          <p:cNvSpPr/>
          <p:nvPr/>
        </p:nvSpPr>
        <p:spPr>
          <a:xfrm>
            <a:off x="6069687" y="4094202"/>
            <a:ext cx="3293150" cy="148066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Prices exceeding $0.191/kWh indicate grid stress, increasing unavailability risk regardless of other factors.</a:t>
            </a:r>
            <a:endParaRPr lang="en-US" sz="1900" dirty="0"/>
          </a:p>
        </p:txBody>
      </p:sp>
      <p:sp>
        <p:nvSpPr>
          <p:cNvPr id="10" name="Shape 8"/>
          <p:cNvSpPr/>
          <p:nvPr/>
        </p:nvSpPr>
        <p:spPr>
          <a:xfrm>
            <a:off x="9671328" y="3058716"/>
            <a:ext cx="555308" cy="555308"/>
          </a:xfrm>
          <a:prstGeom prst="roundRect">
            <a:avLst>
              <a:gd name="adj" fmla="val 6667"/>
            </a:avLst>
          </a:prstGeom>
          <a:solidFill>
            <a:srgbClr val="F2EEEE"/>
          </a:solidFill>
          <a:ln/>
        </p:spPr>
      </p:sp>
      <p:sp>
        <p:nvSpPr>
          <p:cNvPr id="11" name="Text 9"/>
          <p:cNvSpPr/>
          <p:nvPr/>
        </p:nvSpPr>
        <p:spPr>
          <a:xfrm>
            <a:off x="10473452" y="3104912"/>
            <a:ext cx="3293150" cy="841296"/>
          </a:xfrm>
          <a:prstGeom prst="rect">
            <a:avLst/>
          </a:prstGeom>
          <a:noFill/>
          <a:ln/>
        </p:spPr>
        <p:txBody>
          <a:bodyPr wrap="square" lIns="0" tIns="0" rIns="0" bIns="0" rtlCol="0" anchor="t"/>
          <a:lstStyle/>
          <a:p>
            <a:pPr algn="l" indent="0" marL="0">
              <a:lnSpc>
                <a:spcPts val="3300"/>
              </a:lnSpc>
              <a:buNone/>
            </a:pPr>
            <a:r>
              <a:rPr lang="en-US" sz="2650" b="1" dirty="0">
                <a:solidFill>
                  <a:srgbClr val="3D3838"/>
                </a:solidFill>
                <a:latin typeface="Montserrat Bold" pitchFamily="34" charset="0"/>
                <a:ea typeface="Montserrat Bold" pitchFamily="34" charset="-122"/>
                <a:cs typeface="Montserrat Bold" pitchFamily="34" charset="-120"/>
              </a:rPr>
              <a:t>Temporal Edge Cases</a:t>
            </a:r>
            <a:endParaRPr lang="en-US" sz="2650" dirty="0"/>
          </a:p>
        </p:txBody>
      </p:sp>
      <p:sp>
        <p:nvSpPr>
          <p:cNvPr id="12" name="Text 10"/>
          <p:cNvSpPr/>
          <p:nvPr/>
        </p:nvSpPr>
        <p:spPr>
          <a:xfrm>
            <a:off x="10473452" y="4094202"/>
            <a:ext cx="3293150" cy="1850827"/>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Evening hours (&gt;17:30) and certain months (&gt;6.5) elevate unavailability risk when combined with borderline stability metrics.</a:t>
            </a:r>
            <a:endParaRPr lang="en-US" sz="1900" dirty="0"/>
          </a:p>
        </p:txBody>
      </p:sp>
      <p:sp>
        <p:nvSpPr>
          <p:cNvPr id="13" name="Text 11"/>
          <p:cNvSpPr/>
          <p:nvPr/>
        </p:nvSpPr>
        <p:spPr>
          <a:xfrm>
            <a:off x="863798" y="6643330"/>
            <a:ext cx="12902803"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These rules enable proactive grid management by identifying high-risk conditions before outages occur.</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863798" y="763786"/>
            <a:ext cx="8515112"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Model Comparison Summary</a:t>
            </a:r>
            <a:endParaRPr lang="en-US" sz="4400" dirty="0"/>
          </a:p>
        </p:txBody>
      </p:sp>
      <p:sp>
        <p:nvSpPr>
          <p:cNvPr id="3" name="Shape 1"/>
          <p:cNvSpPr/>
          <p:nvPr/>
        </p:nvSpPr>
        <p:spPr>
          <a:xfrm>
            <a:off x="863798" y="1958697"/>
            <a:ext cx="12902803" cy="4489013"/>
          </a:xfrm>
          <a:prstGeom prst="roundRect">
            <a:avLst>
              <a:gd name="adj" fmla="val 825"/>
            </a:avLst>
          </a:prstGeom>
          <a:noFill/>
          <a:ln w="15240">
            <a:solidFill>
              <a:srgbClr val="000000">
                <a:alpha val="8000"/>
              </a:srgbClr>
            </a:solidFill>
            <a:prstDash val="solid"/>
          </a:ln>
        </p:spPr>
      </p:sp>
      <p:sp>
        <p:nvSpPr>
          <p:cNvPr id="4" name="Shape 2"/>
          <p:cNvSpPr/>
          <p:nvPr/>
        </p:nvSpPr>
        <p:spPr>
          <a:xfrm>
            <a:off x="879038" y="1973937"/>
            <a:ext cx="12872323" cy="681395"/>
          </a:xfrm>
          <a:prstGeom prst="rect">
            <a:avLst/>
          </a:prstGeom>
          <a:solidFill>
            <a:srgbClr val="FFFFFF">
              <a:alpha val="4000"/>
            </a:srgbClr>
          </a:solidFill>
          <a:ln/>
        </p:spPr>
      </p:sp>
      <p:sp>
        <p:nvSpPr>
          <p:cNvPr id="5" name="Text 3"/>
          <p:cNvSpPr/>
          <p:nvPr/>
        </p:nvSpPr>
        <p:spPr>
          <a:xfrm>
            <a:off x="1126093" y="2129552"/>
            <a:ext cx="2720578"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Model</a:t>
            </a:r>
            <a:endParaRPr lang="en-US" sz="1900" dirty="0"/>
          </a:p>
        </p:txBody>
      </p:sp>
      <p:sp>
        <p:nvSpPr>
          <p:cNvPr id="6" name="Text 4"/>
          <p:cNvSpPr/>
          <p:nvPr/>
        </p:nvSpPr>
        <p:spPr>
          <a:xfrm>
            <a:off x="4347924" y="2129552"/>
            <a:ext cx="2716768"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Task</a:t>
            </a:r>
            <a:endParaRPr lang="en-US" sz="1900" dirty="0"/>
          </a:p>
        </p:txBody>
      </p:sp>
      <p:sp>
        <p:nvSpPr>
          <p:cNvPr id="7" name="Text 5"/>
          <p:cNvSpPr/>
          <p:nvPr/>
        </p:nvSpPr>
        <p:spPr>
          <a:xfrm>
            <a:off x="7565946" y="2129552"/>
            <a:ext cx="2716768"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Accuracy/R²</a:t>
            </a:r>
            <a:endParaRPr lang="en-US" sz="1900" dirty="0"/>
          </a:p>
        </p:txBody>
      </p:sp>
      <p:sp>
        <p:nvSpPr>
          <p:cNvPr id="8" name="Text 6"/>
          <p:cNvSpPr/>
          <p:nvPr/>
        </p:nvSpPr>
        <p:spPr>
          <a:xfrm>
            <a:off x="10783967" y="2129552"/>
            <a:ext cx="2720578" cy="370165"/>
          </a:xfrm>
          <a:prstGeom prst="rect">
            <a:avLst/>
          </a:prstGeom>
          <a:noFill/>
          <a:ln/>
        </p:spPr>
        <p:txBody>
          <a:bodyPr wrap="none" lIns="0" tIns="0" rIns="0" bIns="0" rtlCol="0" anchor="t"/>
          <a:lstStyle/>
          <a:p>
            <a:pPr algn="l" indent="0" marL="0">
              <a:lnSpc>
                <a:spcPts val="2900"/>
              </a:lnSpc>
              <a:buNone/>
            </a:pPr>
            <a:r>
              <a:rPr lang="en-US" sz="1900" b="1" dirty="0">
                <a:solidFill>
                  <a:srgbClr val="3D3838"/>
                </a:solidFill>
                <a:latin typeface="Source Sans 3" pitchFamily="34" charset="0"/>
                <a:ea typeface="Source Sans 3" pitchFamily="34" charset="-122"/>
                <a:cs typeface="Source Sans 3" pitchFamily="34" charset="-120"/>
              </a:rPr>
              <a:t>Key Features</a:t>
            </a:r>
            <a:endParaRPr lang="en-US" sz="1900" dirty="0"/>
          </a:p>
        </p:txBody>
      </p:sp>
      <p:sp>
        <p:nvSpPr>
          <p:cNvPr id="9" name="Shape 7"/>
          <p:cNvSpPr/>
          <p:nvPr/>
        </p:nvSpPr>
        <p:spPr>
          <a:xfrm>
            <a:off x="879038" y="2655332"/>
            <a:ext cx="12872323" cy="1051560"/>
          </a:xfrm>
          <a:prstGeom prst="rect">
            <a:avLst/>
          </a:prstGeom>
          <a:solidFill>
            <a:srgbClr val="000000">
              <a:alpha val="4000"/>
            </a:srgbClr>
          </a:solidFill>
          <a:ln/>
        </p:spPr>
      </p:sp>
      <p:sp>
        <p:nvSpPr>
          <p:cNvPr id="10" name="Text 8"/>
          <p:cNvSpPr/>
          <p:nvPr/>
        </p:nvSpPr>
        <p:spPr>
          <a:xfrm>
            <a:off x="1126093" y="2810947"/>
            <a:ext cx="272057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Neural Network</a:t>
            </a:r>
            <a:endParaRPr lang="en-US" sz="1900" dirty="0"/>
          </a:p>
        </p:txBody>
      </p:sp>
      <p:sp>
        <p:nvSpPr>
          <p:cNvPr id="11" name="Text 9"/>
          <p:cNvSpPr/>
          <p:nvPr/>
        </p:nvSpPr>
        <p:spPr>
          <a:xfrm>
            <a:off x="4347924" y="2810947"/>
            <a:ext cx="271676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Demand Prediction</a:t>
            </a:r>
            <a:endParaRPr lang="en-US" sz="1900" dirty="0"/>
          </a:p>
        </p:txBody>
      </p:sp>
      <p:sp>
        <p:nvSpPr>
          <p:cNvPr id="12" name="Text 10"/>
          <p:cNvSpPr/>
          <p:nvPr/>
        </p:nvSpPr>
        <p:spPr>
          <a:xfrm>
            <a:off x="7565946" y="2810947"/>
            <a:ext cx="271676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R² = 0.9978</a:t>
            </a:r>
            <a:endParaRPr lang="en-US" sz="1900" dirty="0"/>
          </a:p>
        </p:txBody>
      </p:sp>
      <p:sp>
        <p:nvSpPr>
          <p:cNvPr id="13" name="Text 11"/>
          <p:cNvSpPr/>
          <p:nvPr/>
        </p:nvSpPr>
        <p:spPr>
          <a:xfrm>
            <a:off x="10783967" y="2810947"/>
            <a:ext cx="2720578"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5 economic/environmental</a:t>
            </a:r>
            <a:endParaRPr lang="en-US" sz="1900" dirty="0"/>
          </a:p>
        </p:txBody>
      </p:sp>
      <p:sp>
        <p:nvSpPr>
          <p:cNvPr id="14" name="Shape 12"/>
          <p:cNvSpPr/>
          <p:nvPr/>
        </p:nvSpPr>
        <p:spPr>
          <a:xfrm>
            <a:off x="879038" y="3706892"/>
            <a:ext cx="12872323" cy="681395"/>
          </a:xfrm>
          <a:prstGeom prst="rect">
            <a:avLst/>
          </a:prstGeom>
          <a:solidFill>
            <a:srgbClr val="FFFFFF">
              <a:alpha val="4000"/>
            </a:srgbClr>
          </a:solidFill>
          <a:ln/>
        </p:spPr>
      </p:sp>
      <p:sp>
        <p:nvSpPr>
          <p:cNvPr id="15" name="Text 13"/>
          <p:cNvSpPr/>
          <p:nvPr/>
        </p:nvSpPr>
        <p:spPr>
          <a:xfrm>
            <a:off x="1126093" y="3862507"/>
            <a:ext cx="272057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Linear + SHAP</a:t>
            </a:r>
            <a:endParaRPr lang="en-US" sz="1900" dirty="0"/>
          </a:p>
        </p:txBody>
      </p:sp>
      <p:sp>
        <p:nvSpPr>
          <p:cNvPr id="16" name="Text 14"/>
          <p:cNvSpPr/>
          <p:nvPr/>
        </p:nvSpPr>
        <p:spPr>
          <a:xfrm>
            <a:off x="4347924" y="3862507"/>
            <a:ext cx="271676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Demand Interpretation</a:t>
            </a:r>
            <a:endParaRPr lang="en-US" sz="1900" dirty="0"/>
          </a:p>
        </p:txBody>
      </p:sp>
      <p:sp>
        <p:nvSpPr>
          <p:cNvPr id="17" name="Text 15"/>
          <p:cNvSpPr/>
          <p:nvPr/>
        </p:nvSpPr>
        <p:spPr>
          <a:xfrm>
            <a:off x="7565946" y="3862507"/>
            <a:ext cx="271676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R² = Variable</a:t>
            </a:r>
            <a:endParaRPr lang="en-US" sz="1900" dirty="0"/>
          </a:p>
        </p:txBody>
      </p:sp>
      <p:sp>
        <p:nvSpPr>
          <p:cNvPr id="18" name="Text 16"/>
          <p:cNvSpPr/>
          <p:nvPr/>
        </p:nvSpPr>
        <p:spPr>
          <a:xfrm>
            <a:off x="10783967" y="3862507"/>
            <a:ext cx="272057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31 features (full dataset)</a:t>
            </a:r>
            <a:endParaRPr lang="en-US" sz="1900" dirty="0"/>
          </a:p>
        </p:txBody>
      </p:sp>
      <p:sp>
        <p:nvSpPr>
          <p:cNvPr id="19" name="Shape 17"/>
          <p:cNvSpPr/>
          <p:nvPr/>
        </p:nvSpPr>
        <p:spPr>
          <a:xfrm>
            <a:off x="879038" y="4388287"/>
            <a:ext cx="12872323" cy="681395"/>
          </a:xfrm>
          <a:prstGeom prst="rect">
            <a:avLst/>
          </a:prstGeom>
          <a:solidFill>
            <a:srgbClr val="000000">
              <a:alpha val="4000"/>
            </a:srgbClr>
          </a:solidFill>
          <a:ln/>
        </p:spPr>
      </p:sp>
      <p:sp>
        <p:nvSpPr>
          <p:cNvPr id="20" name="Text 18"/>
          <p:cNvSpPr/>
          <p:nvPr/>
        </p:nvSpPr>
        <p:spPr>
          <a:xfrm>
            <a:off x="1126093" y="4543901"/>
            <a:ext cx="272057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Decision Tree</a:t>
            </a:r>
            <a:endParaRPr lang="en-US" sz="1900" dirty="0"/>
          </a:p>
        </p:txBody>
      </p:sp>
      <p:sp>
        <p:nvSpPr>
          <p:cNvPr id="21" name="Text 19"/>
          <p:cNvSpPr/>
          <p:nvPr/>
        </p:nvSpPr>
        <p:spPr>
          <a:xfrm>
            <a:off x="4347924" y="4543901"/>
            <a:ext cx="271676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Day Period</a:t>
            </a:r>
            <a:endParaRPr lang="en-US" sz="1900" dirty="0"/>
          </a:p>
        </p:txBody>
      </p:sp>
      <p:sp>
        <p:nvSpPr>
          <p:cNvPr id="22" name="Text 20"/>
          <p:cNvSpPr/>
          <p:nvPr/>
        </p:nvSpPr>
        <p:spPr>
          <a:xfrm>
            <a:off x="7565946" y="4543901"/>
            <a:ext cx="271676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100% accuracy</a:t>
            </a:r>
            <a:endParaRPr lang="en-US" sz="1900" dirty="0"/>
          </a:p>
        </p:txBody>
      </p:sp>
      <p:sp>
        <p:nvSpPr>
          <p:cNvPr id="23" name="Text 21"/>
          <p:cNvSpPr/>
          <p:nvPr/>
        </p:nvSpPr>
        <p:spPr>
          <a:xfrm>
            <a:off x="10783967" y="4543901"/>
            <a:ext cx="272057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Month, Hour</a:t>
            </a:r>
            <a:endParaRPr lang="en-US" sz="1900" dirty="0"/>
          </a:p>
        </p:txBody>
      </p:sp>
      <p:sp>
        <p:nvSpPr>
          <p:cNvPr id="24" name="Shape 22"/>
          <p:cNvSpPr/>
          <p:nvPr/>
        </p:nvSpPr>
        <p:spPr>
          <a:xfrm>
            <a:off x="879038" y="5069681"/>
            <a:ext cx="12872323" cy="681395"/>
          </a:xfrm>
          <a:prstGeom prst="rect">
            <a:avLst/>
          </a:prstGeom>
          <a:solidFill>
            <a:srgbClr val="FFFFFF">
              <a:alpha val="4000"/>
            </a:srgbClr>
          </a:solidFill>
          <a:ln/>
        </p:spPr>
      </p:sp>
      <p:sp>
        <p:nvSpPr>
          <p:cNvPr id="25" name="Text 23"/>
          <p:cNvSpPr/>
          <p:nvPr/>
        </p:nvSpPr>
        <p:spPr>
          <a:xfrm>
            <a:off x="1126093" y="5225296"/>
            <a:ext cx="272057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Decision Tree</a:t>
            </a:r>
            <a:endParaRPr lang="en-US" sz="1900" dirty="0"/>
          </a:p>
        </p:txBody>
      </p:sp>
      <p:sp>
        <p:nvSpPr>
          <p:cNvPr id="26" name="Text 24"/>
          <p:cNvSpPr/>
          <p:nvPr/>
        </p:nvSpPr>
        <p:spPr>
          <a:xfrm>
            <a:off x="4347924" y="5225296"/>
            <a:ext cx="271676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Season</a:t>
            </a:r>
            <a:endParaRPr lang="en-US" sz="1900" dirty="0"/>
          </a:p>
        </p:txBody>
      </p:sp>
      <p:sp>
        <p:nvSpPr>
          <p:cNvPr id="27" name="Text 25"/>
          <p:cNvSpPr/>
          <p:nvPr/>
        </p:nvSpPr>
        <p:spPr>
          <a:xfrm>
            <a:off x="7565946" y="5225296"/>
            <a:ext cx="271676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100% accuracy</a:t>
            </a:r>
            <a:endParaRPr lang="en-US" sz="1900" dirty="0"/>
          </a:p>
        </p:txBody>
      </p:sp>
      <p:sp>
        <p:nvSpPr>
          <p:cNvPr id="28" name="Text 26"/>
          <p:cNvSpPr/>
          <p:nvPr/>
        </p:nvSpPr>
        <p:spPr>
          <a:xfrm>
            <a:off x="10783967" y="5225296"/>
            <a:ext cx="272057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Month (primary)</a:t>
            </a:r>
            <a:endParaRPr lang="en-US" sz="1900" dirty="0"/>
          </a:p>
        </p:txBody>
      </p:sp>
      <p:sp>
        <p:nvSpPr>
          <p:cNvPr id="29" name="Shape 27"/>
          <p:cNvSpPr/>
          <p:nvPr/>
        </p:nvSpPr>
        <p:spPr>
          <a:xfrm>
            <a:off x="879038" y="5751076"/>
            <a:ext cx="12872323" cy="681395"/>
          </a:xfrm>
          <a:prstGeom prst="rect">
            <a:avLst/>
          </a:prstGeom>
          <a:solidFill>
            <a:srgbClr val="000000">
              <a:alpha val="4000"/>
            </a:srgbClr>
          </a:solidFill>
          <a:ln/>
        </p:spPr>
      </p:sp>
      <p:sp>
        <p:nvSpPr>
          <p:cNvPr id="30" name="Text 28"/>
          <p:cNvSpPr/>
          <p:nvPr/>
        </p:nvSpPr>
        <p:spPr>
          <a:xfrm>
            <a:off x="1126093" y="5906691"/>
            <a:ext cx="272057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Decision Tree</a:t>
            </a:r>
            <a:endParaRPr lang="en-US" sz="1900" dirty="0"/>
          </a:p>
        </p:txBody>
      </p:sp>
      <p:sp>
        <p:nvSpPr>
          <p:cNvPr id="31" name="Text 29"/>
          <p:cNvSpPr/>
          <p:nvPr/>
        </p:nvSpPr>
        <p:spPr>
          <a:xfrm>
            <a:off x="4347924" y="5906691"/>
            <a:ext cx="271676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Grid Availability</a:t>
            </a:r>
            <a:endParaRPr lang="en-US" sz="1900" dirty="0"/>
          </a:p>
        </p:txBody>
      </p:sp>
      <p:sp>
        <p:nvSpPr>
          <p:cNvPr id="32" name="Text 30"/>
          <p:cNvSpPr/>
          <p:nvPr/>
        </p:nvSpPr>
        <p:spPr>
          <a:xfrm>
            <a:off x="7565946" y="5906691"/>
            <a:ext cx="271676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95% accuracy</a:t>
            </a:r>
            <a:endParaRPr lang="en-US" sz="1900" dirty="0"/>
          </a:p>
        </p:txBody>
      </p:sp>
      <p:sp>
        <p:nvSpPr>
          <p:cNvPr id="33" name="Text 31"/>
          <p:cNvSpPr/>
          <p:nvPr/>
        </p:nvSpPr>
        <p:spPr>
          <a:xfrm>
            <a:off x="10783967" y="5906691"/>
            <a:ext cx="2720578" cy="370165"/>
          </a:xfrm>
          <a:prstGeom prst="rect">
            <a:avLst/>
          </a:prstGeom>
          <a:noFill/>
          <a:ln/>
        </p:spPr>
        <p:txBody>
          <a:bodyPr wrap="non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Price, Stability, Time</a:t>
            </a:r>
            <a:endParaRPr lang="en-US" sz="1900" dirty="0"/>
          </a:p>
        </p:txBody>
      </p:sp>
      <p:sp>
        <p:nvSpPr>
          <p:cNvPr id="34" name="Text 32"/>
          <p:cNvSpPr/>
          <p:nvPr/>
        </p:nvSpPr>
        <p:spPr>
          <a:xfrm>
            <a:off x="863798" y="6725364"/>
            <a:ext cx="12902803"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Each model serves distinct operational purposes: neural networks for precise forecasting, SHAP for transparency, and decision trees for rapid classification and rule extraction.</a:t>
            </a:r>
            <a:endParaRPr lang="en-US" sz="1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863798" y="931426"/>
            <a:ext cx="9420463" cy="701278"/>
          </a:xfrm>
          <a:prstGeom prst="rect">
            <a:avLst/>
          </a:prstGeom>
          <a:noFill/>
          <a:ln/>
        </p:spPr>
        <p:txBody>
          <a:bodyPr wrap="none" lIns="0" tIns="0" rIns="0" bIns="0" rtlCol="0" anchor="t"/>
          <a:lstStyle/>
          <a:p>
            <a:pPr algn="l" indent="0" marL="0">
              <a:lnSpc>
                <a:spcPts val="5500"/>
              </a:lnSpc>
              <a:buNone/>
            </a:pPr>
            <a:r>
              <a:rPr lang="en-US" sz="4400" b="1" dirty="0">
                <a:solidFill>
                  <a:srgbClr val="000000"/>
                </a:solidFill>
                <a:latin typeface="Montserrat Bold" pitchFamily="34" charset="0"/>
                <a:ea typeface="Montserrat Bold" pitchFamily="34" charset="-122"/>
                <a:cs typeface="Montserrat Bold" pitchFamily="34" charset="-120"/>
              </a:rPr>
              <a:t>Conclusions &amp; Future Directions</a:t>
            </a:r>
            <a:endParaRPr lang="en-US" sz="4400" dirty="0"/>
          </a:p>
        </p:txBody>
      </p:sp>
      <p:sp>
        <p:nvSpPr>
          <p:cNvPr id="3" name="Shape 1"/>
          <p:cNvSpPr/>
          <p:nvPr/>
        </p:nvSpPr>
        <p:spPr>
          <a:xfrm>
            <a:off x="863798" y="2126337"/>
            <a:ext cx="4136350" cy="3714393"/>
          </a:xfrm>
          <a:prstGeom prst="roundRect">
            <a:avLst>
              <a:gd name="adj" fmla="val 997"/>
            </a:avLst>
          </a:prstGeom>
          <a:solidFill>
            <a:srgbClr val="FFFFFF"/>
          </a:solidFill>
          <a:ln w="30480">
            <a:solidFill>
              <a:srgbClr val="D8D4D4"/>
            </a:solidFill>
            <a:prstDash val="solid"/>
          </a:ln>
        </p:spPr>
      </p:sp>
      <p:sp>
        <p:nvSpPr>
          <p:cNvPr id="4" name="Text 2"/>
          <p:cNvSpPr/>
          <p:nvPr/>
        </p:nvSpPr>
        <p:spPr>
          <a:xfrm>
            <a:off x="1141095" y="2403634"/>
            <a:ext cx="3365778" cy="420648"/>
          </a:xfrm>
          <a:prstGeom prst="rect">
            <a:avLst/>
          </a:prstGeom>
          <a:noFill/>
          <a:ln/>
        </p:spPr>
        <p:txBody>
          <a:bodyPr wrap="none" lIns="0" tIns="0" rIns="0" bIns="0" rtlCol="0" anchor="t"/>
          <a:lstStyle/>
          <a:p>
            <a:pPr algn="l" indent="0" marL="0">
              <a:lnSpc>
                <a:spcPts val="3300"/>
              </a:lnSpc>
              <a:buNone/>
            </a:pPr>
            <a:r>
              <a:rPr lang="en-US" sz="2650" b="1" dirty="0">
                <a:solidFill>
                  <a:srgbClr val="3D3838"/>
                </a:solidFill>
                <a:latin typeface="Montserrat Bold" pitchFamily="34" charset="0"/>
                <a:ea typeface="Montserrat Bold" pitchFamily="34" charset="-122"/>
                <a:cs typeface="Montserrat Bold" pitchFamily="34" charset="-120"/>
              </a:rPr>
              <a:t>Key Findings</a:t>
            </a:r>
            <a:endParaRPr lang="en-US" sz="2650" dirty="0"/>
          </a:p>
        </p:txBody>
      </p:sp>
      <p:sp>
        <p:nvSpPr>
          <p:cNvPr id="5" name="Text 3"/>
          <p:cNvSpPr/>
          <p:nvPr/>
        </p:nvSpPr>
        <p:spPr>
          <a:xfrm>
            <a:off x="1141095" y="2972276"/>
            <a:ext cx="3581757" cy="2591157"/>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Renewable energy usage and electricity pricing dominate demand patterns. Neural networks achieve near-perfect prediction accuracy. Temporal and grid stability factors enable reliable availability forecasting.</a:t>
            </a:r>
            <a:endParaRPr lang="en-US" sz="1900" dirty="0"/>
          </a:p>
        </p:txBody>
      </p:sp>
      <p:sp>
        <p:nvSpPr>
          <p:cNvPr id="6" name="Shape 4"/>
          <p:cNvSpPr/>
          <p:nvPr/>
        </p:nvSpPr>
        <p:spPr>
          <a:xfrm>
            <a:off x="5246965" y="2126337"/>
            <a:ext cx="4136350" cy="3714393"/>
          </a:xfrm>
          <a:prstGeom prst="roundRect">
            <a:avLst>
              <a:gd name="adj" fmla="val 997"/>
            </a:avLst>
          </a:prstGeom>
          <a:solidFill>
            <a:srgbClr val="FFFFFF"/>
          </a:solidFill>
          <a:ln w="30480">
            <a:solidFill>
              <a:srgbClr val="D8D4D4"/>
            </a:solidFill>
            <a:prstDash val="solid"/>
          </a:ln>
        </p:spPr>
      </p:sp>
      <p:sp>
        <p:nvSpPr>
          <p:cNvPr id="7" name="Text 5"/>
          <p:cNvSpPr/>
          <p:nvPr/>
        </p:nvSpPr>
        <p:spPr>
          <a:xfrm>
            <a:off x="5524262" y="2403634"/>
            <a:ext cx="3421975" cy="420648"/>
          </a:xfrm>
          <a:prstGeom prst="rect">
            <a:avLst/>
          </a:prstGeom>
          <a:noFill/>
          <a:ln/>
        </p:spPr>
        <p:txBody>
          <a:bodyPr wrap="none" lIns="0" tIns="0" rIns="0" bIns="0" rtlCol="0" anchor="t"/>
          <a:lstStyle/>
          <a:p>
            <a:pPr algn="l" indent="0" marL="0">
              <a:lnSpc>
                <a:spcPts val="3300"/>
              </a:lnSpc>
              <a:buNone/>
            </a:pPr>
            <a:r>
              <a:rPr lang="en-US" sz="2650" b="1" dirty="0">
                <a:solidFill>
                  <a:srgbClr val="3D3838"/>
                </a:solidFill>
                <a:latin typeface="Montserrat Bold" pitchFamily="34" charset="0"/>
                <a:ea typeface="Montserrat Bold" pitchFamily="34" charset="-122"/>
                <a:cs typeface="Montserrat Bold" pitchFamily="34" charset="-120"/>
              </a:rPr>
              <a:t>Operational Impact</a:t>
            </a:r>
            <a:endParaRPr lang="en-US" sz="2650" dirty="0"/>
          </a:p>
        </p:txBody>
      </p:sp>
      <p:sp>
        <p:nvSpPr>
          <p:cNvPr id="8" name="Text 6"/>
          <p:cNvSpPr/>
          <p:nvPr/>
        </p:nvSpPr>
        <p:spPr>
          <a:xfrm>
            <a:off x="5524262" y="2972276"/>
            <a:ext cx="3581757" cy="2591157"/>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Models enable proactive grid management, renewable integration optimization, and dynamic pricing strategies. Decision tree rules provide actionable thresholds for real-time operations.</a:t>
            </a:r>
            <a:endParaRPr lang="en-US" sz="1900" dirty="0"/>
          </a:p>
        </p:txBody>
      </p:sp>
      <p:sp>
        <p:nvSpPr>
          <p:cNvPr id="9" name="Shape 7"/>
          <p:cNvSpPr/>
          <p:nvPr/>
        </p:nvSpPr>
        <p:spPr>
          <a:xfrm>
            <a:off x="9630132" y="2126337"/>
            <a:ext cx="4136350" cy="3714393"/>
          </a:xfrm>
          <a:prstGeom prst="roundRect">
            <a:avLst>
              <a:gd name="adj" fmla="val 997"/>
            </a:avLst>
          </a:prstGeom>
          <a:solidFill>
            <a:srgbClr val="FFFFFF"/>
          </a:solidFill>
          <a:ln w="30480">
            <a:solidFill>
              <a:srgbClr val="D8D4D4"/>
            </a:solidFill>
            <a:prstDash val="solid"/>
          </a:ln>
        </p:spPr>
      </p:sp>
      <p:sp>
        <p:nvSpPr>
          <p:cNvPr id="10" name="Text 8"/>
          <p:cNvSpPr/>
          <p:nvPr/>
        </p:nvSpPr>
        <p:spPr>
          <a:xfrm>
            <a:off x="9907429" y="2403634"/>
            <a:ext cx="3365778" cy="420648"/>
          </a:xfrm>
          <a:prstGeom prst="rect">
            <a:avLst/>
          </a:prstGeom>
          <a:noFill/>
          <a:ln/>
        </p:spPr>
        <p:txBody>
          <a:bodyPr wrap="none" lIns="0" tIns="0" rIns="0" bIns="0" rtlCol="0" anchor="t"/>
          <a:lstStyle/>
          <a:p>
            <a:pPr algn="l" indent="0" marL="0">
              <a:lnSpc>
                <a:spcPts val="3300"/>
              </a:lnSpc>
              <a:buNone/>
            </a:pPr>
            <a:r>
              <a:rPr lang="en-US" sz="2650" b="1" dirty="0">
                <a:solidFill>
                  <a:srgbClr val="3D3838"/>
                </a:solidFill>
                <a:latin typeface="Montserrat Bold" pitchFamily="34" charset="0"/>
                <a:ea typeface="Montserrat Bold" pitchFamily="34" charset="-122"/>
                <a:cs typeface="Montserrat Bold" pitchFamily="34" charset="-120"/>
              </a:rPr>
              <a:t>Next Steps</a:t>
            </a:r>
            <a:endParaRPr lang="en-US" sz="2650" dirty="0"/>
          </a:p>
        </p:txBody>
      </p:sp>
      <p:sp>
        <p:nvSpPr>
          <p:cNvPr id="11" name="Text 9"/>
          <p:cNvSpPr/>
          <p:nvPr/>
        </p:nvSpPr>
        <p:spPr>
          <a:xfrm>
            <a:off x="9907429" y="2972276"/>
            <a:ext cx="3581757" cy="2591157"/>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Deploy models in pilot programs for demand response validation. Integrate weather forecasting for extended prediction horizons. Expand dataset to additional geographic regions and vehicle types.</a:t>
            </a:r>
            <a:endParaRPr lang="en-US" sz="1900" dirty="0"/>
          </a:p>
        </p:txBody>
      </p:sp>
      <p:sp>
        <p:nvSpPr>
          <p:cNvPr id="12" name="Shape 10"/>
          <p:cNvSpPr/>
          <p:nvPr/>
        </p:nvSpPr>
        <p:spPr>
          <a:xfrm>
            <a:off x="863798" y="6241766"/>
            <a:ext cx="12902803" cy="38457"/>
          </a:xfrm>
          <a:prstGeom prst="rect">
            <a:avLst/>
          </a:prstGeom>
          <a:solidFill>
            <a:srgbClr val="3D3838">
              <a:alpha val="50000"/>
            </a:srgbClr>
          </a:solidFill>
          <a:ln/>
        </p:spPr>
      </p:sp>
      <p:sp>
        <p:nvSpPr>
          <p:cNvPr id="13" name="Text 11"/>
          <p:cNvSpPr/>
          <p:nvPr/>
        </p:nvSpPr>
        <p:spPr>
          <a:xfrm>
            <a:off x="863798" y="6557843"/>
            <a:ext cx="12902803" cy="740331"/>
          </a:xfrm>
          <a:prstGeom prst="rect">
            <a:avLst/>
          </a:prstGeom>
          <a:noFill/>
          <a:ln/>
        </p:spPr>
        <p:txBody>
          <a:bodyPr wrap="square" lIns="0" tIns="0" rIns="0" bIns="0" rtlCol="0" anchor="t"/>
          <a:lstStyle/>
          <a:p>
            <a:pPr algn="l" indent="0" marL="0">
              <a:lnSpc>
                <a:spcPts val="2900"/>
              </a:lnSpc>
              <a:buNone/>
            </a:pPr>
            <a:r>
              <a:rPr lang="en-US" sz="1900" dirty="0">
                <a:solidFill>
                  <a:srgbClr val="3D3838"/>
                </a:solidFill>
                <a:latin typeface="Source Sans 3" pitchFamily="34" charset="0"/>
                <a:ea typeface="Source Sans 3" pitchFamily="34" charset="-122"/>
                <a:cs typeface="Source Sans 3" pitchFamily="34" charset="-120"/>
              </a:rPr>
              <a:t>This analysis demonstrates the power of combining interpretable and high-performance machine learning approaches to solve complex energy infrastructure challenges.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2025-12-28T13:00:15Z</dcterms:created>
  <dcterms:modified xsi:type="dcterms:W3CDTF">2025-12-28T13:00:15Z</dcterms:modified>
</cp:coreProperties>
</file>