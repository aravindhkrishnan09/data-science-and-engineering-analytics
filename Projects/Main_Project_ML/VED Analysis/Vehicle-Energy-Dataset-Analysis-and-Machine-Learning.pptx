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Montserrat"/>
      <p:regular r:id="rId27"/>
    </p:embeddedFont>
    <p:embeddedFont>
      <p:font typeface="Montserrat"/>
      <p:regular r:id="rId28"/>
    </p:embeddedFont>
    <p:embeddedFont>
      <p:font typeface="Montserrat"/>
      <p:regular r:id="rId29"/>
    </p:embeddedFont>
    <p:embeddedFont>
      <p:font typeface="Montserrat"/>
      <p:regular r:id="rId30"/>
    </p:embeddedFont>
    <p:embeddedFont>
      <p:font typeface="Source Sans 3"/>
      <p:regular r:id="rId31"/>
    </p:embeddedFont>
    <p:embeddedFont>
      <p:font typeface="Source Sans 3"/>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image" Target="../media/image-11-8.png"/><Relationship Id="rId9" Type="http://schemas.openxmlformats.org/officeDocument/2006/relationships/image" Target="../media/image-11-9.svg"/><Relationship Id="rId10" Type="http://schemas.openxmlformats.org/officeDocument/2006/relationships/slideLayout" Target="../slideLayouts/slideLayout1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5.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20.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2981563"/>
            <a:ext cx="12902803" cy="1402556"/>
          </a:xfrm>
          <a:prstGeom prst="rect">
            <a:avLst/>
          </a:prstGeom>
          <a:noFill/>
          <a:ln/>
        </p:spPr>
        <p:txBody>
          <a:bodyPr wrap="squar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Vehicle Energy Dataset Analysis &amp; Machine Learning</a:t>
            </a:r>
            <a:endParaRPr lang="en-US" sz="4400" dirty="0"/>
          </a:p>
        </p:txBody>
      </p:sp>
      <p:sp>
        <p:nvSpPr>
          <p:cNvPr id="3" name="Text 1"/>
          <p:cNvSpPr/>
          <p:nvPr/>
        </p:nvSpPr>
        <p:spPr>
          <a:xfrm>
            <a:off x="863798" y="4877753"/>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Predicting energy consumption across diverse powertrain architectures using real-world telematics data</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59603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Montserrat Bold" pitchFamily="34" charset="0"/>
                <a:ea typeface="Montserrat Bold" pitchFamily="34" charset="-122"/>
                <a:cs typeface="Montserrat Bold" pitchFamily="34" charset="-120"/>
              </a:rPr>
              <a:t>Overview</a:t>
            </a:r>
            <a:endParaRPr lang="en-US" sz="2200" dirty="0"/>
          </a:p>
        </p:txBody>
      </p:sp>
      <p:sp>
        <p:nvSpPr>
          <p:cNvPr id="3" name="Text 1"/>
          <p:cNvSpPr/>
          <p:nvPr/>
        </p:nvSpPr>
        <p:spPr>
          <a:xfrm>
            <a:off x="863798" y="2045375"/>
            <a:ext cx="12745998"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Bridging OBD-II Data to Energy Predictions</a:t>
            </a:r>
            <a:endParaRPr lang="en-US" sz="4400" dirty="0"/>
          </a:p>
        </p:txBody>
      </p:sp>
      <p:sp>
        <p:nvSpPr>
          <p:cNvPr id="4" name="Text 2"/>
          <p:cNvSpPr/>
          <p:nvPr/>
        </p:nvSpPr>
        <p:spPr>
          <a:xfrm>
            <a:off x="863798" y="3116818"/>
            <a:ext cx="1290280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This project analyzes the Vehicle Energy Dataset (VED), a comprehensive collection of real-world driving data from Ann Arbor, Michigan. The dataset encompasses four distinct vehicle types: Internal Combustion Engine (ICE), Hybrid Electric Vehicle (HEV), Plug-in Hybrid Electric Vehicle (PHEV), and Battery Electric Vehicle (EV).</a:t>
            </a:r>
            <a:endParaRPr lang="en-US" sz="1900" dirty="0"/>
          </a:p>
        </p:txBody>
      </p:sp>
      <p:sp>
        <p:nvSpPr>
          <p:cNvPr id="5" name="Text 3"/>
          <p:cNvSpPr/>
          <p:nvPr/>
        </p:nvSpPr>
        <p:spPr>
          <a:xfrm>
            <a:off x="863798" y="4504968"/>
            <a:ext cx="1290280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Our objective is ambitious yet practical: develop machine learning models capable of predicting Fuel Consumption Rate (FCR) for conventional and hybrid vehicles, and HV Battery Power for electric vehicles, using standard on-board diagnostics and vehicle telemetry.</a:t>
            </a:r>
            <a:endParaRPr lang="en-US" sz="1900" dirty="0"/>
          </a:p>
        </p:txBody>
      </p:sp>
      <p:sp>
        <p:nvSpPr>
          <p:cNvPr id="6" name="Text 4"/>
          <p:cNvSpPr/>
          <p:nvPr/>
        </p:nvSpPr>
        <p:spPr>
          <a:xfrm>
            <a:off x="863798" y="5893118"/>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challenge lies in integrating static vehicle specifications with high-frequency dynamic sensor data while managing missing values and deriving physics-based features for accurate energy estimation.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716875"/>
            <a:ext cx="2384108" cy="297894"/>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Montserrat Bold" pitchFamily="34" charset="0"/>
                <a:ea typeface="Montserrat Bold" pitchFamily="34" charset="-122"/>
                <a:cs typeface="Montserrat Bold" pitchFamily="34" charset="-120"/>
              </a:rPr>
              <a:t>Project Roadmap</a:t>
            </a:r>
            <a:endParaRPr lang="en-US" sz="1850" dirty="0"/>
          </a:p>
        </p:txBody>
      </p:sp>
      <p:sp>
        <p:nvSpPr>
          <p:cNvPr id="3" name="Text 1"/>
          <p:cNvSpPr/>
          <p:nvPr/>
        </p:nvSpPr>
        <p:spPr>
          <a:xfrm>
            <a:off x="863798" y="1098590"/>
            <a:ext cx="4768334" cy="596027"/>
          </a:xfrm>
          <a:prstGeom prst="rect">
            <a:avLst/>
          </a:prstGeom>
          <a:noFill/>
          <a:ln/>
        </p:spPr>
        <p:txBody>
          <a:bodyPr wrap="none" lIns="0" tIns="0" rIns="0" bIns="0" rtlCol="0" anchor="t"/>
          <a:lstStyle/>
          <a:p>
            <a:pPr algn="l" indent="0" marL="0">
              <a:lnSpc>
                <a:spcPts val="4650"/>
              </a:lnSpc>
              <a:buNone/>
            </a:pPr>
            <a:r>
              <a:rPr lang="en-US" sz="3750" b="1" dirty="0">
                <a:solidFill>
                  <a:srgbClr val="000000"/>
                </a:solidFill>
                <a:latin typeface="Montserrat Bold" pitchFamily="34" charset="0"/>
                <a:ea typeface="Montserrat Bold" pitchFamily="34" charset="-122"/>
                <a:cs typeface="Montserrat Bold" pitchFamily="34" charset="-120"/>
              </a:rPr>
              <a:t>Analysis Pipeline</a:t>
            </a:r>
            <a:endParaRPr lang="en-US" sz="3750" dirty="0"/>
          </a:p>
        </p:txBody>
      </p:sp>
      <p:sp>
        <p:nvSpPr>
          <p:cNvPr id="4" name="Text 2"/>
          <p:cNvSpPr/>
          <p:nvPr/>
        </p:nvSpPr>
        <p:spPr>
          <a:xfrm>
            <a:off x="863798" y="2009299"/>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01</a:t>
            </a:r>
            <a:endParaRPr lang="en-US" sz="1650" dirty="0"/>
          </a:p>
        </p:txBody>
      </p:sp>
      <p:sp>
        <p:nvSpPr>
          <p:cNvPr id="5" name="Shape 3"/>
          <p:cNvSpPr/>
          <p:nvPr/>
        </p:nvSpPr>
        <p:spPr>
          <a:xfrm>
            <a:off x="863798" y="2342912"/>
            <a:ext cx="6346508" cy="22860"/>
          </a:xfrm>
          <a:prstGeom prst="rect">
            <a:avLst/>
          </a:prstGeom>
          <a:solidFill>
            <a:srgbClr val="2D2E34"/>
          </a:solidFill>
          <a:ln/>
        </p:spPr>
      </p:sp>
      <p:sp>
        <p:nvSpPr>
          <p:cNvPr id="6" name="Text 4"/>
          <p:cNvSpPr/>
          <p:nvPr/>
        </p:nvSpPr>
        <p:spPr>
          <a:xfrm>
            <a:off x="863798" y="2493526"/>
            <a:ext cx="2835354"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Static Data Integration</a:t>
            </a:r>
            <a:endParaRPr lang="en-US" sz="1850" dirty="0"/>
          </a:p>
        </p:txBody>
      </p:sp>
      <p:sp>
        <p:nvSpPr>
          <p:cNvPr id="7" name="Text 5"/>
          <p:cNvSpPr/>
          <p:nvPr/>
        </p:nvSpPr>
        <p:spPr>
          <a:xfrm>
            <a:off x="863798" y="2917269"/>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Load and merge vehicle specifications including weight, engine configuration, transmission type, and drive wheels</a:t>
            </a:r>
            <a:endParaRPr lang="en-US" sz="1650" dirty="0"/>
          </a:p>
        </p:txBody>
      </p:sp>
      <p:sp>
        <p:nvSpPr>
          <p:cNvPr id="8" name="Text 6"/>
          <p:cNvSpPr/>
          <p:nvPr/>
        </p:nvSpPr>
        <p:spPr>
          <a:xfrm>
            <a:off x="7420094" y="2009299"/>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02</a:t>
            </a:r>
            <a:endParaRPr lang="en-US" sz="1650" dirty="0"/>
          </a:p>
        </p:txBody>
      </p:sp>
      <p:sp>
        <p:nvSpPr>
          <p:cNvPr id="9" name="Shape 7"/>
          <p:cNvSpPr/>
          <p:nvPr/>
        </p:nvSpPr>
        <p:spPr>
          <a:xfrm>
            <a:off x="7420094" y="2342912"/>
            <a:ext cx="6346508" cy="22860"/>
          </a:xfrm>
          <a:prstGeom prst="rect">
            <a:avLst/>
          </a:prstGeom>
          <a:solidFill>
            <a:srgbClr val="2D2E34"/>
          </a:solidFill>
          <a:ln/>
        </p:spPr>
      </p:sp>
      <p:sp>
        <p:nvSpPr>
          <p:cNvPr id="10" name="Text 8"/>
          <p:cNvSpPr/>
          <p:nvPr/>
        </p:nvSpPr>
        <p:spPr>
          <a:xfrm>
            <a:off x="7420094" y="2493526"/>
            <a:ext cx="3413879"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Dynamic Data Aggregation</a:t>
            </a:r>
            <a:endParaRPr lang="en-US" sz="1850" dirty="0"/>
          </a:p>
        </p:txBody>
      </p:sp>
      <p:sp>
        <p:nvSpPr>
          <p:cNvPr id="11" name="Text 9"/>
          <p:cNvSpPr/>
          <p:nvPr/>
        </p:nvSpPr>
        <p:spPr>
          <a:xfrm>
            <a:off x="7420094" y="2917269"/>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Process high-frequency time-series data spanning speed, GPS coordinates, engine RPM, and environmental sensors</a:t>
            </a:r>
            <a:endParaRPr lang="en-US" sz="1650" dirty="0"/>
          </a:p>
        </p:txBody>
      </p:sp>
      <p:sp>
        <p:nvSpPr>
          <p:cNvPr id="12" name="Text 10"/>
          <p:cNvSpPr/>
          <p:nvPr/>
        </p:nvSpPr>
        <p:spPr>
          <a:xfrm>
            <a:off x="863798" y="3913703"/>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03</a:t>
            </a:r>
            <a:endParaRPr lang="en-US" sz="1650" dirty="0"/>
          </a:p>
        </p:txBody>
      </p:sp>
      <p:sp>
        <p:nvSpPr>
          <p:cNvPr id="13" name="Shape 11"/>
          <p:cNvSpPr/>
          <p:nvPr/>
        </p:nvSpPr>
        <p:spPr>
          <a:xfrm>
            <a:off x="863798" y="4247317"/>
            <a:ext cx="6346508" cy="22860"/>
          </a:xfrm>
          <a:prstGeom prst="rect">
            <a:avLst/>
          </a:prstGeom>
          <a:solidFill>
            <a:srgbClr val="2D2E34"/>
          </a:solidFill>
          <a:ln/>
        </p:spPr>
      </p:sp>
      <p:sp>
        <p:nvSpPr>
          <p:cNvPr id="14" name="Text 12"/>
          <p:cNvSpPr/>
          <p:nvPr/>
        </p:nvSpPr>
        <p:spPr>
          <a:xfrm>
            <a:off x="863798" y="4397931"/>
            <a:ext cx="2564249"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Feature Engineering</a:t>
            </a:r>
            <a:endParaRPr lang="en-US" sz="1850" dirty="0"/>
          </a:p>
        </p:txBody>
      </p:sp>
      <p:sp>
        <p:nvSpPr>
          <p:cNvPr id="15" name="Text 13"/>
          <p:cNvSpPr/>
          <p:nvPr/>
        </p:nvSpPr>
        <p:spPr>
          <a:xfrm>
            <a:off x="863798" y="4821674"/>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Calculate distance traveled, derive Fuel Consumption Rate using VED algorithms, and categorize temperature impacts</a:t>
            </a:r>
            <a:endParaRPr lang="en-US" sz="1650" dirty="0"/>
          </a:p>
        </p:txBody>
      </p:sp>
      <p:sp>
        <p:nvSpPr>
          <p:cNvPr id="16" name="Text 14"/>
          <p:cNvSpPr/>
          <p:nvPr/>
        </p:nvSpPr>
        <p:spPr>
          <a:xfrm>
            <a:off x="7420094" y="3913703"/>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04</a:t>
            </a:r>
            <a:endParaRPr lang="en-US" sz="1650" dirty="0"/>
          </a:p>
        </p:txBody>
      </p:sp>
      <p:sp>
        <p:nvSpPr>
          <p:cNvPr id="17" name="Shape 15"/>
          <p:cNvSpPr/>
          <p:nvPr/>
        </p:nvSpPr>
        <p:spPr>
          <a:xfrm>
            <a:off x="7420094" y="4247317"/>
            <a:ext cx="6346508" cy="22860"/>
          </a:xfrm>
          <a:prstGeom prst="rect">
            <a:avLst/>
          </a:prstGeom>
          <a:solidFill>
            <a:srgbClr val="2D2E34"/>
          </a:solidFill>
          <a:ln/>
        </p:spPr>
      </p:sp>
      <p:sp>
        <p:nvSpPr>
          <p:cNvPr id="18" name="Text 16"/>
          <p:cNvSpPr/>
          <p:nvPr/>
        </p:nvSpPr>
        <p:spPr>
          <a:xfrm>
            <a:off x="7420094" y="4397931"/>
            <a:ext cx="2531864"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Exploratory Analysis</a:t>
            </a:r>
            <a:endParaRPr lang="en-US" sz="1850" dirty="0"/>
          </a:p>
        </p:txBody>
      </p:sp>
      <p:sp>
        <p:nvSpPr>
          <p:cNvPr id="19" name="Text 17"/>
          <p:cNvSpPr/>
          <p:nvPr/>
        </p:nvSpPr>
        <p:spPr>
          <a:xfrm>
            <a:off x="7420094" y="4821674"/>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Identify correlations, visualize trip patterns, and analyze energy consumption trends across vehicle types</a:t>
            </a:r>
            <a:endParaRPr lang="en-US" sz="1650" dirty="0"/>
          </a:p>
        </p:txBody>
      </p:sp>
      <p:sp>
        <p:nvSpPr>
          <p:cNvPr id="20" name="Text 18"/>
          <p:cNvSpPr/>
          <p:nvPr/>
        </p:nvSpPr>
        <p:spPr>
          <a:xfrm>
            <a:off x="863798" y="5818108"/>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05</a:t>
            </a:r>
            <a:endParaRPr lang="en-US" sz="1650" dirty="0"/>
          </a:p>
        </p:txBody>
      </p:sp>
      <p:sp>
        <p:nvSpPr>
          <p:cNvPr id="21" name="Shape 19"/>
          <p:cNvSpPr/>
          <p:nvPr/>
        </p:nvSpPr>
        <p:spPr>
          <a:xfrm>
            <a:off x="863798" y="6151721"/>
            <a:ext cx="6346508" cy="22860"/>
          </a:xfrm>
          <a:prstGeom prst="rect">
            <a:avLst/>
          </a:prstGeom>
          <a:solidFill>
            <a:srgbClr val="2D2E34"/>
          </a:solidFill>
          <a:ln/>
        </p:spPr>
      </p:sp>
      <p:sp>
        <p:nvSpPr>
          <p:cNvPr id="22" name="Text 20"/>
          <p:cNvSpPr/>
          <p:nvPr/>
        </p:nvSpPr>
        <p:spPr>
          <a:xfrm>
            <a:off x="863798" y="6302335"/>
            <a:ext cx="2508766"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Predictive Modeling</a:t>
            </a:r>
            <a:endParaRPr lang="en-US" sz="1850" dirty="0"/>
          </a:p>
        </p:txBody>
      </p:sp>
      <p:sp>
        <p:nvSpPr>
          <p:cNvPr id="23" name="Text 21"/>
          <p:cNvSpPr/>
          <p:nvPr/>
        </p:nvSpPr>
        <p:spPr>
          <a:xfrm>
            <a:off x="863798" y="6726079"/>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Build and evaluate linear regression models for each powertrain architecture with iterative feature refinement</a:t>
            </a:r>
            <a:endParaRPr lang="en-US" sz="1650" dirty="0"/>
          </a:p>
        </p:txBody>
      </p:sp>
      <p:sp>
        <p:nvSpPr>
          <p:cNvPr id="24" name="Text 22"/>
          <p:cNvSpPr/>
          <p:nvPr/>
        </p:nvSpPr>
        <p:spPr>
          <a:xfrm>
            <a:off x="7420094" y="5818108"/>
            <a:ext cx="209788" cy="262176"/>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Montserrat Light" pitchFamily="34" charset="0"/>
                <a:ea typeface="Montserrat Light" pitchFamily="34" charset="-122"/>
                <a:cs typeface="Montserrat Light" pitchFamily="34" charset="-120"/>
              </a:rPr>
              <a:t>06</a:t>
            </a:r>
            <a:endParaRPr lang="en-US" sz="1650" dirty="0"/>
          </a:p>
        </p:txBody>
      </p:sp>
      <p:sp>
        <p:nvSpPr>
          <p:cNvPr id="25" name="Shape 23"/>
          <p:cNvSpPr/>
          <p:nvPr/>
        </p:nvSpPr>
        <p:spPr>
          <a:xfrm>
            <a:off x="7420094" y="6151721"/>
            <a:ext cx="6346508" cy="22860"/>
          </a:xfrm>
          <a:prstGeom prst="rect">
            <a:avLst/>
          </a:prstGeom>
          <a:solidFill>
            <a:srgbClr val="2D2E34"/>
          </a:solidFill>
          <a:ln/>
        </p:spPr>
      </p:sp>
      <p:sp>
        <p:nvSpPr>
          <p:cNvPr id="26" name="Text 24"/>
          <p:cNvSpPr/>
          <p:nvPr/>
        </p:nvSpPr>
        <p:spPr>
          <a:xfrm>
            <a:off x="7420094" y="6302335"/>
            <a:ext cx="2388751" cy="297894"/>
          </a:xfrm>
          <a:prstGeom prst="rect">
            <a:avLst/>
          </a:prstGeom>
          <a:noFill/>
          <a:ln/>
        </p:spPr>
        <p:txBody>
          <a:bodyPr wrap="none" lIns="0" tIns="0" rIns="0" bIns="0" rtlCol="0" anchor="t"/>
          <a:lstStyle/>
          <a:p>
            <a:pPr algn="l"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Clustering Analysis</a:t>
            </a:r>
            <a:endParaRPr lang="en-US" sz="1850" dirty="0"/>
          </a:p>
        </p:txBody>
      </p:sp>
      <p:sp>
        <p:nvSpPr>
          <p:cNvPr id="27" name="Text 25"/>
          <p:cNvSpPr/>
          <p:nvPr/>
        </p:nvSpPr>
        <p:spPr>
          <a:xfrm>
            <a:off x="7420094" y="6726079"/>
            <a:ext cx="6346508" cy="629364"/>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Apply K-means classification to categorize vehicle behavior patterns and validate energy consumption segments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989886"/>
            <a:ext cx="12849225" cy="666155"/>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Data Foundation: Static Vehicle Specifications</a:t>
            </a:r>
            <a:endParaRPr lang="en-US" sz="4150" dirty="0"/>
          </a:p>
        </p:txBody>
      </p:sp>
      <p:sp>
        <p:nvSpPr>
          <p:cNvPr id="3" name="Text 1"/>
          <p:cNvSpPr/>
          <p:nvPr/>
        </p:nvSpPr>
        <p:spPr>
          <a:xfrm>
            <a:off x="863798" y="2242185"/>
            <a:ext cx="2975848"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Dataset Construction</a:t>
            </a:r>
            <a:endParaRPr lang="en-US" sz="2050" dirty="0"/>
          </a:p>
        </p:txBody>
      </p:sp>
      <p:sp>
        <p:nvSpPr>
          <p:cNvPr id="4" name="Text 2"/>
          <p:cNvSpPr/>
          <p:nvPr/>
        </p:nvSpPr>
        <p:spPr>
          <a:xfrm>
            <a:off x="863798" y="2809637"/>
            <a:ext cx="7512844"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 analysis began by loading two separate Excel files containing static vehicle characteristics for ICE/HEV and PHEV/EV vehicles. After standardizing data types and handling missing values, these datasets were merged into a unified static dataframe.</a:t>
            </a:r>
            <a:endParaRPr lang="en-US" sz="1800" dirty="0"/>
          </a:p>
        </p:txBody>
      </p:sp>
      <p:sp>
        <p:nvSpPr>
          <p:cNvPr id="5" name="Text 3"/>
          <p:cNvSpPr/>
          <p:nvPr/>
        </p:nvSpPr>
        <p:spPr>
          <a:xfrm>
            <a:off x="863798" y="4426982"/>
            <a:ext cx="7512844"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Key preprocessing steps included replacing "NO DATA" strings with NaN values, harmonizing column names across datasets, and validating data integrity through duplicate detection.</a:t>
            </a:r>
            <a:endParaRPr lang="en-US" sz="1800" dirty="0"/>
          </a:p>
        </p:txBody>
      </p:sp>
      <p:sp>
        <p:nvSpPr>
          <p:cNvPr id="6" name="Text 4"/>
          <p:cNvSpPr/>
          <p:nvPr/>
        </p:nvSpPr>
        <p:spPr>
          <a:xfrm>
            <a:off x="863798" y="5692735"/>
            <a:ext cx="7512844"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 resulting dataframe contains 384 unique vehicle records spanning multiple model years and configurations, providing the foundation for linking telemetry data to physical vehicle attributes.</a:t>
            </a:r>
            <a:endParaRPr lang="en-US" sz="1800" dirty="0"/>
          </a:p>
        </p:txBody>
      </p:sp>
      <p:sp>
        <p:nvSpPr>
          <p:cNvPr id="7" name="Text 5"/>
          <p:cNvSpPr/>
          <p:nvPr/>
        </p:nvSpPr>
        <p:spPr>
          <a:xfrm>
            <a:off x="8956238" y="2242185"/>
            <a:ext cx="2664619"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Static Attributes</a:t>
            </a:r>
            <a:endParaRPr lang="en-US" sz="2050" dirty="0"/>
          </a:p>
        </p:txBody>
      </p:sp>
      <p:sp>
        <p:nvSpPr>
          <p:cNvPr id="8" name="Text 6"/>
          <p:cNvSpPr/>
          <p:nvPr/>
        </p:nvSpPr>
        <p:spPr>
          <a:xfrm>
            <a:off x="8956238" y="2809637"/>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Vehicle ID (unique identifier)</a:t>
            </a:r>
            <a:endParaRPr lang="en-US" sz="1800" dirty="0"/>
          </a:p>
        </p:txBody>
      </p:sp>
      <p:sp>
        <p:nvSpPr>
          <p:cNvPr id="9" name="Text 7"/>
          <p:cNvSpPr/>
          <p:nvPr/>
        </p:nvSpPr>
        <p:spPr>
          <a:xfrm>
            <a:off x="8956238" y="3243263"/>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Vehicle Type (ICE, HEV, PHEV, EV)</a:t>
            </a:r>
            <a:endParaRPr lang="en-US" sz="1800" dirty="0"/>
          </a:p>
        </p:txBody>
      </p:sp>
      <p:sp>
        <p:nvSpPr>
          <p:cNvPr id="10" name="Text 8"/>
          <p:cNvSpPr/>
          <p:nvPr/>
        </p:nvSpPr>
        <p:spPr>
          <a:xfrm>
            <a:off x="8956238" y="3676888"/>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Vehicle Class (Car, Truck)</a:t>
            </a:r>
            <a:endParaRPr lang="en-US" sz="1800" dirty="0"/>
          </a:p>
        </p:txBody>
      </p:sp>
      <p:sp>
        <p:nvSpPr>
          <p:cNvPr id="11" name="Text 9"/>
          <p:cNvSpPr/>
          <p:nvPr/>
        </p:nvSpPr>
        <p:spPr>
          <a:xfrm>
            <a:off x="8956238" y="4110514"/>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Engine Configuration &amp; Displacement</a:t>
            </a:r>
            <a:endParaRPr lang="en-US" sz="1800" dirty="0"/>
          </a:p>
        </p:txBody>
      </p:sp>
      <p:sp>
        <p:nvSpPr>
          <p:cNvPr id="12" name="Text 10"/>
          <p:cNvSpPr/>
          <p:nvPr/>
        </p:nvSpPr>
        <p:spPr>
          <a:xfrm>
            <a:off x="8956238" y="4544139"/>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Transmission Type</a:t>
            </a:r>
            <a:endParaRPr lang="en-US" sz="1800" dirty="0"/>
          </a:p>
        </p:txBody>
      </p:sp>
      <p:sp>
        <p:nvSpPr>
          <p:cNvPr id="13" name="Text 11"/>
          <p:cNvSpPr/>
          <p:nvPr/>
        </p:nvSpPr>
        <p:spPr>
          <a:xfrm>
            <a:off x="8956238" y="4977765"/>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Drive Wheels (FWD, RWD, AWD)</a:t>
            </a:r>
            <a:endParaRPr lang="en-US" sz="1800" dirty="0"/>
          </a:p>
        </p:txBody>
      </p:sp>
      <p:sp>
        <p:nvSpPr>
          <p:cNvPr id="14" name="Text 12"/>
          <p:cNvSpPr/>
          <p:nvPr/>
        </p:nvSpPr>
        <p:spPr>
          <a:xfrm>
            <a:off x="8956238" y="5411391"/>
            <a:ext cx="4817864" cy="351592"/>
          </a:xfrm>
          <a:prstGeom prst="rect">
            <a:avLst/>
          </a:prstGeom>
          <a:noFill/>
          <a:ln/>
        </p:spPr>
        <p:txBody>
          <a:bodyPr wrap="none" lIns="0" tIns="0" rIns="0" bIns="0" rtlCol="0" anchor="t"/>
          <a:lstStyle/>
          <a:p>
            <a:pPr algn="l" marL="342900" indent="-342900">
              <a:lnSpc>
                <a:spcPts val="2750"/>
              </a:lnSpc>
              <a:buSzPct val="100000"/>
              <a:buChar char="•"/>
            </a:pPr>
            <a:r>
              <a:rPr lang="en-US" sz="1800" dirty="0">
                <a:solidFill>
                  <a:srgbClr val="3D3838"/>
                </a:solidFill>
                <a:latin typeface="Source Sans 3" pitchFamily="34" charset="0"/>
                <a:ea typeface="Source Sans 3" pitchFamily="34" charset="-122"/>
                <a:cs typeface="Source Sans 3" pitchFamily="34" charset="-120"/>
              </a:rPr>
              <a:t>Generalized Weight (kg)</a:t>
            </a:r>
            <a:endParaRPr lang="en-US" sz="1800" dirty="0"/>
          </a:p>
        </p:txBody>
      </p:sp>
      <p:sp>
        <p:nvSpPr>
          <p:cNvPr id="15" name="Text 13"/>
          <p:cNvSpPr/>
          <p:nvPr/>
        </p:nvSpPr>
        <p:spPr>
          <a:xfrm>
            <a:off x="8956238" y="5973961"/>
            <a:ext cx="4817864" cy="1054775"/>
          </a:xfrm>
          <a:prstGeom prst="rect">
            <a:avLst/>
          </a:prstGeom>
          <a:noFill/>
          <a:ln/>
        </p:spPr>
        <p:txBody>
          <a:bodyPr wrap="square" lIns="0" tIns="0" rIns="0" bIns="0" rtlCol="0" anchor="t"/>
          <a:lstStyle/>
          <a:p>
            <a:pPr algn="l" indent="0" marL="0">
              <a:lnSpc>
                <a:spcPts val="2750"/>
              </a:lnSpc>
              <a:buNone/>
            </a:pPr>
            <a:r>
              <a:rPr lang="en-US" sz="1800" b="1" dirty="0">
                <a:solidFill>
                  <a:srgbClr val="3D3838"/>
                </a:solidFill>
                <a:latin typeface="Source Sans 3" pitchFamily="34" charset="0"/>
                <a:ea typeface="Source Sans 3" pitchFamily="34" charset="-122"/>
                <a:cs typeface="Source Sans 3" pitchFamily="34" charset="-120"/>
              </a:rPr>
              <a:t>Data Quality:</a:t>
            </a:r>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 96% complete across all fields, with intentional nulls for EV-specific engine parameters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986314"/>
            <a:ext cx="8018740" cy="455771"/>
          </a:xfrm>
          <a:prstGeom prst="rect">
            <a:avLst/>
          </a:prstGeom>
          <a:noFill/>
          <a:ln/>
        </p:spPr>
        <p:txBody>
          <a:bodyPr wrap="none" lIns="0" tIns="0" rIns="0" bIns="0" rtlCol="0" anchor="t"/>
          <a:lstStyle/>
          <a:p>
            <a:pPr algn="l" indent="0" marL="0">
              <a:lnSpc>
                <a:spcPts val="3550"/>
              </a:lnSpc>
              <a:buNone/>
            </a:pPr>
            <a:r>
              <a:rPr lang="en-US" sz="2850" b="1" dirty="0">
                <a:solidFill>
                  <a:srgbClr val="000000"/>
                </a:solidFill>
                <a:latin typeface="Montserrat Bold" pitchFamily="34" charset="0"/>
                <a:ea typeface="Montserrat Bold" pitchFamily="34" charset="-122"/>
                <a:cs typeface="Montserrat Bold" pitchFamily="34" charset="-120"/>
              </a:rPr>
              <a:t>Dynamic Data: High-Frequency Telemetry</a:t>
            </a:r>
            <a:endParaRPr lang="en-US" sz="2850" dirty="0"/>
          </a:p>
        </p:txBody>
      </p:sp>
      <p:sp>
        <p:nvSpPr>
          <p:cNvPr id="3" name="Text 1"/>
          <p:cNvSpPr/>
          <p:nvPr/>
        </p:nvSpPr>
        <p:spPr>
          <a:xfrm>
            <a:off x="863798" y="1762958"/>
            <a:ext cx="12902803"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The dynamic portion of VED consists of 64 weekly CSV files spanning November 2017 through November 2018, capturing real-world driving at 1Hz sampling rate. Given computational constraints, we implemented strategic sampling: 50% random selection from Part 1 data, yielding over 5.1 million time-series records.</a:t>
            </a:r>
            <a:endParaRPr lang="en-US" sz="1250" dirty="0"/>
          </a:p>
        </p:txBody>
      </p:sp>
      <p:sp>
        <p:nvSpPr>
          <p:cNvPr id="4" name="Shape 2"/>
          <p:cNvSpPr/>
          <p:nvPr/>
        </p:nvSpPr>
        <p:spPr>
          <a:xfrm>
            <a:off x="863798" y="2424827"/>
            <a:ext cx="6371153" cy="2118479"/>
          </a:xfrm>
          <a:prstGeom prst="roundRect">
            <a:avLst>
              <a:gd name="adj" fmla="val 1136"/>
            </a:avLst>
          </a:prstGeom>
          <a:solidFill>
            <a:srgbClr val="FFFFFF"/>
          </a:solidFill>
          <a:ln w="22860">
            <a:solidFill>
              <a:srgbClr val="D8D4D4"/>
            </a:solidFill>
            <a:prstDash val="solid"/>
          </a:ln>
        </p:spPr>
      </p:sp>
      <p:sp>
        <p:nvSpPr>
          <p:cNvPr id="5" name="Text 3"/>
          <p:cNvSpPr/>
          <p:nvPr/>
        </p:nvSpPr>
        <p:spPr>
          <a:xfrm>
            <a:off x="1047036" y="2608064"/>
            <a:ext cx="1903452"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Kinematic Variables</a:t>
            </a:r>
            <a:endParaRPr lang="en-US" sz="1400" dirty="0"/>
          </a:p>
        </p:txBody>
      </p:sp>
      <p:sp>
        <p:nvSpPr>
          <p:cNvPr id="6" name="Text 4"/>
          <p:cNvSpPr/>
          <p:nvPr/>
        </p:nvSpPr>
        <p:spPr>
          <a:xfrm>
            <a:off x="1047036" y="2932033"/>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Vehicle Speed (km/h)</a:t>
            </a:r>
            <a:endParaRPr lang="en-US" sz="1250" dirty="0"/>
          </a:p>
        </p:txBody>
      </p:sp>
      <p:sp>
        <p:nvSpPr>
          <p:cNvPr id="7" name="Text 5"/>
          <p:cNvSpPr/>
          <p:nvPr/>
        </p:nvSpPr>
        <p:spPr>
          <a:xfrm>
            <a:off x="1047036" y="3228856"/>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GPS Coordinates (lat/long)</a:t>
            </a:r>
            <a:endParaRPr lang="en-US" sz="1250" dirty="0"/>
          </a:p>
        </p:txBody>
      </p:sp>
      <p:sp>
        <p:nvSpPr>
          <p:cNvPr id="8" name="Text 6"/>
          <p:cNvSpPr/>
          <p:nvPr/>
        </p:nvSpPr>
        <p:spPr>
          <a:xfrm>
            <a:off x="1047036" y="3525679"/>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Timestamp (milliseconds)</a:t>
            </a:r>
            <a:endParaRPr lang="en-US" sz="1250" dirty="0"/>
          </a:p>
        </p:txBody>
      </p:sp>
      <p:sp>
        <p:nvSpPr>
          <p:cNvPr id="9" name="Text 7"/>
          <p:cNvSpPr/>
          <p:nvPr/>
        </p:nvSpPr>
        <p:spPr>
          <a:xfrm>
            <a:off x="1047036" y="3822502"/>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Trip &amp; Day Number</a:t>
            </a:r>
            <a:endParaRPr lang="en-US" sz="1250" dirty="0"/>
          </a:p>
        </p:txBody>
      </p:sp>
      <p:sp>
        <p:nvSpPr>
          <p:cNvPr id="10" name="Shape 8"/>
          <p:cNvSpPr/>
          <p:nvPr/>
        </p:nvSpPr>
        <p:spPr>
          <a:xfrm>
            <a:off x="7395329" y="2424827"/>
            <a:ext cx="6371273" cy="2118479"/>
          </a:xfrm>
          <a:prstGeom prst="roundRect">
            <a:avLst>
              <a:gd name="adj" fmla="val 1136"/>
            </a:avLst>
          </a:prstGeom>
          <a:solidFill>
            <a:srgbClr val="FFFFFF"/>
          </a:solidFill>
          <a:ln w="22860">
            <a:solidFill>
              <a:srgbClr val="D8D4D4"/>
            </a:solidFill>
            <a:prstDash val="solid"/>
          </a:ln>
        </p:spPr>
      </p:sp>
      <p:sp>
        <p:nvSpPr>
          <p:cNvPr id="11" name="Text 9"/>
          <p:cNvSpPr/>
          <p:nvPr/>
        </p:nvSpPr>
        <p:spPr>
          <a:xfrm>
            <a:off x="7578566" y="2608064"/>
            <a:ext cx="1855827"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Powertrain Sensors</a:t>
            </a:r>
            <a:endParaRPr lang="en-US" sz="1400" dirty="0"/>
          </a:p>
        </p:txBody>
      </p:sp>
      <p:sp>
        <p:nvSpPr>
          <p:cNvPr id="12" name="Text 10"/>
          <p:cNvSpPr/>
          <p:nvPr/>
        </p:nvSpPr>
        <p:spPr>
          <a:xfrm>
            <a:off x="7578566" y="2932033"/>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Engine RPM</a:t>
            </a:r>
            <a:endParaRPr lang="en-US" sz="1250" dirty="0"/>
          </a:p>
        </p:txBody>
      </p:sp>
      <p:sp>
        <p:nvSpPr>
          <p:cNvPr id="13" name="Text 11"/>
          <p:cNvSpPr/>
          <p:nvPr/>
        </p:nvSpPr>
        <p:spPr>
          <a:xfrm>
            <a:off x="7578566" y="3228856"/>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Mass Air Flow (g/sec)</a:t>
            </a:r>
            <a:endParaRPr lang="en-US" sz="1250" dirty="0"/>
          </a:p>
        </p:txBody>
      </p:sp>
      <p:sp>
        <p:nvSpPr>
          <p:cNvPr id="14" name="Text 12"/>
          <p:cNvSpPr/>
          <p:nvPr/>
        </p:nvSpPr>
        <p:spPr>
          <a:xfrm>
            <a:off x="7578566" y="3525679"/>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Absolute Load (%)</a:t>
            </a:r>
            <a:endParaRPr lang="en-US" sz="1250" dirty="0"/>
          </a:p>
        </p:txBody>
      </p:sp>
      <p:sp>
        <p:nvSpPr>
          <p:cNvPr id="15" name="Text 13"/>
          <p:cNvSpPr/>
          <p:nvPr/>
        </p:nvSpPr>
        <p:spPr>
          <a:xfrm>
            <a:off x="7578566" y="3822502"/>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Fuel Rate (L/hr)</a:t>
            </a:r>
            <a:endParaRPr lang="en-US" sz="1250" dirty="0"/>
          </a:p>
        </p:txBody>
      </p:sp>
      <p:sp>
        <p:nvSpPr>
          <p:cNvPr id="16" name="Text 14"/>
          <p:cNvSpPr/>
          <p:nvPr/>
        </p:nvSpPr>
        <p:spPr>
          <a:xfrm>
            <a:off x="7578566" y="4119324"/>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Fuel Trim Banks 1 &amp; 2</a:t>
            </a:r>
            <a:endParaRPr lang="en-US" sz="1250" dirty="0"/>
          </a:p>
        </p:txBody>
      </p:sp>
      <p:sp>
        <p:nvSpPr>
          <p:cNvPr id="17" name="Shape 15"/>
          <p:cNvSpPr/>
          <p:nvPr/>
        </p:nvSpPr>
        <p:spPr>
          <a:xfrm>
            <a:off x="863798" y="4703683"/>
            <a:ext cx="6371153" cy="2118479"/>
          </a:xfrm>
          <a:prstGeom prst="roundRect">
            <a:avLst>
              <a:gd name="adj" fmla="val 1136"/>
            </a:avLst>
          </a:prstGeom>
          <a:solidFill>
            <a:srgbClr val="FFFFFF"/>
          </a:solidFill>
          <a:ln w="22860">
            <a:solidFill>
              <a:srgbClr val="D8D4D4"/>
            </a:solidFill>
            <a:prstDash val="solid"/>
          </a:ln>
        </p:spPr>
      </p:sp>
      <p:sp>
        <p:nvSpPr>
          <p:cNvPr id="18" name="Text 16"/>
          <p:cNvSpPr/>
          <p:nvPr/>
        </p:nvSpPr>
        <p:spPr>
          <a:xfrm>
            <a:off x="1047036" y="4886920"/>
            <a:ext cx="1999536"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Electric Components</a:t>
            </a:r>
            <a:endParaRPr lang="en-US" sz="1400" dirty="0"/>
          </a:p>
        </p:txBody>
      </p:sp>
      <p:sp>
        <p:nvSpPr>
          <p:cNvPr id="19" name="Text 17"/>
          <p:cNvSpPr/>
          <p:nvPr/>
        </p:nvSpPr>
        <p:spPr>
          <a:xfrm>
            <a:off x="1047036" y="5210889"/>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HV Battery Current (A)</a:t>
            </a:r>
            <a:endParaRPr lang="en-US" sz="1250" dirty="0"/>
          </a:p>
        </p:txBody>
      </p:sp>
      <p:sp>
        <p:nvSpPr>
          <p:cNvPr id="20" name="Text 18"/>
          <p:cNvSpPr/>
          <p:nvPr/>
        </p:nvSpPr>
        <p:spPr>
          <a:xfrm>
            <a:off x="1047036" y="5507712"/>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HV Battery Voltage (V)</a:t>
            </a:r>
            <a:endParaRPr lang="en-US" sz="1250" dirty="0"/>
          </a:p>
        </p:txBody>
      </p:sp>
      <p:sp>
        <p:nvSpPr>
          <p:cNvPr id="21" name="Text 19"/>
          <p:cNvSpPr/>
          <p:nvPr/>
        </p:nvSpPr>
        <p:spPr>
          <a:xfrm>
            <a:off x="1047036" y="5804535"/>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HV Battery SOC (%)</a:t>
            </a:r>
            <a:endParaRPr lang="en-US" sz="1250" dirty="0"/>
          </a:p>
        </p:txBody>
      </p:sp>
      <p:sp>
        <p:nvSpPr>
          <p:cNvPr id="22" name="Text 20"/>
          <p:cNvSpPr/>
          <p:nvPr/>
        </p:nvSpPr>
        <p:spPr>
          <a:xfrm>
            <a:off x="1047036" y="6101358"/>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AC Power (Watts/kW)</a:t>
            </a:r>
            <a:endParaRPr lang="en-US" sz="1250" dirty="0"/>
          </a:p>
        </p:txBody>
      </p:sp>
      <p:sp>
        <p:nvSpPr>
          <p:cNvPr id="23" name="Text 21"/>
          <p:cNvSpPr/>
          <p:nvPr/>
        </p:nvSpPr>
        <p:spPr>
          <a:xfrm>
            <a:off x="1047036" y="6398181"/>
            <a:ext cx="6004679"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Heater Power (Watts)</a:t>
            </a:r>
            <a:endParaRPr lang="en-US" sz="1250" dirty="0"/>
          </a:p>
        </p:txBody>
      </p:sp>
      <p:sp>
        <p:nvSpPr>
          <p:cNvPr id="24" name="Shape 22"/>
          <p:cNvSpPr/>
          <p:nvPr/>
        </p:nvSpPr>
        <p:spPr>
          <a:xfrm>
            <a:off x="7395329" y="4703683"/>
            <a:ext cx="6371273" cy="2118479"/>
          </a:xfrm>
          <a:prstGeom prst="roundRect">
            <a:avLst>
              <a:gd name="adj" fmla="val 1136"/>
            </a:avLst>
          </a:prstGeom>
          <a:solidFill>
            <a:srgbClr val="FFFFFF"/>
          </a:solidFill>
          <a:ln w="22860">
            <a:solidFill>
              <a:srgbClr val="D8D4D4"/>
            </a:solidFill>
            <a:prstDash val="solid"/>
          </a:ln>
        </p:spPr>
      </p:sp>
      <p:sp>
        <p:nvSpPr>
          <p:cNvPr id="25" name="Text 23"/>
          <p:cNvSpPr/>
          <p:nvPr/>
        </p:nvSpPr>
        <p:spPr>
          <a:xfrm>
            <a:off x="7578566" y="4886920"/>
            <a:ext cx="1910834"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Environmental Data</a:t>
            </a:r>
            <a:endParaRPr lang="en-US" sz="1400" dirty="0"/>
          </a:p>
        </p:txBody>
      </p:sp>
      <p:sp>
        <p:nvSpPr>
          <p:cNvPr id="26" name="Text 24"/>
          <p:cNvSpPr/>
          <p:nvPr/>
        </p:nvSpPr>
        <p:spPr>
          <a:xfrm>
            <a:off x="7578566" y="5210889"/>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Outside Air Temperature (°C)</a:t>
            </a:r>
            <a:endParaRPr lang="en-US" sz="1250" dirty="0"/>
          </a:p>
        </p:txBody>
      </p:sp>
      <p:sp>
        <p:nvSpPr>
          <p:cNvPr id="27" name="Text 25"/>
          <p:cNvSpPr/>
          <p:nvPr/>
        </p:nvSpPr>
        <p:spPr>
          <a:xfrm>
            <a:off x="7578566" y="5507712"/>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Weather-derived features</a:t>
            </a:r>
            <a:endParaRPr lang="en-US" sz="1250" dirty="0"/>
          </a:p>
        </p:txBody>
      </p:sp>
      <p:sp>
        <p:nvSpPr>
          <p:cNvPr id="28" name="Text 26"/>
          <p:cNvSpPr/>
          <p:nvPr/>
        </p:nvSpPr>
        <p:spPr>
          <a:xfrm>
            <a:off x="7578566" y="5804535"/>
            <a:ext cx="6004798" cy="240744"/>
          </a:xfrm>
          <a:prstGeom prst="rect">
            <a:avLst/>
          </a:prstGeom>
          <a:noFill/>
          <a:ln/>
        </p:spPr>
        <p:txBody>
          <a:bodyPr wrap="none" lIns="0" tIns="0" rIns="0" bIns="0" rtlCol="0" anchor="t"/>
          <a:lstStyle/>
          <a:p>
            <a:pPr algn="l" marL="342900" indent="-342900">
              <a:lnSpc>
                <a:spcPts val="1850"/>
              </a:lnSpc>
              <a:buSzPct val="100000"/>
              <a:buChar char="•"/>
            </a:pPr>
            <a:r>
              <a:rPr lang="en-US" sz="1250" dirty="0">
                <a:solidFill>
                  <a:srgbClr val="3D3838"/>
                </a:solidFill>
                <a:latin typeface="Source Sans 3" pitchFamily="34" charset="0"/>
                <a:ea typeface="Source Sans 3" pitchFamily="34" charset="-122"/>
                <a:cs typeface="Source Sans 3" pitchFamily="34" charset="-120"/>
              </a:rPr>
              <a:t>Temporal patterns</a:t>
            </a:r>
            <a:endParaRPr lang="en-US" sz="1250" dirty="0"/>
          </a:p>
        </p:txBody>
      </p:sp>
      <p:sp>
        <p:nvSpPr>
          <p:cNvPr id="29" name="Text 27"/>
          <p:cNvSpPr/>
          <p:nvPr/>
        </p:nvSpPr>
        <p:spPr>
          <a:xfrm>
            <a:off x="863798" y="7002542"/>
            <a:ext cx="12902803" cy="240744"/>
          </a:xfrm>
          <a:prstGeom prst="rect">
            <a:avLst/>
          </a:prstGeom>
          <a:noFill/>
          <a:ln/>
        </p:spPr>
        <p:txBody>
          <a:bodyPr wrap="non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This rich sensor array enables physics-based modeling of energy consumption while capturing auxiliary loads like climate control—critical factors often overlooked in simplified analyses.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763310"/>
            <a:ext cx="9748123" cy="596027"/>
          </a:xfrm>
          <a:prstGeom prst="rect">
            <a:avLst/>
          </a:prstGeom>
          <a:noFill/>
          <a:ln/>
        </p:spPr>
        <p:txBody>
          <a:bodyPr wrap="none" lIns="0" tIns="0" rIns="0" bIns="0" rtlCol="0" anchor="t"/>
          <a:lstStyle/>
          <a:p>
            <a:pPr algn="l" indent="0" marL="0">
              <a:lnSpc>
                <a:spcPts val="4650"/>
              </a:lnSpc>
              <a:buNone/>
            </a:pPr>
            <a:r>
              <a:rPr lang="en-US" sz="3750" b="1" dirty="0">
                <a:solidFill>
                  <a:srgbClr val="000000"/>
                </a:solidFill>
                <a:latin typeface="Montserrat Bold" pitchFamily="34" charset="0"/>
                <a:ea typeface="Montserrat Bold" pitchFamily="34" charset="-122"/>
                <a:cs typeface="Montserrat Bold" pitchFamily="34" charset="-120"/>
              </a:rPr>
              <a:t>Data Fusion: Merging Static &amp; Dynamic</a:t>
            </a:r>
            <a:endParaRPr lang="en-US" sz="3750" dirty="0"/>
          </a:p>
        </p:txBody>
      </p:sp>
      <p:sp>
        <p:nvSpPr>
          <p:cNvPr id="3" name="Text 1"/>
          <p:cNvSpPr/>
          <p:nvPr/>
        </p:nvSpPr>
        <p:spPr>
          <a:xfrm>
            <a:off x="863798" y="1862733"/>
            <a:ext cx="6195536" cy="1258729"/>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The integration phase merged 5.1 million dynamic telemetry records with 384 static vehicle specifications via the common Vehicle ID key. This left-join operation preserved all time-series data while enriching each observation with vehicle attributes.</a:t>
            </a:r>
            <a:endParaRPr lang="en-US" sz="1650" dirty="0"/>
          </a:p>
        </p:txBody>
      </p:sp>
      <p:sp>
        <p:nvSpPr>
          <p:cNvPr id="4" name="Text 2"/>
          <p:cNvSpPr/>
          <p:nvPr/>
        </p:nvSpPr>
        <p:spPr>
          <a:xfrm>
            <a:off x="863798" y="3310176"/>
            <a:ext cx="6195536" cy="1573411"/>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The resulting unified dataframe contains 28 columns spanning both temporal measurements and constant vehicle properties. This structure enables analysis of how vehicle mass, engine displacement, and powertrain configuration influence real-time energy consumption patterns.</a:t>
            </a:r>
            <a:endParaRPr lang="en-US" sz="1650" dirty="0"/>
          </a:p>
        </p:txBody>
      </p:sp>
      <p:sp>
        <p:nvSpPr>
          <p:cNvPr id="5" name="Text 3"/>
          <p:cNvSpPr/>
          <p:nvPr/>
        </p:nvSpPr>
        <p:spPr>
          <a:xfrm>
            <a:off x="863798" y="5072301"/>
            <a:ext cx="6195536" cy="629364"/>
          </a:xfrm>
          <a:prstGeom prst="rect">
            <a:avLst/>
          </a:prstGeom>
          <a:noFill/>
          <a:ln/>
        </p:spPr>
        <p:txBody>
          <a:bodyPr wrap="square" lIns="0" tIns="0" rIns="0" bIns="0" rtlCol="0" anchor="t"/>
          <a:lstStyle/>
          <a:p>
            <a:pPr algn="l" indent="0" marL="0">
              <a:lnSpc>
                <a:spcPts val="2450"/>
              </a:lnSpc>
              <a:buNone/>
            </a:pPr>
            <a:r>
              <a:rPr lang="en-US" sz="1650" b="1" dirty="0">
                <a:solidFill>
                  <a:srgbClr val="3D3838"/>
                </a:solidFill>
                <a:latin typeface="Source Sans 3" pitchFamily="34" charset="0"/>
                <a:ea typeface="Source Sans 3" pitchFamily="34" charset="-122"/>
                <a:cs typeface="Source Sans 3" pitchFamily="34" charset="-120"/>
              </a:rPr>
              <a:t>Memory footprint:</a:t>
            </a:r>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 1.1 GB in-memory, necessitating efficient pandas operations and cloud storage via AWS S3 for persistence.</a:t>
            </a:r>
            <a:endParaRPr lang="en-US" sz="1650" dirty="0"/>
          </a:p>
        </p:txBody>
      </p:sp>
      <p:sp>
        <p:nvSpPr>
          <p:cNvPr id="6" name="Text 4"/>
          <p:cNvSpPr/>
          <p:nvPr/>
        </p:nvSpPr>
        <p:spPr>
          <a:xfrm>
            <a:off x="7578685" y="1883807"/>
            <a:ext cx="2385655" cy="297894"/>
          </a:xfrm>
          <a:prstGeom prst="rect">
            <a:avLst/>
          </a:prstGeom>
          <a:noFill/>
          <a:ln/>
        </p:spPr>
        <p:txBody>
          <a:bodyPr wrap="none" lIns="0" tIns="0" rIns="0" bIns="0" rtlCol="0" anchor="t"/>
          <a:lstStyle/>
          <a:p>
            <a:pPr algn="l" indent="0" marL="0">
              <a:lnSpc>
                <a:spcPts val="2300"/>
              </a:lnSpc>
              <a:buNone/>
            </a:pPr>
            <a:r>
              <a:rPr lang="en-US" sz="1850" b="1" dirty="0">
                <a:solidFill>
                  <a:srgbClr val="000000"/>
                </a:solidFill>
                <a:latin typeface="Montserrat Bold" pitchFamily="34" charset="0"/>
                <a:ea typeface="Montserrat Bold" pitchFamily="34" charset="-122"/>
                <a:cs typeface="Montserrat Bold" pitchFamily="34" charset="-120"/>
              </a:rPr>
              <a:t>Integration Metrics</a:t>
            </a:r>
            <a:endParaRPr lang="en-US" sz="1850" dirty="0"/>
          </a:p>
        </p:txBody>
      </p:sp>
      <p:sp>
        <p:nvSpPr>
          <p:cNvPr id="7" name="Text 5"/>
          <p:cNvSpPr/>
          <p:nvPr/>
        </p:nvSpPr>
        <p:spPr>
          <a:xfrm>
            <a:off x="7578685" y="2522577"/>
            <a:ext cx="2966680" cy="692348"/>
          </a:xfrm>
          <a:prstGeom prst="rect">
            <a:avLst/>
          </a:prstGeom>
          <a:noFill/>
          <a:ln/>
        </p:spPr>
        <p:txBody>
          <a:bodyPr wrap="none" lIns="0" tIns="0" rIns="0" bIns="0" rtlCol="0" anchor="t"/>
          <a:lstStyle/>
          <a:p>
            <a:pPr algn="ctr" indent="0" marL="0">
              <a:lnSpc>
                <a:spcPts val="5450"/>
              </a:lnSpc>
              <a:buNone/>
            </a:pPr>
            <a:r>
              <a:rPr lang="en-US" sz="5450" b="1" dirty="0">
                <a:solidFill>
                  <a:srgbClr val="3D3838"/>
                </a:solidFill>
                <a:latin typeface="Montserrat Bold" pitchFamily="34" charset="0"/>
                <a:ea typeface="Montserrat Bold" pitchFamily="34" charset="-122"/>
                <a:cs typeface="Montserrat Bold" pitchFamily="34" charset="-120"/>
              </a:rPr>
              <a:t>5.1M</a:t>
            </a:r>
            <a:endParaRPr lang="en-US" sz="5450" dirty="0"/>
          </a:p>
        </p:txBody>
      </p:sp>
      <p:sp>
        <p:nvSpPr>
          <p:cNvPr id="8" name="Text 6"/>
          <p:cNvSpPr/>
          <p:nvPr/>
        </p:nvSpPr>
        <p:spPr>
          <a:xfrm>
            <a:off x="7790140" y="3477101"/>
            <a:ext cx="2543770" cy="297894"/>
          </a:xfrm>
          <a:prstGeom prst="rect">
            <a:avLst/>
          </a:prstGeom>
          <a:noFill/>
          <a:ln/>
        </p:spPr>
        <p:txBody>
          <a:bodyPr wrap="none" lIns="0" tIns="0" rIns="0" bIns="0" rtlCol="0" anchor="t"/>
          <a:lstStyle/>
          <a:p>
            <a:pPr algn="ctr"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Time-Series Records</a:t>
            </a:r>
            <a:endParaRPr lang="en-US" sz="1850" dirty="0"/>
          </a:p>
        </p:txBody>
      </p:sp>
      <p:sp>
        <p:nvSpPr>
          <p:cNvPr id="9" name="Text 7"/>
          <p:cNvSpPr/>
          <p:nvPr/>
        </p:nvSpPr>
        <p:spPr>
          <a:xfrm>
            <a:off x="7578685" y="3984784"/>
            <a:ext cx="2966680" cy="629364"/>
          </a:xfrm>
          <a:prstGeom prst="rect">
            <a:avLst/>
          </a:prstGeom>
          <a:noFill/>
          <a:ln/>
        </p:spPr>
        <p:txBody>
          <a:bodyPr wrap="square" lIns="0" tIns="0" rIns="0" bIns="0" rtlCol="0" anchor="t"/>
          <a:lstStyle/>
          <a:p>
            <a:pPr algn="ctr"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High-frequency observations at 1Hz sampling rate</a:t>
            </a:r>
            <a:endParaRPr lang="en-US" sz="1650" dirty="0"/>
          </a:p>
        </p:txBody>
      </p:sp>
      <p:sp>
        <p:nvSpPr>
          <p:cNvPr id="10" name="Text 8"/>
          <p:cNvSpPr/>
          <p:nvPr/>
        </p:nvSpPr>
        <p:spPr>
          <a:xfrm>
            <a:off x="10807541" y="2522577"/>
            <a:ext cx="2966680" cy="692348"/>
          </a:xfrm>
          <a:prstGeom prst="rect">
            <a:avLst/>
          </a:prstGeom>
          <a:noFill/>
          <a:ln/>
        </p:spPr>
        <p:txBody>
          <a:bodyPr wrap="none" lIns="0" tIns="0" rIns="0" bIns="0" rtlCol="0" anchor="t"/>
          <a:lstStyle/>
          <a:p>
            <a:pPr algn="ctr" indent="0" marL="0">
              <a:lnSpc>
                <a:spcPts val="5450"/>
              </a:lnSpc>
              <a:buNone/>
            </a:pPr>
            <a:r>
              <a:rPr lang="en-US" sz="5450" b="1" dirty="0">
                <a:solidFill>
                  <a:srgbClr val="3D3838"/>
                </a:solidFill>
                <a:latin typeface="Montserrat Bold" pitchFamily="34" charset="0"/>
                <a:ea typeface="Montserrat Bold" pitchFamily="34" charset="-122"/>
                <a:cs typeface="Montserrat Bold" pitchFamily="34" charset="-120"/>
              </a:rPr>
              <a:t>384</a:t>
            </a:r>
            <a:endParaRPr lang="en-US" sz="5450" dirty="0"/>
          </a:p>
        </p:txBody>
      </p:sp>
      <p:sp>
        <p:nvSpPr>
          <p:cNvPr id="11" name="Text 9"/>
          <p:cNvSpPr/>
          <p:nvPr/>
        </p:nvSpPr>
        <p:spPr>
          <a:xfrm>
            <a:off x="11098768" y="3477101"/>
            <a:ext cx="2384108" cy="297894"/>
          </a:xfrm>
          <a:prstGeom prst="rect">
            <a:avLst/>
          </a:prstGeom>
          <a:noFill/>
          <a:ln/>
        </p:spPr>
        <p:txBody>
          <a:bodyPr wrap="none" lIns="0" tIns="0" rIns="0" bIns="0" rtlCol="0" anchor="t"/>
          <a:lstStyle/>
          <a:p>
            <a:pPr algn="ctr"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Unique Vehicles</a:t>
            </a:r>
            <a:endParaRPr lang="en-US" sz="1850" dirty="0"/>
          </a:p>
        </p:txBody>
      </p:sp>
      <p:sp>
        <p:nvSpPr>
          <p:cNvPr id="12" name="Text 10"/>
          <p:cNvSpPr/>
          <p:nvPr/>
        </p:nvSpPr>
        <p:spPr>
          <a:xfrm>
            <a:off x="10807541" y="3984784"/>
            <a:ext cx="2966680" cy="629364"/>
          </a:xfrm>
          <a:prstGeom prst="rect">
            <a:avLst/>
          </a:prstGeom>
          <a:noFill/>
          <a:ln/>
        </p:spPr>
        <p:txBody>
          <a:bodyPr wrap="square" lIns="0" tIns="0" rIns="0" bIns="0" rtlCol="0" anchor="t"/>
          <a:lstStyle/>
          <a:p>
            <a:pPr algn="ctr"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Diverse fleet spanning four powertrain architectures</a:t>
            </a:r>
            <a:endParaRPr lang="en-US" sz="1650" dirty="0"/>
          </a:p>
        </p:txBody>
      </p:sp>
      <p:sp>
        <p:nvSpPr>
          <p:cNvPr id="13" name="Text 11"/>
          <p:cNvSpPr/>
          <p:nvPr/>
        </p:nvSpPr>
        <p:spPr>
          <a:xfrm>
            <a:off x="9193054" y="5138618"/>
            <a:ext cx="2966680" cy="692348"/>
          </a:xfrm>
          <a:prstGeom prst="rect">
            <a:avLst/>
          </a:prstGeom>
          <a:noFill/>
          <a:ln/>
        </p:spPr>
        <p:txBody>
          <a:bodyPr wrap="none" lIns="0" tIns="0" rIns="0" bIns="0" rtlCol="0" anchor="t"/>
          <a:lstStyle/>
          <a:p>
            <a:pPr algn="ctr" indent="0" marL="0">
              <a:lnSpc>
                <a:spcPts val="5450"/>
              </a:lnSpc>
              <a:buNone/>
            </a:pPr>
            <a:r>
              <a:rPr lang="en-US" sz="5450" b="1" dirty="0">
                <a:solidFill>
                  <a:srgbClr val="3D3838"/>
                </a:solidFill>
                <a:latin typeface="Montserrat Bold" pitchFamily="34" charset="0"/>
                <a:ea typeface="Montserrat Bold" pitchFamily="34" charset="-122"/>
                <a:cs typeface="Montserrat Bold" pitchFamily="34" charset="-120"/>
              </a:rPr>
              <a:t>28</a:t>
            </a:r>
            <a:endParaRPr lang="en-US" sz="5450" dirty="0"/>
          </a:p>
        </p:txBody>
      </p:sp>
      <p:sp>
        <p:nvSpPr>
          <p:cNvPr id="14" name="Text 12"/>
          <p:cNvSpPr/>
          <p:nvPr/>
        </p:nvSpPr>
        <p:spPr>
          <a:xfrm>
            <a:off x="9422368" y="6093142"/>
            <a:ext cx="2508052" cy="297894"/>
          </a:xfrm>
          <a:prstGeom prst="rect">
            <a:avLst/>
          </a:prstGeom>
          <a:noFill/>
          <a:ln/>
        </p:spPr>
        <p:txBody>
          <a:bodyPr wrap="none" lIns="0" tIns="0" rIns="0" bIns="0" rtlCol="0" anchor="t"/>
          <a:lstStyle/>
          <a:p>
            <a:pPr algn="ctr" indent="0" marL="0">
              <a:lnSpc>
                <a:spcPts val="2300"/>
              </a:lnSpc>
              <a:buNone/>
            </a:pPr>
            <a:r>
              <a:rPr lang="en-US" sz="1850" b="1" dirty="0">
                <a:solidFill>
                  <a:srgbClr val="3D3838"/>
                </a:solidFill>
                <a:latin typeface="Montserrat Bold" pitchFamily="34" charset="0"/>
                <a:ea typeface="Montserrat Bold" pitchFamily="34" charset="-122"/>
                <a:cs typeface="Montserrat Bold" pitchFamily="34" charset="-120"/>
              </a:rPr>
              <a:t>Feature Dimensions</a:t>
            </a:r>
            <a:endParaRPr lang="en-US" sz="1850" dirty="0"/>
          </a:p>
        </p:txBody>
      </p:sp>
      <p:sp>
        <p:nvSpPr>
          <p:cNvPr id="15" name="Text 13"/>
          <p:cNvSpPr/>
          <p:nvPr/>
        </p:nvSpPr>
        <p:spPr>
          <a:xfrm>
            <a:off x="9193054" y="6600825"/>
            <a:ext cx="2966680" cy="629364"/>
          </a:xfrm>
          <a:prstGeom prst="rect">
            <a:avLst/>
          </a:prstGeom>
          <a:noFill/>
          <a:ln/>
        </p:spPr>
        <p:txBody>
          <a:bodyPr wrap="square" lIns="0" tIns="0" rIns="0" bIns="0" rtlCol="0" anchor="t"/>
          <a:lstStyle/>
          <a:p>
            <a:pPr algn="ctr"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Combined static and dynamic attributes per observation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817959"/>
            <a:ext cx="9173289" cy="455771"/>
          </a:xfrm>
          <a:prstGeom prst="rect">
            <a:avLst/>
          </a:prstGeom>
          <a:noFill/>
          <a:ln/>
        </p:spPr>
        <p:txBody>
          <a:bodyPr wrap="none" lIns="0" tIns="0" rIns="0" bIns="0" rtlCol="0" anchor="t"/>
          <a:lstStyle/>
          <a:p>
            <a:pPr algn="l" indent="0" marL="0">
              <a:lnSpc>
                <a:spcPts val="3550"/>
              </a:lnSpc>
              <a:buNone/>
            </a:pPr>
            <a:r>
              <a:rPr lang="en-US" sz="2850" b="1" dirty="0">
                <a:solidFill>
                  <a:srgbClr val="000000"/>
                </a:solidFill>
                <a:latin typeface="Montserrat Bold" pitchFamily="34" charset="0"/>
                <a:ea typeface="Montserrat Bold" pitchFamily="34" charset="-122"/>
                <a:cs typeface="Montserrat Bold" pitchFamily="34" charset="-120"/>
              </a:rPr>
              <a:t>Feature Engineering: Physics-Based Derivations</a:t>
            </a:r>
            <a:endParaRPr lang="en-US" sz="2850" dirty="0"/>
          </a:p>
        </p:txBody>
      </p:sp>
      <p:sp>
        <p:nvSpPr>
          <p:cNvPr id="3" name="Text 1"/>
          <p:cNvSpPr/>
          <p:nvPr/>
        </p:nvSpPr>
        <p:spPr>
          <a:xfrm>
            <a:off x="863798" y="1594604"/>
            <a:ext cx="12902803"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Raw sensor data required substantial transformation to create modeling-ready features. We implemented multiple physics-based calculations and categorical encodings to capture the complex relationships governing vehicle energy consumption.</a:t>
            </a:r>
            <a:endParaRPr lang="en-US" sz="1250" dirty="0"/>
          </a:p>
        </p:txBody>
      </p:sp>
      <p:pic>
        <p:nvPicPr>
          <p:cNvPr id="4" name="Image 0" descr="preencoded.png">    </p:cNvPr>
          <p:cNvPicPr>
            <a:picLocks noChangeAspect="1"/>
          </p:cNvPicPr>
          <p:nvPr/>
        </p:nvPicPr>
        <p:blipFill>
          <a:blip r:embed="rId1"/>
          <a:stretch>
            <a:fillRect/>
          </a:stretch>
        </p:blipFill>
        <p:spPr>
          <a:xfrm>
            <a:off x="863798" y="2256473"/>
            <a:ext cx="6451402" cy="641747"/>
          </a:xfrm>
          <a:prstGeom prst="rect">
            <a:avLst/>
          </a:prstGeom>
        </p:spPr>
      </p:pic>
      <p:sp>
        <p:nvSpPr>
          <p:cNvPr id="5" name="Text 2"/>
          <p:cNvSpPr/>
          <p:nvPr/>
        </p:nvSpPr>
        <p:spPr>
          <a:xfrm>
            <a:off x="1024176" y="3058597"/>
            <a:ext cx="1967627"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Distance Calculation</a:t>
            </a:r>
            <a:endParaRPr lang="en-US" sz="1400" dirty="0"/>
          </a:p>
        </p:txBody>
      </p:sp>
      <p:sp>
        <p:nvSpPr>
          <p:cNvPr id="6" name="Text 3"/>
          <p:cNvSpPr/>
          <p:nvPr/>
        </p:nvSpPr>
        <p:spPr>
          <a:xfrm>
            <a:off x="1024176" y="3382566"/>
            <a:ext cx="6130647"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Computed distance traveled using vehicle speed and timestamp differentials: Distance = Speed × (Δt / 3600)</a:t>
            </a:r>
            <a:endParaRPr lang="en-US" sz="1250" dirty="0"/>
          </a:p>
        </p:txBody>
      </p:sp>
      <p:pic>
        <p:nvPicPr>
          <p:cNvPr id="7" name="Image 1" descr="preencoded.png">    </p:cNvPr>
          <p:cNvPicPr>
            <a:picLocks noChangeAspect="1"/>
          </p:cNvPicPr>
          <p:nvPr/>
        </p:nvPicPr>
        <p:blipFill>
          <a:blip r:embed="rId2"/>
          <a:stretch>
            <a:fillRect/>
          </a:stretch>
        </p:blipFill>
        <p:spPr>
          <a:xfrm>
            <a:off x="7315200" y="2256473"/>
            <a:ext cx="6451402" cy="641747"/>
          </a:xfrm>
          <a:prstGeom prst="rect">
            <a:avLst/>
          </a:prstGeom>
        </p:spPr>
      </p:pic>
      <p:sp>
        <p:nvSpPr>
          <p:cNvPr id="8" name="Text 4"/>
          <p:cNvSpPr/>
          <p:nvPr/>
        </p:nvSpPr>
        <p:spPr>
          <a:xfrm>
            <a:off x="7475577" y="3058597"/>
            <a:ext cx="2306598"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Temperature Categories</a:t>
            </a:r>
            <a:endParaRPr lang="en-US" sz="1400" dirty="0"/>
          </a:p>
        </p:txBody>
      </p:sp>
      <p:sp>
        <p:nvSpPr>
          <p:cNvPr id="9" name="Text 5"/>
          <p:cNvSpPr/>
          <p:nvPr/>
        </p:nvSpPr>
        <p:spPr>
          <a:xfrm>
            <a:off x="7475577" y="3382566"/>
            <a:ext cx="6130647"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Binned Outside Air Temperature into six climate zones: Extremely Cold, Cold, Cool, Mild, Warm, Hot</a:t>
            </a:r>
            <a:endParaRPr lang="en-US" sz="1250" dirty="0"/>
          </a:p>
        </p:txBody>
      </p:sp>
      <p:pic>
        <p:nvPicPr>
          <p:cNvPr id="10" name="Image 2" descr="preencoded.png">    </p:cNvPr>
          <p:cNvPicPr>
            <a:picLocks noChangeAspect="1"/>
          </p:cNvPicPr>
          <p:nvPr/>
        </p:nvPicPr>
        <p:blipFill>
          <a:blip r:embed="rId3"/>
          <a:stretch>
            <a:fillRect/>
          </a:stretch>
        </p:blipFill>
        <p:spPr>
          <a:xfrm>
            <a:off x="863798" y="4024432"/>
            <a:ext cx="6451402" cy="641747"/>
          </a:xfrm>
          <a:prstGeom prst="rect">
            <a:avLst/>
          </a:prstGeom>
        </p:spPr>
      </p:pic>
      <p:sp>
        <p:nvSpPr>
          <p:cNvPr id="11" name="Text 6"/>
          <p:cNvSpPr/>
          <p:nvPr/>
        </p:nvSpPr>
        <p:spPr>
          <a:xfrm>
            <a:off x="1024176" y="4826556"/>
            <a:ext cx="2239923"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Fuel Consumption Rate</a:t>
            </a:r>
            <a:endParaRPr lang="en-US" sz="1400" dirty="0"/>
          </a:p>
        </p:txBody>
      </p:sp>
      <p:sp>
        <p:nvSpPr>
          <p:cNvPr id="12" name="Text 7"/>
          <p:cNvSpPr/>
          <p:nvPr/>
        </p:nvSpPr>
        <p:spPr>
          <a:xfrm>
            <a:off x="1024176" y="5150525"/>
            <a:ext cx="6130647" cy="240744"/>
          </a:xfrm>
          <a:prstGeom prst="rect">
            <a:avLst/>
          </a:prstGeom>
          <a:noFill/>
          <a:ln/>
        </p:spPr>
        <p:txBody>
          <a:bodyPr wrap="non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Applied VED algorithm using MAF, Load, RPM, and fuel trims with stoichiometric correction</a:t>
            </a:r>
            <a:endParaRPr lang="en-US" sz="1250" dirty="0"/>
          </a:p>
        </p:txBody>
      </p:sp>
      <p:pic>
        <p:nvPicPr>
          <p:cNvPr id="13" name="Image 3" descr="preencoded.png">    </p:cNvPr>
          <p:cNvPicPr>
            <a:picLocks noChangeAspect="1"/>
          </p:cNvPicPr>
          <p:nvPr/>
        </p:nvPicPr>
        <p:blipFill>
          <a:blip r:embed="rId4"/>
          <a:stretch>
            <a:fillRect/>
          </a:stretch>
        </p:blipFill>
        <p:spPr>
          <a:xfrm>
            <a:off x="7315200" y="4024432"/>
            <a:ext cx="6451402" cy="641747"/>
          </a:xfrm>
          <a:prstGeom prst="rect">
            <a:avLst/>
          </a:prstGeom>
        </p:spPr>
      </p:pic>
      <p:sp>
        <p:nvSpPr>
          <p:cNvPr id="14" name="Text 8"/>
          <p:cNvSpPr/>
          <p:nvPr/>
        </p:nvSpPr>
        <p:spPr>
          <a:xfrm>
            <a:off x="7475577" y="4826556"/>
            <a:ext cx="1823085"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Battery Power</a:t>
            </a:r>
            <a:endParaRPr lang="en-US" sz="1400" dirty="0"/>
          </a:p>
        </p:txBody>
      </p:sp>
      <p:sp>
        <p:nvSpPr>
          <p:cNvPr id="15" name="Text 9"/>
          <p:cNvSpPr/>
          <p:nvPr/>
        </p:nvSpPr>
        <p:spPr>
          <a:xfrm>
            <a:off x="7475577" y="5150525"/>
            <a:ext cx="6130647" cy="240744"/>
          </a:xfrm>
          <a:prstGeom prst="rect">
            <a:avLst/>
          </a:prstGeom>
          <a:noFill/>
          <a:ln/>
        </p:spPr>
        <p:txBody>
          <a:bodyPr wrap="non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Calculated instantaneous power from voltage and current measurements: P = V × I</a:t>
            </a:r>
            <a:endParaRPr lang="en-US" sz="1250" dirty="0"/>
          </a:p>
        </p:txBody>
      </p:sp>
      <p:sp>
        <p:nvSpPr>
          <p:cNvPr id="16" name="Shape 10"/>
          <p:cNvSpPr/>
          <p:nvPr/>
        </p:nvSpPr>
        <p:spPr>
          <a:xfrm>
            <a:off x="863798" y="5732026"/>
            <a:ext cx="12902803" cy="1679496"/>
          </a:xfrm>
          <a:prstGeom prst="roundRect">
            <a:avLst>
              <a:gd name="adj" fmla="val 1433"/>
            </a:avLst>
          </a:prstGeom>
          <a:solidFill>
            <a:srgbClr val="D6D7DC"/>
          </a:solidFill>
          <a:ln/>
        </p:spPr>
      </p:sp>
      <p:pic>
        <p:nvPicPr>
          <p:cNvPr id="17" name="Image 4" descr="preencoded.png">    </p:cNvPr>
          <p:cNvPicPr>
            <a:picLocks noChangeAspect="1"/>
          </p:cNvPicPr>
          <p:nvPr/>
        </p:nvPicPr>
        <p:blipFill>
          <a:blip r:embed="rId5"/>
          <a:stretch>
            <a:fillRect/>
          </a:stretch>
        </p:blipFill>
        <p:spPr>
          <a:xfrm>
            <a:off x="1024176" y="5948124"/>
            <a:ext cx="227886" cy="182285"/>
          </a:xfrm>
          <a:prstGeom prst="rect">
            <a:avLst/>
          </a:prstGeom>
        </p:spPr>
      </p:pic>
      <p:sp>
        <p:nvSpPr>
          <p:cNvPr id="18" name="Text 11"/>
          <p:cNvSpPr/>
          <p:nvPr/>
        </p:nvSpPr>
        <p:spPr>
          <a:xfrm>
            <a:off x="1412438" y="5932408"/>
            <a:ext cx="3000732" cy="227767"/>
          </a:xfrm>
          <a:prstGeom prst="rect">
            <a:avLst/>
          </a:prstGeom>
          <a:noFill/>
          <a:ln/>
        </p:spPr>
        <p:txBody>
          <a:bodyPr wrap="none" lIns="0" tIns="0" rIns="0" bIns="0" rtlCol="0" anchor="t"/>
          <a:lstStyle/>
          <a:p>
            <a:pPr algn="l" indent="0" marL="0">
              <a:lnSpc>
                <a:spcPts val="1750"/>
              </a:lnSpc>
              <a:buNone/>
            </a:pPr>
            <a:r>
              <a:rPr lang="en-US" sz="1400" b="1" dirty="0">
                <a:solidFill>
                  <a:srgbClr val="000000"/>
                </a:solidFill>
                <a:latin typeface="Montserrat Bold" pitchFamily="34" charset="0"/>
                <a:ea typeface="Montserrat Bold" pitchFamily="34" charset="-122"/>
                <a:cs typeface="Montserrat Bold" pitchFamily="34" charset="-120"/>
              </a:rPr>
              <a:t>FCR Algorithm Implementation</a:t>
            </a:r>
            <a:endParaRPr lang="en-US" sz="1400" dirty="0"/>
          </a:p>
        </p:txBody>
      </p:sp>
      <p:sp>
        <p:nvSpPr>
          <p:cNvPr id="19" name="Text 12"/>
          <p:cNvSpPr/>
          <p:nvPr/>
        </p:nvSpPr>
        <p:spPr>
          <a:xfrm>
            <a:off x="1412438" y="6320552"/>
            <a:ext cx="12193786" cy="481489"/>
          </a:xfrm>
          <a:prstGeom prst="rect">
            <a:avLst/>
          </a:prstGeom>
          <a:noFill/>
          <a:ln/>
        </p:spPr>
        <p:txBody>
          <a:bodyPr wrap="square" lIns="0" tIns="0" rIns="0" bIns="0" rtlCol="0" anchor="t"/>
          <a:lstStyle/>
          <a:p>
            <a:pPr algn="l" indent="0" marL="0">
              <a:lnSpc>
                <a:spcPts val="1850"/>
              </a:lnSpc>
              <a:buNone/>
            </a:pPr>
            <a:r>
              <a:rPr lang="en-US" sz="1250" dirty="0">
                <a:solidFill>
                  <a:srgbClr val="000000"/>
                </a:solidFill>
                <a:latin typeface="Source Sans 3" pitchFamily="34" charset="0"/>
                <a:ea typeface="Source Sans 3" pitchFamily="34" charset="-122"/>
                <a:cs typeface="Source Sans 3" pitchFamily="34" charset="-120"/>
              </a:rPr>
              <a:t>The Fuel Consumption Rate calculation follows a hierarchical decision tree: (1) Use direct fuel rate if available, (2) Derive from MAF with fuel trim correction if available, (3) Estimate MAF from load, RPM, and displacement if needed. This approach maximizes data utilization while maintaining physical accuracy.</a:t>
            </a:r>
            <a:endParaRPr lang="en-US" sz="1250" dirty="0"/>
          </a:p>
        </p:txBody>
      </p:sp>
      <p:sp>
        <p:nvSpPr>
          <p:cNvPr id="20" name="Text 13"/>
          <p:cNvSpPr/>
          <p:nvPr/>
        </p:nvSpPr>
        <p:spPr>
          <a:xfrm>
            <a:off x="1412438" y="6946344"/>
            <a:ext cx="12193786" cy="240744"/>
          </a:xfrm>
          <a:prstGeom prst="rect">
            <a:avLst/>
          </a:prstGeom>
          <a:noFill/>
          <a:ln/>
        </p:spPr>
        <p:txBody>
          <a:bodyPr wrap="none" lIns="0" tIns="0" rIns="0" bIns="0" rtlCol="0" anchor="t"/>
          <a:lstStyle/>
          <a:p>
            <a:pPr algn="l" indent="0" marL="0">
              <a:lnSpc>
                <a:spcPts val="1850"/>
              </a:lnSpc>
              <a:buNone/>
            </a:pPr>
            <a:r>
              <a:rPr lang="en-US" sz="1250" dirty="0">
                <a:solidFill>
                  <a:srgbClr val="000000"/>
                </a:solidFill>
                <a:latin typeface="Source Sans 3" pitchFamily="34" charset="0"/>
                <a:ea typeface="Source Sans 3" pitchFamily="34" charset="-122"/>
                <a:cs typeface="Source Sans 3" pitchFamily="34" charset="-120"/>
              </a:rPr>
              <a:t>Correction factor: (1 + STFT/100 + LTFT/100) / AFR, where AFR = 14.7 for gasoline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759381"/>
            <a:ext cx="8934450" cy="560903"/>
          </a:xfrm>
          <a:prstGeom prst="rect">
            <a:avLst/>
          </a:prstGeom>
          <a:noFill/>
          <a:ln/>
        </p:spPr>
        <p:txBody>
          <a:bodyPr wrap="none" lIns="0" tIns="0" rIns="0" bIns="0" rtlCol="0" anchor="t"/>
          <a:lstStyle/>
          <a:p>
            <a:pPr algn="l" indent="0" marL="0">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Data Quality: Handling Missing Values</a:t>
            </a:r>
            <a:endParaRPr lang="en-US" sz="3500" dirty="0"/>
          </a:p>
        </p:txBody>
      </p:sp>
      <p:sp>
        <p:nvSpPr>
          <p:cNvPr id="3" name="Text 1"/>
          <p:cNvSpPr/>
          <p:nvPr/>
        </p:nvSpPr>
        <p:spPr>
          <a:xfrm>
            <a:off x="863798" y="1813798"/>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ICE Vehicles</a:t>
            </a:r>
            <a:endParaRPr lang="en-US" sz="1750" dirty="0"/>
          </a:p>
        </p:txBody>
      </p:sp>
      <p:sp>
        <p:nvSpPr>
          <p:cNvPr id="4" name="Text 2"/>
          <p:cNvSpPr/>
          <p:nvPr/>
        </p:nvSpPr>
        <p:spPr>
          <a:xfrm>
            <a:off x="863798" y="2291715"/>
            <a:ext cx="2864406" cy="888682"/>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Missing values concentrated in auxiliary systems and fuel trim sensors. Imputation strategy:</a:t>
            </a:r>
            <a:endParaRPr lang="en-US" sz="1550" dirty="0"/>
          </a:p>
        </p:txBody>
      </p:sp>
      <p:sp>
        <p:nvSpPr>
          <p:cNvPr id="5" name="Text 3"/>
          <p:cNvSpPr/>
          <p:nvPr/>
        </p:nvSpPr>
        <p:spPr>
          <a:xfrm>
            <a:off x="863798" y="3358039"/>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Air conditioning: 0 (system inactive)</a:t>
            </a:r>
            <a:endParaRPr lang="en-US" sz="1550" dirty="0"/>
          </a:p>
        </p:txBody>
      </p:sp>
      <p:sp>
        <p:nvSpPr>
          <p:cNvPr id="6" name="Text 4"/>
          <p:cNvSpPr/>
          <p:nvPr/>
        </p:nvSpPr>
        <p:spPr>
          <a:xfrm>
            <a:off x="863798" y="4019550"/>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Heater power: Mean value</a:t>
            </a:r>
            <a:endParaRPr lang="en-US" sz="1550" dirty="0"/>
          </a:p>
        </p:txBody>
      </p:sp>
      <p:sp>
        <p:nvSpPr>
          <p:cNvPr id="7" name="Text 5"/>
          <p:cNvSpPr/>
          <p:nvPr/>
        </p:nvSpPr>
        <p:spPr>
          <a:xfrm>
            <a:off x="863798" y="4384834"/>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OAT: 15°C (temperate default)</a:t>
            </a:r>
            <a:endParaRPr lang="en-US" sz="1550" dirty="0"/>
          </a:p>
        </p:txBody>
      </p:sp>
      <p:sp>
        <p:nvSpPr>
          <p:cNvPr id="8" name="Text 6"/>
          <p:cNvSpPr/>
          <p:nvPr/>
        </p:nvSpPr>
        <p:spPr>
          <a:xfrm>
            <a:off x="863798" y="4750117"/>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FCR: Mean consumption rate</a:t>
            </a:r>
            <a:endParaRPr lang="en-US" sz="1550" dirty="0"/>
          </a:p>
        </p:txBody>
      </p:sp>
      <p:sp>
        <p:nvSpPr>
          <p:cNvPr id="9" name="Text 7"/>
          <p:cNvSpPr/>
          <p:nvPr/>
        </p:nvSpPr>
        <p:spPr>
          <a:xfrm>
            <a:off x="863798" y="5115401"/>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MAF, Load, Fuel Trims: Mean values</a:t>
            </a:r>
            <a:endParaRPr lang="en-US" sz="1550" dirty="0"/>
          </a:p>
        </p:txBody>
      </p:sp>
      <p:sp>
        <p:nvSpPr>
          <p:cNvPr id="10" name="Text 8"/>
          <p:cNvSpPr/>
          <p:nvPr/>
        </p:nvSpPr>
        <p:spPr>
          <a:xfrm>
            <a:off x="863798" y="5885498"/>
            <a:ext cx="2864406" cy="592455"/>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Completeness: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92% after imputation</a:t>
            </a:r>
            <a:endParaRPr lang="en-US" sz="1550" dirty="0"/>
          </a:p>
        </p:txBody>
      </p:sp>
      <p:sp>
        <p:nvSpPr>
          <p:cNvPr id="11" name="Text 9"/>
          <p:cNvSpPr/>
          <p:nvPr/>
        </p:nvSpPr>
        <p:spPr>
          <a:xfrm>
            <a:off x="4217551" y="1813798"/>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HEV Vehicles</a:t>
            </a:r>
            <a:endParaRPr lang="en-US" sz="1750" dirty="0"/>
          </a:p>
        </p:txBody>
      </p:sp>
      <p:sp>
        <p:nvSpPr>
          <p:cNvPr id="12" name="Text 10"/>
          <p:cNvSpPr/>
          <p:nvPr/>
        </p:nvSpPr>
        <p:spPr>
          <a:xfrm>
            <a:off x="4217551" y="2291715"/>
            <a:ext cx="2864406" cy="888682"/>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Similar patterns to ICE with additional HV battery gaps. Imputation approach:</a:t>
            </a:r>
            <a:endParaRPr lang="en-US" sz="1550" dirty="0"/>
          </a:p>
        </p:txBody>
      </p:sp>
      <p:sp>
        <p:nvSpPr>
          <p:cNvPr id="13" name="Text 11"/>
          <p:cNvSpPr/>
          <p:nvPr/>
        </p:nvSpPr>
        <p:spPr>
          <a:xfrm>
            <a:off x="4217551" y="3358039"/>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Battery power: 0 (engine-only mode)</a:t>
            </a:r>
            <a:endParaRPr lang="en-US" sz="1550" dirty="0"/>
          </a:p>
        </p:txBody>
      </p:sp>
      <p:sp>
        <p:nvSpPr>
          <p:cNvPr id="14" name="Text 12"/>
          <p:cNvSpPr/>
          <p:nvPr/>
        </p:nvSpPr>
        <p:spPr>
          <a:xfrm>
            <a:off x="4217551" y="4019550"/>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Climate control: 0 (inactive)</a:t>
            </a:r>
            <a:endParaRPr lang="en-US" sz="1550" dirty="0"/>
          </a:p>
        </p:txBody>
      </p:sp>
      <p:sp>
        <p:nvSpPr>
          <p:cNvPr id="15" name="Text 13"/>
          <p:cNvSpPr/>
          <p:nvPr/>
        </p:nvSpPr>
        <p:spPr>
          <a:xfrm>
            <a:off x="4217551" y="4384834"/>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Fuel trim banks: Mean correction</a:t>
            </a:r>
            <a:endParaRPr lang="en-US" sz="1550" dirty="0"/>
          </a:p>
        </p:txBody>
      </p:sp>
      <p:sp>
        <p:nvSpPr>
          <p:cNvPr id="16" name="Text 14"/>
          <p:cNvSpPr/>
          <p:nvPr/>
        </p:nvSpPr>
        <p:spPr>
          <a:xfrm>
            <a:off x="4217551" y="5046345"/>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MAF, Load: Mean operational values</a:t>
            </a:r>
            <a:endParaRPr lang="en-US" sz="1550" dirty="0"/>
          </a:p>
        </p:txBody>
      </p:sp>
      <p:sp>
        <p:nvSpPr>
          <p:cNvPr id="17" name="Text 15"/>
          <p:cNvSpPr/>
          <p:nvPr/>
        </p:nvSpPr>
        <p:spPr>
          <a:xfrm>
            <a:off x="4217551" y="5816441"/>
            <a:ext cx="2864406" cy="592455"/>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Completeness: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94% after imputation</a:t>
            </a:r>
            <a:endParaRPr lang="en-US" sz="1550" dirty="0"/>
          </a:p>
        </p:txBody>
      </p:sp>
      <p:sp>
        <p:nvSpPr>
          <p:cNvPr id="18" name="Text 16"/>
          <p:cNvSpPr/>
          <p:nvPr/>
        </p:nvSpPr>
        <p:spPr>
          <a:xfrm>
            <a:off x="7571303" y="1813798"/>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PHEV Vehicles</a:t>
            </a:r>
            <a:endParaRPr lang="en-US" sz="1750" dirty="0"/>
          </a:p>
        </p:txBody>
      </p:sp>
      <p:sp>
        <p:nvSpPr>
          <p:cNvPr id="19" name="Text 17"/>
          <p:cNvSpPr/>
          <p:nvPr/>
        </p:nvSpPr>
        <p:spPr>
          <a:xfrm>
            <a:off x="7571303" y="2291715"/>
            <a:ext cx="2864406" cy="888682"/>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Dual powertrain complexity creates mode-dependent missingness:</a:t>
            </a:r>
            <a:endParaRPr lang="en-US" sz="1550" dirty="0"/>
          </a:p>
        </p:txBody>
      </p:sp>
      <p:sp>
        <p:nvSpPr>
          <p:cNvPr id="20" name="Text 18"/>
          <p:cNvSpPr/>
          <p:nvPr/>
        </p:nvSpPr>
        <p:spPr>
          <a:xfrm>
            <a:off x="7571303" y="3358039"/>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Electric mode: Engine sensors = 0</a:t>
            </a:r>
            <a:endParaRPr lang="en-US" sz="1550" dirty="0"/>
          </a:p>
        </p:txBody>
      </p:sp>
      <p:sp>
        <p:nvSpPr>
          <p:cNvPr id="21" name="Text 19"/>
          <p:cNvSpPr/>
          <p:nvPr/>
        </p:nvSpPr>
        <p:spPr>
          <a:xfrm>
            <a:off x="7571303" y="4019550"/>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Hybrid mode: Battery + engine data</a:t>
            </a:r>
            <a:endParaRPr lang="en-US" sz="1550" dirty="0"/>
          </a:p>
        </p:txBody>
      </p:sp>
      <p:sp>
        <p:nvSpPr>
          <p:cNvPr id="22" name="Text 20"/>
          <p:cNvSpPr/>
          <p:nvPr/>
        </p:nvSpPr>
        <p:spPr>
          <a:xfrm>
            <a:off x="7571303" y="4681061"/>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FCR: Mean when engine active</a:t>
            </a:r>
            <a:endParaRPr lang="en-US" sz="1550" dirty="0"/>
          </a:p>
        </p:txBody>
      </p:sp>
      <p:sp>
        <p:nvSpPr>
          <p:cNvPr id="23" name="Text 21"/>
          <p:cNvSpPr/>
          <p:nvPr/>
        </p:nvSpPr>
        <p:spPr>
          <a:xfrm>
            <a:off x="7571303" y="5046345"/>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MAF, Load: Mean when available</a:t>
            </a:r>
            <a:endParaRPr lang="en-US" sz="1550" dirty="0"/>
          </a:p>
        </p:txBody>
      </p:sp>
      <p:sp>
        <p:nvSpPr>
          <p:cNvPr id="24" name="Text 22"/>
          <p:cNvSpPr/>
          <p:nvPr/>
        </p:nvSpPr>
        <p:spPr>
          <a:xfrm>
            <a:off x="7571303" y="5816441"/>
            <a:ext cx="2864406" cy="592455"/>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Completeness: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89% after imputation</a:t>
            </a:r>
            <a:endParaRPr lang="en-US" sz="1550" dirty="0"/>
          </a:p>
        </p:txBody>
      </p:sp>
      <p:sp>
        <p:nvSpPr>
          <p:cNvPr id="25" name="Text 23"/>
          <p:cNvSpPr/>
          <p:nvPr/>
        </p:nvSpPr>
        <p:spPr>
          <a:xfrm>
            <a:off x="10925056" y="1813798"/>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EV Vehicles</a:t>
            </a:r>
            <a:endParaRPr lang="en-US" sz="1750" dirty="0"/>
          </a:p>
        </p:txBody>
      </p:sp>
      <p:sp>
        <p:nvSpPr>
          <p:cNvPr id="26" name="Text 24"/>
          <p:cNvSpPr/>
          <p:nvPr/>
        </p:nvSpPr>
        <p:spPr>
          <a:xfrm>
            <a:off x="10925056" y="2291715"/>
            <a:ext cx="2864406"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Structurally missing engine-related sensors. Imputation logic:</a:t>
            </a:r>
            <a:endParaRPr lang="en-US" sz="1550" dirty="0"/>
          </a:p>
        </p:txBody>
      </p:sp>
      <p:sp>
        <p:nvSpPr>
          <p:cNvPr id="27" name="Text 25"/>
          <p:cNvSpPr/>
          <p:nvPr/>
        </p:nvSpPr>
        <p:spPr>
          <a:xfrm>
            <a:off x="10925056" y="3061811"/>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All engine sensors: 0 (not applicable)</a:t>
            </a:r>
            <a:endParaRPr lang="en-US" sz="1550" dirty="0"/>
          </a:p>
        </p:txBody>
      </p:sp>
      <p:sp>
        <p:nvSpPr>
          <p:cNvPr id="28" name="Text 26"/>
          <p:cNvSpPr/>
          <p:nvPr/>
        </p:nvSpPr>
        <p:spPr>
          <a:xfrm>
            <a:off x="10925056" y="3723323"/>
            <a:ext cx="2864406" cy="296228"/>
          </a:xfrm>
          <a:prstGeom prst="rect">
            <a:avLst/>
          </a:prstGeom>
          <a:noFill/>
          <a:ln/>
        </p:spPr>
        <p:txBody>
          <a:bodyPr wrap="non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RPM, MAF, Load: 0 by design</a:t>
            </a:r>
            <a:endParaRPr lang="en-US" sz="1550" dirty="0"/>
          </a:p>
        </p:txBody>
      </p:sp>
      <p:sp>
        <p:nvSpPr>
          <p:cNvPr id="29" name="Text 27"/>
          <p:cNvSpPr/>
          <p:nvPr/>
        </p:nvSpPr>
        <p:spPr>
          <a:xfrm>
            <a:off x="10925056" y="4088606"/>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Fuel rate and trims: 0 (no combustion)</a:t>
            </a:r>
            <a:endParaRPr lang="en-US" sz="1550" dirty="0"/>
          </a:p>
        </p:txBody>
      </p:sp>
      <p:sp>
        <p:nvSpPr>
          <p:cNvPr id="30" name="Text 28"/>
          <p:cNvSpPr/>
          <p:nvPr/>
        </p:nvSpPr>
        <p:spPr>
          <a:xfrm>
            <a:off x="10925056" y="4750117"/>
            <a:ext cx="2864406" cy="592455"/>
          </a:xfrm>
          <a:prstGeom prst="rect">
            <a:avLst/>
          </a:prstGeom>
          <a:noFill/>
          <a:ln/>
        </p:spPr>
        <p:txBody>
          <a:bodyPr wrap="square" lIns="0" tIns="0" rIns="0" bIns="0" rtlCol="0" anchor="t"/>
          <a:lstStyle/>
          <a:p>
            <a:pPr algn="l" marL="342900" indent="-342900">
              <a:lnSpc>
                <a:spcPts val="2300"/>
              </a:lnSpc>
              <a:buSzPct val="100000"/>
              <a:buChar char="•"/>
            </a:pPr>
            <a:r>
              <a:rPr lang="en-US" sz="1550" dirty="0">
                <a:solidFill>
                  <a:srgbClr val="3D3838"/>
                </a:solidFill>
                <a:latin typeface="Source Sans 3" pitchFamily="34" charset="0"/>
                <a:ea typeface="Source Sans 3" pitchFamily="34" charset="-122"/>
                <a:cs typeface="Source Sans 3" pitchFamily="34" charset="-120"/>
              </a:rPr>
              <a:t>Battery systems: Complete data</a:t>
            </a:r>
            <a:endParaRPr lang="en-US" sz="1550" dirty="0"/>
          </a:p>
        </p:txBody>
      </p:sp>
      <p:sp>
        <p:nvSpPr>
          <p:cNvPr id="31" name="Text 29"/>
          <p:cNvSpPr/>
          <p:nvPr/>
        </p:nvSpPr>
        <p:spPr>
          <a:xfrm>
            <a:off x="10925056" y="5520214"/>
            <a:ext cx="2864406" cy="592455"/>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Completeness: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100% for applicable sensors</a:t>
            </a:r>
            <a:endParaRPr lang="en-US" sz="1550" dirty="0"/>
          </a:p>
        </p:txBody>
      </p:sp>
      <p:sp>
        <p:nvSpPr>
          <p:cNvPr id="32" name="Text 30"/>
          <p:cNvSpPr/>
          <p:nvPr/>
        </p:nvSpPr>
        <p:spPr>
          <a:xfrm>
            <a:off x="863798" y="6877645"/>
            <a:ext cx="12902803"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Domain knowledge guided imputation decisions, treating missing values as either sensor failures (impute with mean) or structural zeros (vehicle lacks that subsystem). This approach preserves physical realism while enabling complete-case regression analysis.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1130498"/>
            <a:ext cx="12865179" cy="666155"/>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Exploratory Insights: Distance by Vehicle Type</a:t>
            </a:r>
            <a:endParaRPr lang="en-US" sz="4150" dirty="0"/>
          </a:p>
        </p:txBody>
      </p:sp>
      <p:pic>
        <p:nvPicPr>
          <p:cNvPr id="3" name="Image 0" descr="preencoded.png">    </p:cNvPr>
          <p:cNvPicPr>
            <a:picLocks noChangeAspect="1"/>
          </p:cNvPicPr>
          <p:nvPr/>
        </p:nvPicPr>
        <p:blipFill>
          <a:blip r:embed="rId1"/>
          <a:stretch>
            <a:fillRect/>
          </a:stretch>
        </p:blipFill>
        <p:spPr>
          <a:xfrm>
            <a:off x="863798" y="2412087"/>
            <a:ext cx="6497003" cy="3638312"/>
          </a:xfrm>
          <a:prstGeom prst="rect">
            <a:avLst/>
          </a:prstGeom>
        </p:spPr>
      </p:pic>
      <p:sp>
        <p:nvSpPr>
          <p:cNvPr id="4" name="Text 1"/>
          <p:cNvSpPr/>
          <p:nvPr/>
        </p:nvSpPr>
        <p:spPr>
          <a:xfrm>
            <a:off x="8282464" y="2382798"/>
            <a:ext cx="3102173"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Trip Distance Patterns</a:t>
            </a:r>
            <a:endParaRPr lang="en-US" sz="2050" dirty="0"/>
          </a:p>
        </p:txBody>
      </p:sp>
      <p:sp>
        <p:nvSpPr>
          <p:cNvPr id="5" name="Text 2"/>
          <p:cNvSpPr/>
          <p:nvPr/>
        </p:nvSpPr>
        <p:spPr>
          <a:xfrm>
            <a:off x="8282464" y="2950250"/>
            <a:ext cx="5491639"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Plug-in hybrids demonstrated the longest average trip distances at 5.9 km, suggesting owners leverage extended electric range for longer journeys before engine engagement.</a:t>
            </a:r>
            <a:endParaRPr lang="en-US" sz="1800" dirty="0"/>
          </a:p>
        </p:txBody>
      </p:sp>
      <p:sp>
        <p:nvSpPr>
          <p:cNvPr id="6" name="Text 3"/>
          <p:cNvSpPr/>
          <p:nvPr/>
        </p:nvSpPr>
        <p:spPr>
          <a:xfrm>
            <a:off x="8282464" y="4567595"/>
            <a:ext cx="5491639"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Battery-electric vehicles showed the shortest trips (4.35 km), potentially reflecting range anxiety or strategic charging behavior limiting trip length.</a:t>
            </a:r>
            <a:endParaRPr lang="en-US" sz="1800" dirty="0"/>
          </a:p>
        </p:txBody>
      </p:sp>
      <p:sp>
        <p:nvSpPr>
          <p:cNvPr id="7" name="Text 4"/>
          <p:cNvSpPr/>
          <p:nvPr/>
        </p:nvSpPr>
        <p:spPr>
          <a:xfrm>
            <a:off x="8282464" y="5833348"/>
            <a:ext cx="5491639"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Traditional ICE and HEV vehicles clustered between 4.4-5.0 km, representing baseline urban driving patterns without range constraints.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895231"/>
            <a:ext cx="12628602" cy="666155"/>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Temporal Trends: Battery Voltage &amp; Fuel Rate</a:t>
            </a:r>
            <a:endParaRPr lang="en-US" sz="4150" dirty="0"/>
          </a:p>
        </p:txBody>
      </p:sp>
      <p:sp>
        <p:nvSpPr>
          <p:cNvPr id="3" name="Text 1"/>
          <p:cNvSpPr/>
          <p:nvPr/>
        </p:nvSpPr>
        <p:spPr>
          <a:xfrm>
            <a:off x="863798" y="2147530"/>
            <a:ext cx="4171474"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HV Battery Voltage Over Time</a:t>
            </a:r>
            <a:endParaRPr lang="en-US" sz="2050" dirty="0"/>
          </a:p>
        </p:txBody>
      </p:sp>
      <p:sp>
        <p:nvSpPr>
          <p:cNvPr id="4" name="Text 2"/>
          <p:cNvSpPr/>
          <p:nvPr/>
        </p:nvSpPr>
        <p:spPr>
          <a:xfrm>
            <a:off x="863798" y="2714982"/>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Battery voltage exhibited seasonal patterns with notable decline during winter months (December-February), attributed to cold-weather performance degradation. Average voltage stabilized around 300V during temperate periods.</a:t>
            </a:r>
            <a:endParaRPr lang="en-US" sz="1800" dirty="0"/>
          </a:p>
        </p:txBody>
      </p:sp>
      <p:sp>
        <p:nvSpPr>
          <p:cNvPr id="5" name="Text 3"/>
          <p:cNvSpPr/>
          <p:nvPr/>
        </p:nvSpPr>
        <p:spPr>
          <a:xfrm>
            <a:off x="863798" y="4332327"/>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 sawtooth pattern reflects charging/discharging cycles across multiple vehicles and trips, with variance indicating different battery chemistries and State of Health (SOH) levels across the fleet.</a:t>
            </a:r>
            <a:endParaRPr lang="en-US" sz="1800" dirty="0"/>
          </a:p>
        </p:txBody>
      </p:sp>
      <p:sp>
        <p:nvSpPr>
          <p:cNvPr id="6" name="Text 4"/>
          <p:cNvSpPr/>
          <p:nvPr/>
        </p:nvSpPr>
        <p:spPr>
          <a:xfrm>
            <a:off x="7608808" y="2147530"/>
            <a:ext cx="4303038"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Fuel Consumption Rate Trends</a:t>
            </a:r>
            <a:endParaRPr lang="en-US" sz="2050" dirty="0"/>
          </a:p>
        </p:txBody>
      </p:sp>
      <p:sp>
        <p:nvSpPr>
          <p:cNvPr id="7" name="Text 5"/>
          <p:cNvSpPr/>
          <p:nvPr/>
        </p:nvSpPr>
        <p:spPr>
          <a:xfrm>
            <a:off x="7608808" y="2714982"/>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FCR displayed increasing trend through winter and spring months, peaking in March at approximately 1.1 L/hr before declining. This pattern correlates with cold-start enrichment requirements and cabin heating loads.</a:t>
            </a:r>
            <a:endParaRPr lang="en-US" sz="1800" dirty="0"/>
          </a:p>
        </p:txBody>
      </p:sp>
      <p:sp>
        <p:nvSpPr>
          <p:cNvPr id="8" name="Text 6"/>
          <p:cNvSpPr/>
          <p:nvPr/>
        </p:nvSpPr>
        <p:spPr>
          <a:xfrm>
            <a:off x="7608808" y="4332327"/>
            <a:ext cx="6165413"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 February spike (&gt;1.2 L/hr) coincides with the coldest recorded temperatures, demonstrating the profound impact of thermal management on conventional vehicle efficiency.</a:t>
            </a:r>
            <a:endParaRPr lang="en-US" sz="1800" dirty="0"/>
          </a:p>
        </p:txBody>
      </p:sp>
      <p:sp>
        <p:nvSpPr>
          <p:cNvPr id="9" name="Shape 7"/>
          <p:cNvSpPr/>
          <p:nvPr/>
        </p:nvSpPr>
        <p:spPr>
          <a:xfrm>
            <a:off x="863798" y="6330597"/>
            <a:ext cx="12902803" cy="36909"/>
          </a:xfrm>
          <a:prstGeom prst="rect">
            <a:avLst/>
          </a:prstGeom>
          <a:solidFill>
            <a:srgbClr val="3D3838">
              <a:alpha val="50000"/>
            </a:srgbClr>
          </a:solidFill>
          <a:ln/>
        </p:spPr>
      </p:sp>
      <p:sp>
        <p:nvSpPr>
          <p:cNvPr id="10" name="Text 8"/>
          <p:cNvSpPr/>
          <p:nvPr/>
        </p:nvSpPr>
        <p:spPr>
          <a:xfrm>
            <a:off x="863798" y="6631186"/>
            <a:ext cx="12902803" cy="703183"/>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These temporal patterns validate our feature engineering approach—temperature categorization and temporal variables capture real-world phenomena critical to accurate energy modeling.</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4477" y="451366"/>
            <a:ext cx="8712994" cy="443032"/>
          </a:xfrm>
          <a:prstGeom prst="rect">
            <a:avLst/>
          </a:prstGeom>
          <a:noFill/>
          <a:ln/>
        </p:spPr>
        <p:txBody>
          <a:bodyPr wrap="none" lIns="0" tIns="0" rIns="0" bIns="0" rtlCol="0" anchor="t"/>
          <a:lstStyle/>
          <a:p>
            <a:pPr algn="l" indent="0" marL="0">
              <a:lnSpc>
                <a:spcPts val="3450"/>
              </a:lnSpc>
              <a:buNone/>
            </a:pPr>
            <a:r>
              <a:rPr lang="en-US" sz="2750" b="1" dirty="0">
                <a:solidFill>
                  <a:srgbClr val="000000"/>
                </a:solidFill>
                <a:latin typeface="Montserrat Bold" pitchFamily="34" charset="0"/>
                <a:ea typeface="Montserrat Bold" pitchFamily="34" charset="-122"/>
                <a:cs typeface="Montserrat Bold" pitchFamily="34" charset="-120"/>
              </a:rPr>
              <a:t>Geospatial Distribution: Trip Density Heatmaps</a:t>
            </a:r>
            <a:endParaRPr lang="en-US" sz="2750" dirty="0"/>
          </a:p>
        </p:txBody>
      </p:sp>
      <p:sp>
        <p:nvSpPr>
          <p:cNvPr id="3" name="Text 1"/>
          <p:cNvSpPr/>
          <p:nvPr/>
        </p:nvSpPr>
        <p:spPr>
          <a:xfrm>
            <a:off x="574477" y="1206222"/>
            <a:ext cx="13481447" cy="467916"/>
          </a:xfrm>
          <a:prstGeom prst="rect">
            <a:avLst/>
          </a:prstGeom>
          <a:noFill/>
          <a:ln/>
        </p:spPr>
        <p:txBody>
          <a:bodyPr wrap="square" lIns="0" tIns="0" rIns="0" bIns="0" rtlCol="0" anchor="t"/>
          <a:lstStyle/>
          <a:p>
            <a:pPr algn="l" indent="0" marL="0">
              <a:lnSpc>
                <a:spcPts val="1800"/>
              </a:lnSpc>
              <a:buNone/>
            </a:pPr>
            <a:r>
              <a:rPr lang="en-US" sz="1200" dirty="0">
                <a:solidFill>
                  <a:srgbClr val="3D3838"/>
                </a:solidFill>
                <a:latin typeface="Source Sans 3" pitchFamily="34" charset="0"/>
                <a:ea typeface="Source Sans 3" pitchFamily="34" charset="-122"/>
                <a:cs typeface="Source Sans 3" pitchFamily="34" charset="-120"/>
              </a:rPr>
              <a:t>Vehicle trip patterns reveal concentrated activity corridors within Ann Arbor, with distinct spatial preferences by powertrain type. ICE vehicles exhibited broader geographic dispersion, while EVs clustered near charging infrastructure. HEV and PHEV patterns fell intermediate, suggesting flexible operation unconstrained by charging availability.</a:t>
            </a:r>
            <a:endParaRPr lang="en-US" sz="1200" dirty="0"/>
          </a:p>
        </p:txBody>
      </p:sp>
      <p:pic>
        <p:nvPicPr>
          <p:cNvPr id="4" name="Image 0" descr="preencoded.png">    </p:cNvPr>
          <p:cNvPicPr>
            <a:picLocks noChangeAspect="1"/>
          </p:cNvPicPr>
          <p:nvPr/>
        </p:nvPicPr>
        <p:blipFill>
          <a:blip r:embed="rId1"/>
          <a:stretch>
            <a:fillRect/>
          </a:stretch>
        </p:blipFill>
        <p:spPr>
          <a:xfrm>
            <a:off x="911543" y="1849517"/>
            <a:ext cx="12807315" cy="6409968"/>
          </a:xfrm>
          <a:prstGeom prst="rect">
            <a:avLst/>
          </a:prstGeom>
        </p:spPr>
      </p:pic>
      <p:sp>
        <p:nvSpPr>
          <p:cNvPr id="5" name="Text 2"/>
          <p:cNvSpPr/>
          <p:nvPr/>
        </p:nvSpPr>
        <p:spPr>
          <a:xfrm>
            <a:off x="969204" y="4637885"/>
            <a:ext cx="2405337" cy="654111"/>
          </a:xfrm>
          <a:prstGeom prst="rect">
            <a:avLst/>
          </a:prstGeom>
          <a:noFill/>
          <a:ln/>
        </p:spPr>
        <p:txBody>
          <a:bodyPr wrap="square" lIns="0" tIns="0" rIns="0" bIns="0" rtlCol="0" anchor="t"/>
          <a:lstStyle/>
          <a:p>
            <a:pPr algn="ctr" indent="0" marL="0">
              <a:lnSpc>
                <a:spcPts val="1500"/>
              </a:lnSpc>
              <a:buNone/>
            </a:pPr>
            <a:r>
              <a:rPr lang="en-US" sz="1200" b="1" dirty="0">
                <a:solidFill>
                  <a:srgbClr val="3D3838"/>
                </a:solidFill>
                <a:latin typeface="Montserrat Bold" pitchFamily="34" charset="0"/>
                <a:ea typeface="Montserrat Bold" pitchFamily="34" charset="-122"/>
                <a:cs typeface="Montserrat Bold" pitchFamily="34" charset="-120"/>
              </a:rPr>
              <a:t>Low Longitude Density</a:t>
            </a:r>
            <a:endParaRPr lang="en-US" sz="1200" dirty="0"/>
          </a:p>
        </p:txBody>
      </p:sp>
      <p:sp>
        <p:nvSpPr>
          <p:cNvPr id="6" name="Text 3"/>
          <p:cNvSpPr/>
          <p:nvPr/>
        </p:nvSpPr>
        <p:spPr>
          <a:xfrm>
            <a:off x="5861842" y="7730118"/>
            <a:ext cx="2912513" cy="327056"/>
          </a:xfrm>
          <a:prstGeom prst="rect">
            <a:avLst/>
          </a:prstGeom>
          <a:noFill/>
          <a:ln/>
        </p:spPr>
        <p:txBody>
          <a:bodyPr wrap="none" lIns="0" tIns="0" rIns="0" bIns="0" rtlCol="0" anchor="t"/>
          <a:lstStyle/>
          <a:p>
            <a:pPr algn="ctr" indent="0" marL="0">
              <a:lnSpc>
                <a:spcPts val="1500"/>
              </a:lnSpc>
              <a:buNone/>
            </a:pPr>
            <a:r>
              <a:rPr lang="en-US" sz="1200" b="1" dirty="0">
                <a:solidFill>
                  <a:srgbClr val="3D3838"/>
                </a:solidFill>
                <a:latin typeface="Montserrat Bold" pitchFamily="34" charset="0"/>
                <a:ea typeface="Montserrat Bold" pitchFamily="34" charset="-122"/>
                <a:cs typeface="Montserrat Bold" pitchFamily="34" charset="-120"/>
              </a:rPr>
              <a:t>Low Latitude Density</a:t>
            </a:r>
            <a:endParaRPr lang="en-US" sz="1200" dirty="0"/>
          </a:p>
        </p:txBody>
      </p:sp>
      <p:sp>
        <p:nvSpPr>
          <p:cNvPr id="7" name="Text 4"/>
          <p:cNvSpPr/>
          <p:nvPr/>
        </p:nvSpPr>
        <p:spPr>
          <a:xfrm>
            <a:off x="11243064" y="4637885"/>
            <a:ext cx="2405337" cy="654111"/>
          </a:xfrm>
          <a:prstGeom prst="rect">
            <a:avLst/>
          </a:prstGeom>
          <a:noFill/>
          <a:ln/>
        </p:spPr>
        <p:txBody>
          <a:bodyPr wrap="square" lIns="0" tIns="0" rIns="0" bIns="0" rtlCol="0" anchor="t"/>
          <a:lstStyle/>
          <a:p>
            <a:pPr algn="ctr" indent="0" marL="0">
              <a:lnSpc>
                <a:spcPts val="1500"/>
              </a:lnSpc>
              <a:buNone/>
            </a:pPr>
            <a:r>
              <a:rPr lang="en-US" sz="1200" b="1" dirty="0">
                <a:solidFill>
                  <a:srgbClr val="3D3838"/>
                </a:solidFill>
                <a:latin typeface="Montserrat Bold" pitchFamily="34" charset="0"/>
                <a:ea typeface="Montserrat Bold" pitchFamily="34" charset="-122"/>
                <a:cs typeface="Montserrat Bold" pitchFamily="34" charset="-120"/>
              </a:rPr>
              <a:t>High Longitude Density</a:t>
            </a:r>
            <a:endParaRPr lang="en-US" sz="1200" dirty="0"/>
          </a:p>
        </p:txBody>
      </p:sp>
      <p:sp>
        <p:nvSpPr>
          <p:cNvPr id="8" name="Text 5"/>
          <p:cNvSpPr/>
          <p:nvPr/>
        </p:nvSpPr>
        <p:spPr>
          <a:xfrm>
            <a:off x="5812464" y="2128993"/>
            <a:ext cx="2996876" cy="327056"/>
          </a:xfrm>
          <a:prstGeom prst="rect">
            <a:avLst/>
          </a:prstGeom>
          <a:noFill/>
          <a:ln/>
        </p:spPr>
        <p:txBody>
          <a:bodyPr wrap="none" lIns="0" tIns="0" rIns="0" bIns="0" rtlCol="0" anchor="t"/>
          <a:lstStyle/>
          <a:p>
            <a:pPr algn="ctr" indent="0" marL="0">
              <a:lnSpc>
                <a:spcPts val="1500"/>
              </a:lnSpc>
              <a:buNone/>
            </a:pPr>
            <a:r>
              <a:rPr lang="en-US" sz="1200" b="1" dirty="0">
                <a:solidFill>
                  <a:srgbClr val="3D3838"/>
                </a:solidFill>
                <a:latin typeface="Montserrat Bold" pitchFamily="34" charset="0"/>
                <a:ea typeface="Montserrat Bold" pitchFamily="34" charset="-122"/>
                <a:cs typeface="Montserrat Bold" pitchFamily="34" charset="-120"/>
              </a:rPr>
              <a:t>High Latitude Density</a:t>
            </a:r>
            <a:endParaRPr lang="en-US" sz="1200" dirty="0"/>
          </a:p>
        </p:txBody>
      </p:sp>
      <p:sp>
        <p:nvSpPr>
          <p:cNvPr id="9" name="Text 6"/>
          <p:cNvSpPr/>
          <p:nvPr/>
        </p:nvSpPr>
        <p:spPr>
          <a:xfrm>
            <a:off x="4500443" y="6289155"/>
            <a:ext cx="2469309" cy="575746"/>
          </a:xfrm>
          <a:prstGeom prst="rect">
            <a:avLst/>
          </a:prstGeom>
          <a:noFill/>
          <a:ln/>
        </p:spPr>
        <p:txBody>
          <a:bodyPr wrap="square" lIns="0" tIns="0" rIns="0" bIns="0" rtlCol="0" anchor="t"/>
          <a:lstStyle/>
          <a:p>
            <a:pPr algn="ctr" indent="0" marL="0">
              <a:lnSpc>
                <a:spcPts val="1350"/>
              </a:lnSpc>
              <a:buNone/>
            </a:pPr>
            <a:r>
              <a:rPr lang="en-US" sz="1050" dirty="0">
                <a:solidFill>
                  <a:srgbClr val="3D3838"/>
                </a:solidFill>
                <a:latin typeface="Source Sans 3" pitchFamily="34" charset="0"/>
                <a:ea typeface="Source Sans 3" pitchFamily="34" charset="-122"/>
                <a:cs typeface="Source Sans 3" pitchFamily="34" charset="-120"/>
              </a:rPr>
              <a:t>PHEV — Clustered near amenities</a:t>
            </a:r>
            <a:endParaRPr lang="en-US" sz="1050" dirty="0"/>
          </a:p>
        </p:txBody>
      </p:sp>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0811" y="5513898"/>
            <a:ext cx="358242" cy="358242"/>
          </a:xfrm>
          <a:prstGeom prst="rect">
            <a:avLst/>
          </a:prstGeom>
        </p:spPr>
      </p:pic>
      <p:sp>
        <p:nvSpPr>
          <p:cNvPr id="11" name="Text 7"/>
          <p:cNvSpPr/>
          <p:nvPr/>
        </p:nvSpPr>
        <p:spPr>
          <a:xfrm>
            <a:off x="7890945" y="6301950"/>
            <a:ext cx="2469309" cy="575745"/>
          </a:xfrm>
          <a:prstGeom prst="rect">
            <a:avLst/>
          </a:prstGeom>
          <a:noFill/>
          <a:ln/>
        </p:spPr>
        <p:txBody>
          <a:bodyPr wrap="square" lIns="0" tIns="0" rIns="0" bIns="0" rtlCol="0" anchor="t"/>
          <a:lstStyle/>
          <a:p>
            <a:pPr algn="ctr" indent="0" marL="0">
              <a:lnSpc>
                <a:spcPts val="1350"/>
              </a:lnSpc>
              <a:buNone/>
            </a:pPr>
            <a:r>
              <a:rPr lang="en-US" sz="1050" dirty="0">
                <a:solidFill>
                  <a:srgbClr val="3D3838"/>
                </a:solidFill>
                <a:latin typeface="Source Sans 3" pitchFamily="34" charset="0"/>
                <a:ea typeface="Source Sans 3" pitchFamily="34" charset="-122"/>
                <a:cs typeface="Source Sans 3" pitchFamily="34" charset="-120"/>
              </a:rPr>
              <a:t>EV — Tight high-density clusters</a:t>
            </a:r>
            <a:endParaRPr lang="en-US" sz="10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46479" y="5521495"/>
            <a:ext cx="358242" cy="358241"/>
          </a:xfrm>
          <a:prstGeom prst="rect">
            <a:avLst/>
          </a:prstGeom>
        </p:spPr>
      </p:pic>
      <p:sp>
        <p:nvSpPr>
          <p:cNvPr id="13" name="Text 8"/>
          <p:cNvSpPr/>
          <p:nvPr/>
        </p:nvSpPr>
        <p:spPr>
          <a:xfrm>
            <a:off x="7890945" y="3934995"/>
            <a:ext cx="2469309" cy="575746"/>
          </a:xfrm>
          <a:prstGeom prst="rect">
            <a:avLst/>
          </a:prstGeom>
          <a:noFill/>
          <a:ln/>
        </p:spPr>
        <p:txBody>
          <a:bodyPr wrap="square" lIns="0" tIns="0" rIns="0" bIns="0" rtlCol="0" anchor="t"/>
          <a:lstStyle/>
          <a:p>
            <a:pPr algn="ctr" indent="0" marL="0">
              <a:lnSpc>
                <a:spcPts val="1350"/>
              </a:lnSpc>
              <a:buNone/>
            </a:pPr>
            <a:r>
              <a:rPr lang="en-US" sz="1050" dirty="0">
                <a:solidFill>
                  <a:srgbClr val="3D3838"/>
                </a:solidFill>
                <a:latin typeface="Source Sans 3" pitchFamily="34" charset="0"/>
                <a:ea typeface="Source Sans 3" pitchFamily="34" charset="-122"/>
                <a:cs typeface="Source Sans 3" pitchFamily="34" charset="-120"/>
              </a:rPr>
              <a:t>HEV — Corridor-focused with hotspots</a:t>
            </a:r>
            <a:endParaRPr lang="en-US" sz="105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46479" y="3154540"/>
            <a:ext cx="358242" cy="358242"/>
          </a:xfrm>
          <a:prstGeom prst="rect">
            <a:avLst/>
          </a:prstGeom>
        </p:spPr>
      </p:pic>
      <p:sp>
        <p:nvSpPr>
          <p:cNvPr id="15" name="Text 9"/>
          <p:cNvSpPr/>
          <p:nvPr/>
        </p:nvSpPr>
        <p:spPr>
          <a:xfrm>
            <a:off x="4423678" y="3934995"/>
            <a:ext cx="2469309" cy="575746"/>
          </a:xfrm>
          <a:prstGeom prst="rect">
            <a:avLst/>
          </a:prstGeom>
          <a:noFill/>
          <a:ln/>
        </p:spPr>
        <p:txBody>
          <a:bodyPr wrap="square" lIns="0" tIns="0" rIns="0" bIns="0" rtlCol="0" anchor="t"/>
          <a:lstStyle/>
          <a:p>
            <a:pPr algn="ctr" indent="0" marL="0">
              <a:lnSpc>
                <a:spcPts val="1350"/>
              </a:lnSpc>
              <a:buNone/>
            </a:pPr>
            <a:r>
              <a:rPr lang="en-US" sz="1050" dirty="0">
                <a:solidFill>
                  <a:srgbClr val="3D3838"/>
                </a:solidFill>
                <a:latin typeface="Source Sans 3" pitchFamily="34" charset="0"/>
                <a:ea typeface="Source Sans 3" pitchFamily="34" charset="-122"/>
                <a:cs typeface="Source Sans 3" pitchFamily="34" charset="-120"/>
              </a:rPr>
              <a:t>ICE — Broad dispersion, moderate peaks</a:t>
            </a:r>
            <a:endParaRPr lang="en-US" sz="105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79211" y="3154540"/>
            <a:ext cx="358242" cy="358242"/>
          </a:xfrm>
          <a:prstGeom prst="rect">
            <a:avLst/>
          </a:prstGeom>
        </p:spPr>
      </p:pic>
      <p:sp>
        <p:nvSpPr>
          <p:cNvPr id="17" name="Text 10"/>
          <p:cNvSpPr/>
          <p:nvPr/>
        </p:nvSpPr>
        <p:spPr>
          <a:xfrm>
            <a:off x="574477" y="8434864"/>
            <a:ext cx="13481447" cy="467916"/>
          </a:xfrm>
          <a:prstGeom prst="rect">
            <a:avLst/>
          </a:prstGeom>
          <a:noFill/>
          <a:ln/>
        </p:spPr>
        <p:txBody>
          <a:bodyPr wrap="square" lIns="0" tIns="0" rIns="0" bIns="0" rtlCol="0" anchor="t"/>
          <a:lstStyle/>
          <a:p>
            <a:pPr algn="l" indent="0" marL="0">
              <a:lnSpc>
                <a:spcPts val="1800"/>
              </a:lnSpc>
              <a:buNone/>
            </a:pPr>
            <a:r>
              <a:rPr lang="en-US" sz="1200" dirty="0">
                <a:solidFill>
                  <a:srgbClr val="3D3838"/>
                </a:solidFill>
                <a:latin typeface="Source Sans 3" pitchFamily="34" charset="0"/>
                <a:ea typeface="Source Sans 3" pitchFamily="34" charset="-122"/>
                <a:cs typeface="Source Sans 3" pitchFamily="34" charset="-120"/>
              </a:rPr>
              <a:t>The logarithmic color scale emphasizes activity hotspots: university campus, downtown corridor, and major thoroughfares. EV trip concentration around charging nodes (42.28°N, -83.74°W) demonstrates infrastructure dependency, while ICE vehicles show uniform distribution reflecting ubiquitous refueling access.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1095137"/>
            <a:ext cx="12042696" cy="631031"/>
          </a:xfrm>
          <a:prstGeom prst="rect">
            <a:avLst/>
          </a:prstGeom>
          <a:noFill/>
          <a:ln/>
        </p:spPr>
        <p:txBody>
          <a:bodyPr wrap="none" lIns="0" tIns="0" rIns="0" bIns="0" rtlCol="0" anchor="t"/>
          <a:lstStyle/>
          <a:p>
            <a:pPr algn="l" indent="0" marL="0">
              <a:lnSpc>
                <a:spcPts val="4950"/>
              </a:lnSpc>
              <a:buNone/>
            </a:pPr>
            <a:r>
              <a:rPr lang="en-US" sz="3950" b="1" dirty="0">
                <a:solidFill>
                  <a:srgbClr val="000000"/>
                </a:solidFill>
                <a:latin typeface="Montserrat Bold" pitchFamily="34" charset="0"/>
                <a:ea typeface="Montserrat Bold" pitchFamily="34" charset="-122"/>
                <a:cs typeface="Montserrat Bold" pitchFamily="34" charset="-120"/>
              </a:rPr>
              <a:t>Energy Consumption: ICE vs HEV Comparison</a:t>
            </a:r>
            <a:endParaRPr lang="en-US" sz="3950" dirty="0"/>
          </a:p>
        </p:txBody>
      </p:sp>
      <p:sp>
        <p:nvSpPr>
          <p:cNvPr id="3" name="Text 1"/>
          <p:cNvSpPr/>
          <p:nvPr/>
        </p:nvSpPr>
        <p:spPr>
          <a:xfrm>
            <a:off x="863798" y="2281357"/>
            <a:ext cx="2590324" cy="31551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Trip-Based Analysis</a:t>
            </a:r>
            <a:endParaRPr lang="en-US" sz="1950" dirty="0"/>
          </a:p>
        </p:txBody>
      </p:sp>
      <p:sp>
        <p:nvSpPr>
          <p:cNvPr id="4" name="Text 2"/>
          <p:cNvSpPr/>
          <p:nvPr/>
        </p:nvSpPr>
        <p:spPr>
          <a:xfrm>
            <a:off x="863798" y="2818924"/>
            <a:ext cx="6180415" cy="1666280"/>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When analyzing average energy consumption per trip, ICE vehicles demonstrated higher fuel consumption rates at longer distances (FCR approaching 2.3 L/hr at maximum observed distance). The relationship shows positive correlation with significant scatter, indicating trip-specific factors like traffic and driving style.</a:t>
            </a:r>
            <a:endParaRPr lang="en-US" sz="1700" dirty="0"/>
          </a:p>
        </p:txBody>
      </p:sp>
      <p:sp>
        <p:nvSpPr>
          <p:cNvPr id="5" name="Text 3"/>
          <p:cNvSpPr/>
          <p:nvPr/>
        </p:nvSpPr>
        <p:spPr>
          <a:xfrm>
            <a:off x="863798" y="4685109"/>
            <a:ext cx="6180415" cy="1333024"/>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HEV vehicles exhibited substantially lower fuel consumption (FCR &lt; 2.1 L/hr) with tighter clustering around 0.5-0.7 L/hr, demonstrating consistent efficiency gains from regenerative braking and engine shutoff capabilities during low-speed operation.</a:t>
            </a:r>
            <a:endParaRPr lang="en-US" sz="1700" dirty="0"/>
          </a:p>
        </p:txBody>
      </p:sp>
      <p:sp>
        <p:nvSpPr>
          <p:cNvPr id="6" name="Text 4"/>
          <p:cNvSpPr/>
          <p:nvPr/>
        </p:nvSpPr>
        <p:spPr>
          <a:xfrm>
            <a:off x="7593806" y="2281357"/>
            <a:ext cx="2524363" cy="315516"/>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Montserrat Bold" pitchFamily="34" charset="0"/>
                <a:ea typeface="Montserrat Bold" pitchFamily="34" charset="-122"/>
                <a:cs typeface="Montserrat Bold" pitchFamily="34" charset="-120"/>
              </a:rPr>
              <a:t>Temporal Analysis</a:t>
            </a:r>
            <a:endParaRPr lang="en-US" sz="1950" dirty="0"/>
          </a:p>
        </p:txBody>
      </p:sp>
      <p:sp>
        <p:nvSpPr>
          <p:cNvPr id="7" name="Text 5"/>
          <p:cNvSpPr/>
          <p:nvPr/>
        </p:nvSpPr>
        <p:spPr>
          <a:xfrm>
            <a:off x="7593806" y="2818924"/>
            <a:ext cx="6180415" cy="999768"/>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Time-based aggregation revealed seasonal patterns more clearly. ICE consumption peaked during winter months (FCR &gt; 1.0 L/hr) due to cold-start enrichment and thermal management loads.</a:t>
            </a:r>
            <a:endParaRPr lang="en-US" sz="1700" dirty="0"/>
          </a:p>
        </p:txBody>
      </p:sp>
      <p:sp>
        <p:nvSpPr>
          <p:cNvPr id="8" name="Text 6"/>
          <p:cNvSpPr/>
          <p:nvPr/>
        </p:nvSpPr>
        <p:spPr>
          <a:xfrm>
            <a:off x="7593806" y="4018598"/>
            <a:ext cx="6180415" cy="1333024"/>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HEV efficiency advantage narrowed during extreme cold, as battery performance limitations forced increased engine reliance. However, HEVs maintained 20-30% lower fuel consumption across all seasons, validating hybrid architecture benefits.</a:t>
            </a:r>
            <a:endParaRPr lang="en-US" sz="1700" dirty="0"/>
          </a:p>
        </p:txBody>
      </p:sp>
      <p:sp>
        <p:nvSpPr>
          <p:cNvPr id="9" name="Text 7"/>
          <p:cNvSpPr/>
          <p:nvPr/>
        </p:nvSpPr>
        <p:spPr>
          <a:xfrm>
            <a:off x="863798" y="6467951"/>
            <a:ext cx="12902803" cy="666512"/>
          </a:xfrm>
          <a:prstGeom prst="rect">
            <a:avLst/>
          </a:prstGeom>
          <a:noFill/>
          <a:ln/>
        </p:spPr>
        <p:txBody>
          <a:bodyPr wrap="square" lIns="0" tIns="0" rIns="0" bIns="0" rtlCol="0" anchor="t"/>
          <a:lstStyle/>
          <a:p>
            <a:pPr algn="l" indent="0" marL="0">
              <a:lnSpc>
                <a:spcPts val="2600"/>
              </a:lnSpc>
              <a:buNone/>
            </a:pPr>
            <a:r>
              <a:rPr lang="en-US" sz="1700" dirty="0">
                <a:solidFill>
                  <a:srgbClr val="3D3838"/>
                </a:solidFill>
                <a:latin typeface="Source Sans 3" pitchFamily="34" charset="0"/>
                <a:ea typeface="Source Sans 3" pitchFamily="34" charset="-122"/>
                <a:cs typeface="Source Sans 3" pitchFamily="34" charset="-120"/>
              </a:rPr>
              <a:t>The divergence at high speeds (distance &gt; 10 km) suggests highway driving diminishes hybrid advantages as regenerative braking opportunities decrease and engine operation becomes continuous.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693896"/>
            <a:ext cx="10001369" cy="666155"/>
          </a:xfrm>
          <a:prstGeom prst="rect">
            <a:avLst/>
          </a:prstGeom>
          <a:noFill/>
          <a:ln/>
        </p:spPr>
        <p:txBody>
          <a:bodyPr wrap="none" lIns="0" tIns="0" rIns="0" bIns="0" rtlCol="0" anchor="t"/>
          <a:lstStyle/>
          <a:p>
            <a:pPr algn="l" indent="0" marL="0">
              <a:lnSpc>
                <a:spcPts val="5200"/>
              </a:lnSpc>
              <a:buNone/>
            </a:pPr>
            <a:r>
              <a:rPr lang="en-US" sz="4150" b="1" dirty="0">
                <a:solidFill>
                  <a:srgbClr val="000000"/>
                </a:solidFill>
                <a:latin typeface="Montserrat Bold" pitchFamily="34" charset="0"/>
                <a:ea typeface="Montserrat Bold" pitchFamily="34" charset="-122"/>
                <a:cs typeface="Montserrat Bold" pitchFamily="34" charset="-120"/>
              </a:rPr>
              <a:t>Electric Power Analysis: EV vs PHEV</a:t>
            </a:r>
            <a:endParaRPr lang="en-US" sz="4150" dirty="0"/>
          </a:p>
        </p:txBody>
      </p:sp>
      <p:sp>
        <p:nvSpPr>
          <p:cNvPr id="3" name="Text 1"/>
          <p:cNvSpPr/>
          <p:nvPr/>
        </p:nvSpPr>
        <p:spPr>
          <a:xfrm>
            <a:off x="863798" y="1828919"/>
            <a:ext cx="12902803" cy="1054775"/>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Battery power consumption patterns differed markedly between pure EVs and plug-in hybrids. EVs demonstrated power draw ranging from -14,000 to +7,000 Watts (charging), with strong negative correlation to speed—higher velocities demand more battery power for propulsion.</a:t>
            </a:r>
            <a:endParaRPr lang="en-US" sz="1800" dirty="0"/>
          </a:p>
        </p:txBody>
      </p:sp>
      <p:sp>
        <p:nvSpPr>
          <p:cNvPr id="4" name="Text 2"/>
          <p:cNvSpPr/>
          <p:nvPr/>
        </p:nvSpPr>
        <p:spPr>
          <a:xfrm>
            <a:off x="863798" y="3381851"/>
            <a:ext cx="3496628"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EV Power Characteristics</a:t>
            </a:r>
            <a:endParaRPr lang="en-US" sz="2050" dirty="0"/>
          </a:p>
        </p:txBody>
      </p:sp>
      <p:sp>
        <p:nvSpPr>
          <p:cNvPr id="5" name="Text 3"/>
          <p:cNvSpPr/>
          <p:nvPr/>
        </p:nvSpPr>
        <p:spPr>
          <a:xfrm>
            <a:off x="863798" y="3949303"/>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Pure electric vehicles showed consistent power-speed relationships regardless of trip or time-based aggregation. The negative power values (up to -13.8 kW) represent traction battery discharge during acceleration and cruising.</a:t>
            </a:r>
            <a:endParaRPr lang="en-US" sz="1800" dirty="0"/>
          </a:p>
        </p:txBody>
      </p:sp>
      <p:sp>
        <p:nvSpPr>
          <p:cNvPr id="6" name="Text 4"/>
          <p:cNvSpPr/>
          <p:nvPr/>
        </p:nvSpPr>
        <p:spPr>
          <a:xfrm>
            <a:off x="863798" y="5566648"/>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Regenerative braking events appear as positive power spikes, though less frequent than expected—suggesting aggressive regen settings or highway-heavy duty cycles with limited deceleration opportunities.</a:t>
            </a:r>
            <a:endParaRPr lang="en-US" sz="1800" dirty="0"/>
          </a:p>
        </p:txBody>
      </p:sp>
      <p:sp>
        <p:nvSpPr>
          <p:cNvPr id="7" name="Text 5"/>
          <p:cNvSpPr/>
          <p:nvPr/>
        </p:nvSpPr>
        <p:spPr>
          <a:xfrm>
            <a:off x="7608808" y="3381851"/>
            <a:ext cx="3210044" cy="333018"/>
          </a:xfrm>
          <a:prstGeom prst="rect">
            <a:avLst/>
          </a:prstGeom>
          <a:noFill/>
          <a:ln/>
        </p:spPr>
        <p:txBody>
          <a:bodyPr wrap="none" lIns="0" tIns="0" rIns="0" bIns="0" rtlCol="0" anchor="t"/>
          <a:lstStyle/>
          <a:p>
            <a:pPr algn="l" indent="0" marL="0">
              <a:lnSpc>
                <a:spcPts val="2600"/>
              </a:lnSpc>
              <a:buNone/>
            </a:pPr>
            <a:r>
              <a:rPr lang="en-US" sz="2050" b="1" dirty="0">
                <a:solidFill>
                  <a:srgbClr val="000000"/>
                </a:solidFill>
                <a:latin typeface="Montserrat Bold" pitchFamily="34" charset="0"/>
                <a:ea typeface="Montserrat Bold" pitchFamily="34" charset="-122"/>
                <a:cs typeface="Montserrat Bold" pitchFamily="34" charset="-120"/>
              </a:rPr>
              <a:t>PHEV Power Dynamics</a:t>
            </a:r>
            <a:endParaRPr lang="en-US" sz="2050" dirty="0"/>
          </a:p>
        </p:txBody>
      </p:sp>
      <p:sp>
        <p:nvSpPr>
          <p:cNvPr id="8" name="Text 6"/>
          <p:cNvSpPr/>
          <p:nvPr/>
        </p:nvSpPr>
        <p:spPr>
          <a:xfrm>
            <a:off x="7608808" y="3949303"/>
            <a:ext cx="6165413" cy="1757958"/>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Plug-in hybrids exhibited bimodal power distribution: electric-only mode (similar to EV) and hybrid mode (lower battery draw with engine assist). This creates the characteristic clustering pattern with both high and low power consumption at similar speeds.</a:t>
            </a:r>
            <a:endParaRPr lang="en-US" sz="1800" dirty="0"/>
          </a:p>
        </p:txBody>
      </p:sp>
      <p:sp>
        <p:nvSpPr>
          <p:cNvPr id="9" name="Text 7"/>
          <p:cNvSpPr/>
          <p:nvPr/>
        </p:nvSpPr>
        <p:spPr>
          <a:xfrm>
            <a:off x="7608808" y="5918240"/>
            <a:ext cx="6165413" cy="1406366"/>
          </a:xfrm>
          <a:prstGeom prst="rect">
            <a:avLst/>
          </a:prstGeom>
          <a:noFill/>
          <a:ln/>
        </p:spPr>
        <p:txBody>
          <a:bodyPr wrap="square" lIns="0" tIns="0" rIns="0" bIns="0" rtlCol="0" anchor="t"/>
          <a:lstStyle/>
          <a:p>
            <a:pPr algn="l" indent="0" marL="0">
              <a:lnSpc>
                <a:spcPts val="2750"/>
              </a:lnSpc>
              <a:buNone/>
            </a:pPr>
            <a:r>
              <a:rPr lang="en-US" sz="1800" dirty="0">
                <a:solidFill>
                  <a:srgbClr val="3D3838"/>
                </a:solidFill>
                <a:latin typeface="Source Sans 3" pitchFamily="34" charset="0"/>
                <a:ea typeface="Source Sans 3" pitchFamily="34" charset="-122"/>
                <a:cs typeface="Source Sans 3" pitchFamily="34" charset="-120"/>
              </a:rPr>
              <a:t>The power variance at equivalent distances (3-5 km trips) demonstrates operating mode flexibility—drivers can select charge-sustaining or charge-depleting strategies based on trip requirements and battery SOC.</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78788" y="721281"/>
            <a:ext cx="2509004" cy="205383"/>
          </a:xfrm>
          <a:prstGeom prst="rect">
            <a:avLst/>
          </a:prstGeom>
          <a:noFill/>
          <a:ln/>
        </p:spPr>
        <p:txBody>
          <a:bodyPr wrap="none" lIns="0" tIns="0" rIns="0" bIns="0" rtlCol="0" anchor="t"/>
          <a:lstStyle/>
          <a:p>
            <a:pPr algn="l" indent="0" marL="0">
              <a:lnSpc>
                <a:spcPts val="1600"/>
              </a:lnSpc>
              <a:buNone/>
            </a:pPr>
            <a:r>
              <a:rPr lang="en-US" sz="1250" b="1" dirty="0">
                <a:solidFill>
                  <a:srgbClr val="000000"/>
                </a:solidFill>
                <a:latin typeface="Montserrat Bold" pitchFamily="34" charset="0"/>
                <a:ea typeface="Montserrat Bold" pitchFamily="34" charset="-122"/>
                <a:cs typeface="Montserrat Bold" pitchFamily="34" charset="-120"/>
              </a:rPr>
              <a:t>Chapter: Predictive Modeling</a:t>
            </a:r>
            <a:endParaRPr lang="en-US" sz="1250" dirty="0"/>
          </a:p>
        </p:txBody>
      </p:sp>
      <p:sp>
        <p:nvSpPr>
          <p:cNvPr id="3" name="Text 1"/>
          <p:cNvSpPr/>
          <p:nvPr/>
        </p:nvSpPr>
        <p:spPr>
          <a:xfrm>
            <a:off x="778788" y="984409"/>
            <a:ext cx="7079337" cy="410885"/>
          </a:xfrm>
          <a:prstGeom prst="rect">
            <a:avLst/>
          </a:prstGeom>
          <a:noFill/>
          <a:ln/>
        </p:spPr>
        <p:txBody>
          <a:bodyPr wrap="none" lIns="0" tIns="0" rIns="0" bIns="0" rtlCol="0" anchor="t"/>
          <a:lstStyle/>
          <a:p>
            <a:pPr algn="l" indent="0" marL="0">
              <a:lnSpc>
                <a:spcPts val="3200"/>
              </a:lnSpc>
              <a:buNone/>
            </a:pPr>
            <a:r>
              <a:rPr lang="en-US" sz="2550" b="1" dirty="0">
                <a:solidFill>
                  <a:srgbClr val="000000"/>
                </a:solidFill>
                <a:latin typeface="Montserrat Bold" pitchFamily="34" charset="0"/>
                <a:ea typeface="Montserrat Bold" pitchFamily="34" charset="-122"/>
                <a:cs typeface="Montserrat Bold" pitchFamily="34" charset="-120"/>
              </a:rPr>
              <a:t>Linear Regression: ICE Fuel Consumption</a:t>
            </a:r>
            <a:endParaRPr lang="en-US" sz="2550" dirty="0"/>
          </a:p>
        </p:txBody>
      </p:sp>
      <p:sp>
        <p:nvSpPr>
          <p:cNvPr id="4" name="Text 2"/>
          <p:cNvSpPr/>
          <p:nvPr/>
        </p:nvSpPr>
        <p:spPr>
          <a:xfrm>
            <a:off x="778788" y="1612225"/>
            <a:ext cx="13072824" cy="216932"/>
          </a:xfrm>
          <a:prstGeom prst="rect">
            <a:avLst/>
          </a:prstGeom>
          <a:noFill/>
          <a:ln/>
        </p:spPr>
        <p:txBody>
          <a:bodyPr wrap="none" lIns="0" tIns="0" rIns="0" bIns="0" rtlCol="0" anchor="t"/>
          <a:lstStyle/>
          <a:p>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We developed four progressively sophisticated regression models for Internal Combustion Engine vehicles, evolving from basic kinematic features to comprehensive powertrain parameters.</a:t>
            </a:r>
            <a:endParaRPr lang="en-US" sz="1100" dirty="0"/>
          </a:p>
        </p:txBody>
      </p:sp>
      <p:pic>
        <p:nvPicPr>
          <p:cNvPr id="5" name="Image 0" descr="preencoded.png">    </p:cNvPr>
          <p:cNvPicPr>
            <a:picLocks noChangeAspect="1"/>
          </p:cNvPicPr>
          <p:nvPr/>
        </p:nvPicPr>
        <p:blipFill>
          <a:blip r:embed="rId1"/>
          <a:stretch>
            <a:fillRect/>
          </a:stretch>
        </p:blipFill>
        <p:spPr>
          <a:xfrm>
            <a:off x="778788" y="1991797"/>
            <a:ext cx="723186" cy="957143"/>
          </a:xfrm>
          <a:prstGeom prst="rect">
            <a:avLst/>
          </a:prstGeom>
        </p:spPr>
      </p:pic>
      <p:sp>
        <p:nvSpPr>
          <p:cNvPr id="6" name="Text 3"/>
          <p:cNvSpPr/>
          <p:nvPr/>
        </p:nvSpPr>
        <p:spPr>
          <a:xfrm>
            <a:off x="1646515" y="1991797"/>
            <a:ext cx="2886908" cy="205383"/>
          </a:xfrm>
          <a:prstGeom prst="rect">
            <a:avLst/>
          </a:prstGeom>
          <a:noFill/>
          <a:ln/>
        </p:spPr>
        <p:txBody>
          <a:bodyPr wrap="none" lIns="0" tIns="0" rIns="0" bIns="0" rtlCol="0" anchor="t"/>
          <a:lstStyle/>
          <a:p>
            <a:pPr algn="l" indent="0" marL="0">
              <a:lnSpc>
                <a:spcPts val="1600"/>
              </a:lnSpc>
              <a:buNone/>
            </a:pPr>
            <a:r>
              <a:rPr lang="en-US" sz="1250" b="1" dirty="0">
                <a:solidFill>
                  <a:srgbClr val="3D3838"/>
                </a:solidFill>
                <a:latin typeface="Montserrat Bold" pitchFamily="34" charset="0"/>
                <a:ea typeface="Montserrat Bold" pitchFamily="34" charset="-122"/>
                <a:cs typeface="Montserrat Bold" pitchFamily="34" charset="-120"/>
              </a:rPr>
              <a:t>Baseline Model: Speed + Distance</a:t>
            </a:r>
            <a:endParaRPr lang="en-US" sz="1250" dirty="0"/>
          </a:p>
        </p:txBody>
      </p:sp>
      <p:sp>
        <p:nvSpPr>
          <p:cNvPr id="7" name="Text 4"/>
          <p:cNvSpPr/>
          <p:nvPr/>
        </p:nvSpPr>
        <p:spPr>
          <a:xfrm>
            <a:off x="1646515" y="2283857"/>
            <a:ext cx="12205097" cy="216932"/>
          </a:xfrm>
          <a:prstGeom prst="rect">
            <a:avLst/>
          </a:prstGeom>
          <a:noFill/>
          <a:ln/>
        </p:spPr>
        <p:txBody>
          <a:bodyPr wrap="none" lIns="0" tIns="0" rIns="0" bIns="0" rtlCol="0" anchor="t"/>
          <a:lstStyle/>
          <a:p>
            <a:pPr algn="l" indent="0" marL="0">
              <a:lnSpc>
                <a:spcPts val="1700"/>
              </a:lnSpc>
              <a:buNone/>
            </a:pPr>
            <a:r>
              <a:rPr lang="en-US" sz="1100" b="1" dirty="0">
                <a:solidFill>
                  <a:srgbClr val="3D3838"/>
                </a:solidFill>
                <a:latin typeface="Source Sans 3" pitchFamily="34" charset="0"/>
                <a:ea typeface="Source Sans 3" pitchFamily="34" charset="-122"/>
                <a:cs typeface="Source Sans 3" pitchFamily="34" charset="-120"/>
              </a:rPr>
              <a:t>R² = 0.187</a:t>
            </a:r>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 | Features: Vehicle Speed, Distance | RMSE: 0.186 L/hr</a:t>
            </a:r>
            <a:endParaRPr lang="en-US" sz="1100" dirty="0"/>
          </a:p>
        </p:txBody>
      </p:sp>
      <p:sp>
        <p:nvSpPr>
          <p:cNvPr id="8" name="Text 5"/>
          <p:cNvSpPr/>
          <p:nvPr/>
        </p:nvSpPr>
        <p:spPr>
          <a:xfrm>
            <a:off x="1646515" y="2587466"/>
            <a:ext cx="12205097" cy="216932"/>
          </a:xfrm>
          <a:prstGeom prst="rect">
            <a:avLst/>
          </a:prstGeom>
          <a:noFill/>
          <a:ln/>
        </p:spPr>
        <p:txBody>
          <a:bodyPr wrap="none" lIns="0" tIns="0" rIns="0" bIns="0" rtlCol="0" anchor="t"/>
          <a:lstStyle/>
          <a:p>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Limited predictive power demonstrates insufficient information from kinematics alone.</a:t>
            </a:r>
            <a:endParaRPr lang="en-US" sz="1100" dirty="0"/>
          </a:p>
        </p:txBody>
      </p:sp>
      <p:pic>
        <p:nvPicPr>
          <p:cNvPr id="9" name="Image 1" descr="preencoded.png">    </p:cNvPr>
          <p:cNvPicPr>
            <a:picLocks noChangeAspect="1"/>
          </p:cNvPicPr>
          <p:nvPr/>
        </p:nvPicPr>
        <p:blipFill>
          <a:blip r:embed="rId2"/>
          <a:stretch>
            <a:fillRect/>
          </a:stretch>
        </p:blipFill>
        <p:spPr>
          <a:xfrm>
            <a:off x="778788" y="3093482"/>
            <a:ext cx="723186" cy="957143"/>
          </a:xfrm>
          <a:prstGeom prst="rect">
            <a:avLst/>
          </a:prstGeom>
        </p:spPr>
      </p:pic>
      <p:sp>
        <p:nvSpPr>
          <p:cNvPr id="10" name="Text 6"/>
          <p:cNvSpPr/>
          <p:nvPr/>
        </p:nvSpPr>
        <p:spPr>
          <a:xfrm>
            <a:off x="1646515" y="3093482"/>
            <a:ext cx="3406973" cy="205383"/>
          </a:xfrm>
          <a:prstGeom prst="rect">
            <a:avLst/>
          </a:prstGeom>
          <a:noFill/>
          <a:ln/>
        </p:spPr>
        <p:txBody>
          <a:bodyPr wrap="none" lIns="0" tIns="0" rIns="0" bIns="0" rtlCol="0" anchor="t"/>
          <a:lstStyle/>
          <a:p>
            <a:pPr algn="l" indent="0" marL="0">
              <a:lnSpc>
                <a:spcPts val="1600"/>
              </a:lnSpc>
              <a:buNone/>
            </a:pPr>
            <a:r>
              <a:rPr lang="en-US" sz="1250" b="1" dirty="0">
                <a:solidFill>
                  <a:srgbClr val="3D3838"/>
                </a:solidFill>
                <a:latin typeface="Montserrat Bold" pitchFamily="34" charset="0"/>
                <a:ea typeface="Montserrat Bold" pitchFamily="34" charset="-122"/>
                <a:cs typeface="Montserrat Bold" pitchFamily="34" charset="-120"/>
              </a:rPr>
              <a:t>Enhanced: Geographic + Environmental</a:t>
            </a:r>
            <a:endParaRPr lang="en-US" sz="1250" dirty="0"/>
          </a:p>
        </p:txBody>
      </p:sp>
      <p:sp>
        <p:nvSpPr>
          <p:cNvPr id="11" name="Text 7"/>
          <p:cNvSpPr/>
          <p:nvPr/>
        </p:nvSpPr>
        <p:spPr>
          <a:xfrm>
            <a:off x="1646515" y="3385542"/>
            <a:ext cx="12205097" cy="216932"/>
          </a:xfrm>
          <a:prstGeom prst="rect">
            <a:avLst/>
          </a:prstGeom>
          <a:noFill/>
          <a:ln/>
        </p:spPr>
        <p:txBody>
          <a:bodyPr wrap="none" lIns="0" tIns="0" rIns="0" bIns="0" rtlCol="0" anchor="t"/>
          <a:lstStyle/>
          <a:p>
            <a:pPr algn="l" indent="0" marL="0">
              <a:lnSpc>
                <a:spcPts val="1700"/>
              </a:lnSpc>
              <a:buNone/>
            </a:pPr>
            <a:r>
              <a:rPr lang="en-US" sz="1100" b="1" dirty="0">
                <a:solidFill>
                  <a:srgbClr val="3D3838"/>
                </a:solidFill>
                <a:latin typeface="Source Sans 3" pitchFamily="34" charset="0"/>
                <a:ea typeface="Source Sans 3" pitchFamily="34" charset="-122"/>
                <a:cs typeface="Source Sans 3" pitchFamily="34" charset="-120"/>
              </a:rPr>
              <a:t>R² = 0.387</a:t>
            </a:r>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 | Added: Lat/Long, RPM, OAT, Weight | RMSE: 0.161 L/hr</a:t>
            </a:r>
            <a:endParaRPr lang="en-US" sz="1100" dirty="0"/>
          </a:p>
        </p:txBody>
      </p:sp>
      <p:sp>
        <p:nvSpPr>
          <p:cNvPr id="12" name="Text 8"/>
          <p:cNvSpPr/>
          <p:nvPr/>
        </p:nvSpPr>
        <p:spPr>
          <a:xfrm>
            <a:off x="1646515" y="3689152"/>
            <a:ext cx="12205097" cy="216932"/>
          </a:xfrm>
          <a:prstGeom prst="rect">
            <a:avLst/>
          </a:prstGeom>
          <a:noFill/>
          <a:ln/>
        </p:spPr>
        <p:txBody>
          <a:bodyPr wrap="none" lIns="0" tIns="0" rIns="0" bIns="0" rtlCol="0" anchor="t"/>
          <a:lstStyle/>
          <a:p>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Doubling R² by incorporating location (altitude proxy) and temperature effects.</a:t>
            </a:r>
            <a:endParaRPr lang="en-US" sz="1100" dirty="0"/>
          </a:p>
        </p:txBody>
      </p:sp>
      <p:pic>
        <p:nvPicPr>
          <p:cNvPr id="13" name="Image 2" descr="preencoded.png">    </p:cNvPr>
          <p:cNvPicPr>
            <a:picLocks noChangeAspect="1"/>
          </p:cNvPicPr>
          <p:nvPr/>
        </p:nvPicPr>
        <p:blipFill>
          <a:blip r:embed="rId3"/>
          <a:stretch>
            <a:fillRect/>
          </a:stretch>
        </p:blipFill>
        <p:spPr>
          <a:xfrm>
            <a:off x="778788" y="4195167"/>
            <a:ext cx="723186" cy="957143"/>
          </a:xfrm>
          <a:prstGeom prst="rect">
            <a:avLst/>
          </a:prstGeom>
        </p:spPr>
      </p:pic>
      <p:sp>
        <p:nvSpPr>
          <p:cNvPr id="14" name="Text 9"/>
          <p:cNvSpPr/>
          <p:nvPr/>
        </p:nvSpPr>
        <p:spPr>
          <a:xfrm>
            <a:off x="1646515" y="4195167"/>
            <a:ext cx="2055852" cy="205383"/>
          </a:xfrm>
          <a:prstGeom prst="rect">
            <a:avLst/>
          </a:prstGeom>
          <a:noFill/>
          <a:ln/>
        </p:spPr>
        <p:txBody>
          <a:bodyPr wrap="none" lIns="0" tIns="0" rIns="0" bIns="0" rtlCol="0" anchor="t"/>
          <a:lstStyle/>
          <a:p>
            <a:pPr algn="l" indent="0" marL="0">
              <a:lnSpc>
                <a:spcPts val="1600"/>
              </a:lnSpc>
              <a:buNone/>
            </a:pPr>
            <a:r>
              <a:rPr lang="en-US" sz="1250" b="1" dirty="0">
                <a:solidFill>
                  <a:srgbClr val="3D3838"/>
                </a:solidFill>
                <a:latin typeface="Montserrat Bold" pitchFamily="34" charset="0"/>
                <a:ea typeface="Montserrat Bold" pitchFamily="34" charset="-122"/>
                <a:cs typeface="Montserrat Bold" pitchFamily="34" charset="-120"/>
              </a:rPr>
              <a:t>Refined: Core Dynamics</a:t>
            </a:r>
            <a:endParaRPr lang="en-US" sz="1250" dirty="0"/>
          </a:p>
        </p:txBody>
      </p:sp>
      <p:sp>
        <p:nvSpPr>
          <p:cNvPr id="15" name="Text 10"/>
          <p:cNvSpPr/>
          <p:nvPr/>
        </p:nvSpPr>
        <p:spPr>
          <a:xfrm>
            <a:off x="1646515" y="4487228"/>
            <a:ext cx="12205097" cy="216932"/>
          </a:xfrm>
          <a:prstGeom prst="rect">
            <a:avLst/>
          </a:prstGeom>
          <a:noFill/>
          <a:ln/>
        </p:spPr>
        <p:txBody>
          <a:bodyPr wrap="none" lIns="0" tIns="0" rIns="0" bIns="0" rtlCol="0" anchor="t"/>
          <a:lstStyle/>
          <a:p>
            <a:pPr algn="l" indent="0" marL="0">
              <a:lnSpc>
                <a:spcPts val="1700"/>
              </a:lnSpc>
              <a:buNone/>
            </a:pPr>
            <a:r>
              <a:rPr lang="en-US" sz="1100" b="1" dirty="0">
                <a:solidFill>
                  <a:srgbClr val="3D3838"/>
                </a:solidFill>
                <a:latin typeface="Source Sans 3" pitchFamily="34" charset="0"/>
                <a:ea typeface="Source Sans 3" pitchFamily="34" charset="-122"/>
                <a:cs typeface="Source Sans 3" pitchFamily="34" charset="-120"/>
              </a:rPr>
              <a:t>R² = 0.384</a:t>
            </a:r>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 | Features: Speed, Distance, RPM, OAT, Weight | RMSE: 0.162 L/hr</a:t>
            </a:r>
            <a:endParaRPr lang="en-US" sz="1100" dirty="0"/>
          </a:p>
        </p:txBody>
      </p:sp>
      <p:sp>
        <p:nvSpPr>
          <p:cNvPr id="16" name="Text 11"/>
          <p:cNvSpPr/>
          <p:nvPr/>
        </p:nvSpPr>
        <p:spPr>
          <a:xfrm>
            <a:off x="1646515" y="4790837"/>
            <a:ext cx="12205097" cy="216932"/>
          </a:xfrm>
          <a:prstGeom prst="rect">
            <a:avLst/>
          </a:prstGeom>
          <a:noFill/>
          <a:ln/>
        </p:spPr>
        <p:txBody>
          <a:bodyPr wrap="none" lIns="0" tIns="0" rIns="0" bIns="0" rtlCol="0" anchor="t"/>
          <a:lstStyle/>
          <a:p>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Removing weak geographic predictors maintains performance with reduced complexity.</a:t>
            </a:r>
            <a:endParaRPr lang="en-US" sz="1100" dirty="0"/>
          </a:p>
        </p:txBody>
      </p:sp>
      <p:pic>
        <p:nvPicPr>
          <p:cNvPr id="17" name="Image 3" descr="preencoded.png">    </p:cNvPr>
          <p:cNvPicPr>
            <a:picLocks noChangeAspect="1"/>
          </p:cNvPicPr>
          <p:nvPr/>
        </p:nvPicPr>
        <p:blipFill>
          <a:blip r:embed="rId4"/>
          <a:stretch>
            <a:fillRect/>
          </a:stretch>
        </p:blipFill>
        <p:spPr>
          <a:xfrm>
            <a:off x="778788" y="5296853"/>
            <a:ext cx="723186" cy="957143"/>
          </a:xfrm>
          <a:prstGeom prst="rect">
            <a:avLst/>
          </a:prstGeom>
        </p:spPr>
      </p:pic>
      <p:sp>
        <p:nvSpPr>
          <p:cNvPr id="18" name="Text 12"/>
          <p:cNvSpPr/>
          <p:nvPr/>
        </p:nvSpPr>
        <p:spPr>
          <a:xfrm>
            <a:off x="1646515" y="5296853"/>
            <a:ext cx="2623780" cy="205383"/>
          </a:xfrm>
          <a:prstGeom prst="rect">
            <a:avLst/>
          </a:prstGeom>
          <a:noFill/>
          <a:ln/>
        </p:spPr>
        <p:txBody>
          <a:bodyPr wrap="none" lIns="0" tIns="0" rIns="0" bIns="0" rtlCol="0" anchor="t"/>
          <a:lstStyle/>
          <a:p>
            <a:pPr algn="l" indent="0" marL="0">
              <a:lnSpc>
                <a:spcPts val="1600"/>
              </a:lnSpc>
              <a:buNone/>
            </a:pPr>
            <a:r>
              <a:rPr lang="en-US" sz="1250" b="1" dirty="0">
                <a:solidFill>
                  <a:srgbClr val="3D3838"/>
                </a:solidFill>
                <a:latin typeface="Montserrat Bold" pitchFamily="34" charset="0"/>
                <a:ea typeface="Montserrat Bold" pitchFamily="34" charset="-122"/>
                <a:cs typeface="Montserrat Bold" pitchFamily="34" charset="-120"/>
              </a:rPr>
              <a:t>Advanced: Powertrain Sensors</a:t>
            </a:r>
            <a:endParaRPr lang="en-US" sz="1250" dirty="0"/>
          </a:p>
        </p:txBody>
      </p:sp>
      <p:sp>
        <p:nvSpPr>
          <p:cNvPr id="19" name="Text 13"/>
          <p:cNvSpPr/>
          <p:nvPr/>
        </p:nvSpPr>
        <p:spPr>
          <a:xfrm>
            <a:off x="1646515" y="5588913"/>
            <a:ext cx="12205097" cy="216932"/>
          </a:xfrm>
          <a:prstGeom prst="rect">
            <a:avLst/>
          </a:prstGeom>
          <a:noFill/>
          <a:ln/>
        </p:spPr>
        <p:txBody>
          <a:bodyPr wrap="none" lIns="0" tIns="0" rIns="0" bIns="0" rtlCol="0" anchor="t"/>
          <a:lstStyle/>
          <a:p>
            <a:pPr algn="l" indent="0" marL="0">
              <a:lnSpc>
                <a:spcPts val="1700"/>
              </a:lnSpc>
              <a:buNone/>
            </a:pPr>
            <a:r>
              <a:rPr lang="en-US" sz="1100" b="1" dirty="0">
                <a:solidFill>
                  <a:srgbClr val="3D3838"/>
                </a:solidFill>
                <a:latin typeface="Source Sans 3" pitchFamily="34" charset="0"/>
                <a:ea typeface="Source Sans 3" pitchFamily="34" charset="-122"/>
                <a:cs typeface="Source Sans 3" pitchFamily="34" charset="-120"/>
              </a:rPr>
              <a:t>R² = 0.689</a:t>
            </a:r>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 | Added: MAF, Load, Fuel Trims (STFT/LTFT Banks 1&amp;2) | RMSE: 0.115 L/hr</a:t>
            </a:r>
            <a:endParaRPr lang="en-US" sz="1100" dirty="0"/>
          </a:p>
        </p:txBody>
      </p:sp>
      <p:sp>
        <p:nvSpPr>
          <p:cNvPr id="20" name="Text 14"/>
          <p:cNvSpPr/>
          <p:nvPr/>
        </p:nvSpPr>
        <p:spPr>
          <a:xfrm>
            <a:off x="1646515" y="5892522"/>
            <a:ext cx="12205097" cy="216932"/>
          </a:xfrm>
          <a:prstGeom prst="rect">
            <a:avLst/>
          </a:prstGeom>
          <a:noFill/>
          <a:ln/>
        </p:spPr>
        <p:txBody>
          <a:bodyPr wrap="none" lIns="0" tIns="0" rIns="0" bIns="0" rtlCol="0" anchor="t"/>
          <a:lstStyle/>
          <a:p>
            <a:pPr algn="l" indent="0" marL="0">
              <a:lnSpc>
                <a:spcPts val="1700"/>
              </a:lnSpc>
              <a:buNone/>
            </a:pPr>
            <a:r>
              <a:rPr lang="en-US" sz="1100" dirty="0">
                <a:solidFill>
                  <a:srgbClr val="3D3838"/>
                </a:solidFill>
                <a:latin typeface="Source Sans 3" pitchFamily="34" charset="0"/>
                <a:ea typeface="Source Sans 3" pitchFamily="34" charset="-122"/>
                <a:cs typeface="Source Sans 3" pitchFamily="34" charset="-120"/>
              </a:rPr>
              <a:t>Achieving production-grade accuracy by incorporating engine control parameters.</a:t>
            </a:r>
            <a:endParaRPr lang="en-US" sz="1100" dirty="0"/>
          </a:p>
        </p:txBody>
      </p:sp>
      <p:sp>
        <p:nvSpPr>
          <p:cNvPr id="21" name="Shape 15"/>
          <p:cNvSpPr/>
          <p:nvPr/>
        </p:nvSpPr>
        <p:spPr>
          <a:xfrm>
            <a:off x="778788" y="6561177"/>
            <a:ext cx="13072824" cy="947023"/>
          </a:xfrm>
          <a:prstGeom prst="roundRect">
            <a:avLst>
              <a:gd name="adj" fmla="val 2291"/>
            </a:avLst>
          </a:prstGeom>
          <a:solidFill>
            <a:srgbClr val="D6D7DC"/>
          </a:solidFill>
          <a:ln/>
        </p:spPr>
      </p:sp>
      <p:pic>
        <p:nvPicPr>
          <p:cNvPr id="22" name="Image 4" descr="preencoded.png">    </p:cNvPr>
          <p:cNvPicPr>
            <a:picLocks noChangeAspect="1"/>
          </p:cNvPicPr>
          <p:nvPr/>
        </p:nvPicPr>
        <p:blipFill>
          <a:blip r:embed="rId5"/>
          <a:stretch>
            <a:fillRect/>
          </a:stretch>
        </p:blipFill>
        <p:spPr>
          <a:xfrm>
            <a:off x="923330" y="6760012"/>
            <a:ext cx="180737" cy="144542"/>
          </a:xfrm>
          <a:prstGeom prst="rect">
            <a:avLst/>
          </a:prstGeom>
        </p:spPr>
      </p:pic>
      <p:sp>
        <p:nvSpPr>
          <p:cNvPr id="23" name="Text 16"/>
          <p:cNvSpPr/>
          <p:nvPr/>
        </p:nvSpPr>
        <p:spPr>
          <a:xfrm>
            <a:off x="1248608" y="6741795"/>
            <a:ext cx="12458462" cy="216932"/>
          </a:xfrm>
          <a:prstGeom prst="rect">
            <a:avLst/>
          </a:prstGeom>
          <a:noFill/>
          <a:ln/>
        </p:spPr>
        <p:txBody>
          <a:bodyPr wrap="none" lIns="0" tIns="0" rIns="0" bIns="0" rtlCol="0" anchor="t"/>
          <a:lstStyle/>
          <a:p>
            <a:pPr algn="l" indent="0" marL="0">
              <a:lnSpc>
                <a:spcPts val="1700"/>
              </a:lnSpc>
              <a:buNone/>
            </a:pPr>
            <a:r>
              <a:rPr lang="en-US" sz="1100" b="1" dirty="0">
                <a:solidFill>
                  <a:srgbClr val="000000"/>
                </a:solidFill>
                <a:latin typeface="Source Sans 3" pitchFamily="34" charset="0"/>
                <a:ea typeface="Source Sans 3" pitchFamily="34" charset="-122"/>
                <a:cs typeface="Source Sans 3" pitchFamily="34" charset="-120"/>
              </a:rPr>
              <a:t>Model Equation (Advanced):</a:t>
            </a:r>
            <a:pPr algn="l" indent="0" marL="0">
              <a:lnSpc>
                <a:spcPts val="1700"/>
              </a:lnSpc>
              <a:buNone/>
            </a:pPr>
            <a:r>
              <a:rPr lang="en-US" sz="1100" dirty="0">
                <a:solidFill>
                  <a:srgbClr val="000000"/>
                </a:solidFill>
                <a:latin typeface="Source Sans 3" pitchFamily="34" charset="0"/>
                <a:ea typeface="Source Sans 3" pitchFamily="34" charset="-122"/>
                <a:cs typeface="Source Sans 3" pitchFamily="34" charset="-120"/>
              </a:rPr>
              <a:t> FCR = 0.0035×Speed + 0.0002×Distance + 0.0001×Weight + 0.0372×MAF + 0.0066×Load - 0.0004×STFT1 + 0.0029×STFT2 + 0.0076×LTFT1 + 0.0005×LTFT2 - 0.242</a:t>
            </a:r>
            <a:endParaRPr lang="en-US" sz="1100" dirty="0"/>
          </a:p>
        </p:txBody>
      </p:sp>
      <p:sp>
        <p:nvSpPr>
          <p:cNvPr id="24" name="Text 17"/>
          <p:cNvSpPr/>
          <p:nvPr/>
        </p:nvSpPr>
        <p:spPr>
          <a:xfrm>
            <a:off x="1248608" y="7088862"/>
            <a:ext cx="12458462" cy="216932"/>
          </a:xfrm>
          <a:prstGeom prst="rect">
            <a:avLst/>
          </a:prstGeom>
          <a:noFill/>
          <a:ln/>
        </p:spPr>
        <p:txBody>
          <a:bodyPr wrap="none" lIns="0" tIns="0" rIns="0" bIns="0" rtlCol="0" anchor="t"/>
          <a:lstStyle/>
          <a:p>
            <a:pPr algn="l" indent="0" marL="0">
              <a:lnSpc>
                <a:spcPts val="1700"/>
              </a:lnSpc>
              <a:buNone/>
            </a:pPr>
            <a:r>
              <a:rPr lang="en-US" sz="1100" dirty="0">
                <a:solidFill>
                  <a:srgbClr val="000000"/>
                </a:solidFill>
                <a:latin typeface="Source Sans 3" pitchFamily="34" charset="0"/>
                <a:ea typeface="Source Sans 3" pitchFamily="34" charset="-122"/>
                <a:cs typeface="Source Sans 3" pitchFamily="34" charset="-120"/>
              </a:rPr>
              <a:t>Mass Air Flow (MAF) emerged as the dominant predictor with coefficient 0.0372, validating its direct relationship to fuel delivery in modern engine control systems.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57488" y="674608"/>
            <a:ext cx="10088999" cy="522089"/>
          </a:xfrm>
          <a:prstGeom prst="rect">
            <a:avLst/>
          </a:prstGeom>
          <a:noFill/>
          <a:ln/>
        </p:spPr>
        <p:txBody>
          <a:bodyPr wrap="none" lIns="0" tIns="0" rIns="0" bIns="0" rtlCol="0" anchor="t"/>
          <a:lstStyle/>
          <a:p>
            <a:pPr algn="l" indent="0" marL="0">
              <a:lnSpc>
                <a:spcPts val="4100"/>
              </a:lnSpc>
              <a:buNone/>
            </a:pPr>
            <a:r>
              <a:rPr lang="en-US" sz="3250" b="1" dirty="0">
                <a:solidFill>
                  <a:srgbClr val="000000"/>
                </a:solidFill>
                <a:latin typeface="Montserrat Bold" pitchFamily="34" charset="0"/>
                <a:ea typeface="Montserrat Bold" pitchFamily="34" charset="-122"/>
                <a:cs typeface="Montserrat Bold" pitchFamily="34" charset="-120"/>
              </a:rPr>
              <a:t>Hybrid Electric Vehicle: Superior Predictability</a:t>
            </a:r>
            <a:endParaRPr lang="en-US" sz="3250" dirty="0"/>
          </a:p>
        </p:txBody>
      </p:sp>
      <p:sp>
        <p:nvSpPr>
          <p:cNvPr id="3" name="Text 1"/>
          <p:cNvSpPr/>
          <p:nvPr/>
        </p:nvSpPr>
        <p:spPr>
          <a:xfrm>
            <a:off x="857488" y="1656040"/>
            <a:ext cx="2834402" cy="260985"/>
          </a:xfrm>
          <a:prstGeom prst="rect">
            <a:avLst/>
          </a:prstGeom>
          <a:noFill/>
          <a:ln/>
        </p:spPr>
        <p:txBody>
          <a:bodyPr wrap="none" lIns="0" tIns="0" rIns="0" bIns="0" rtlCol="0" anchor="t"/>
          <a:lstStyle/>
          <a:p>
            <a:pPr algn="l" indent="0" marL="0">
              <a:lnSpc>
                <a:spcPts val="2050"/>
              </a:lnSpc>
              <a:buNone/>
            </a:pPr>
            <a:r>
              <a:rPr lang="en-US" sz="1600" b="1" dirty="0">
                <a:solidFill>
                  <a:srgbClr val="000000"/>
                </a:solidFill>
                <a:latin typeface="Montserrat Bold" pitchFamily="34" charset="0"/>
                <a:ea typeface="Montserrat Bold" pitchFamily="34" charset="-122"/>
                <a:cs typeface="Montserrat Bold" pitchFamily="34" charset="-120"/>
              </a:rPr>
              <a:t>Single-Feature Excellence</a:t>
            </a:r>
            <a:endParaRPr lang="en-US" sz="1600" dirty="0"/>
          </a:p>
        </p:txBody>
      </p:sp>
      <p:sp>
        <p:nvSpPr>
          <p:cNvPr id="4" name="Text 2"/>
          <p:cNvSpPr/>
          <p:nvPr/>
        </p:nvSpPr>
        <p:spPr>
          <a:xfrm>
            <a:off x="857488" y="2100739"/>
            <a:ext cx="5565458" cy="551021"/>
          </a:xfrm>
          <a:prstGeom prst="rect">
            <a:avLst/>
          </a:prstGeom>
          <a:noFill/>
          <a:ln/>
        </p:spPr>
        <p:txBody>
          <a:bodyPr wrap="square" lIns="0" tIns="0" rIns="0" bIns="0" rtlCol="0" anchor="t"/>
          <a:lstStyle/>
          <a:p>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HEV fuel consumption achieved remarkable accuracy using </a:t>
            </a:r>
            <a:pPr algn="l" indent="0" marL="0">
              <a:lnSpc>
                <a:spcPts val="2150"/>
              </a:lnSpc>
              <a:buNone/>
            </a:pPr>
            <a:r>
              <a:rPr lang="en-US" sz="1400" b="1" dirty="0">
                <a:solidFill>
                  <a:srgbClr val="3D3838"/>
                </a:solidFill>
                <a:latin typeface="Source Sans 3" pitchFamily="34" charset="0"/>
                <a:ea typeface="Source Sans 3" pitchFamily="34" charset="-122"/>
                <a:cs typeface="Source Sans 3" pitchFamily="34" charset="-120"/>
              </a:rPr>
              <a:t>only Mass Air Flow</a:t>
            </a:r>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 as a predictor—the simplest model across all vehicle types.</a:t>
            </a:r>
            <a:endParaRPr lang="en-US" sz="1400" dirty="0"/>
          </a:p>
        </p:txBody>
      </p:sp>
      <p:sp>
        <p:nvSpPr>
          <p:cNvPr id="5" name="Text 3"/>
          <p:cNvSpPr/>
          <p:nvPr/>
        </p:nvSpPr>
        <p:spPr>
          <a:xfrm>
            <a:off x="857488" y="2950250"/>
            <a:ext cx="2667833" cy="606385"/>
          </a:xfrm>
          <a:prstGeom prst="rect">
            <a:avLst/>
          </a:prstGeom>
          <a:noFill/>
          <a:ln/>
        </p:spPr>
        <p:txBody>
          <a:bodyPr wrap="none" lIns="0" tIns="0" rIns="0" bIns="0" rtlCol="0" anchor="t"/>
          <a:lstStyle/>
          <a:p>
            <a:pPr algn="ctr" indent="0" marL="0">
              <a:lnSpc>
                <a:spcPts val="4750"/>
              </a:lnSpc>
              <a:buNone/>
            </a:pPr>
            <a:r>
              <a:rPr lang="en-US" sz="4750" b="1" dirty="0">
                <a:solidFill>
                  <a:srgbClr val="3D3838"/>
                </a:solidFill>
                <a:latin typeface="Montserrat Bold" pitchFamily="34" charset="0"/>
                <a:ea typeface="Montserrat Bold" pitchFamily="34" charset="-122"/>
                <a:cs typeface="Montserrat Bold" pitchFamily="34" charset="-120"/>
              </a:rPr>
              <a:t>0.944</a:t>
            </a:r>
            <a:endParaRPr lang="en-US" sz="4750" dirty="0"/>
          </a:p>
        </p:txBody>
      </p:sp>
      <p:sp>
        <p:nvSpPr>
          <p:cNvPr id="6" name="Text 4"/>
          <p:cNvSpPr/>
          <p:nvPr/>
        </p:nvSpPr>
        <p:spPr>
          <a:xfrm>
            <a:off x="1147286" y="3786188"/>
            <a:ext cx="2088118" cy="260985"/>
          </a:xfrm>
          <a:prstGeom prst="rect">
            <a:avLst/>
          </a:prstGeom>
          <a:noFill/>
          <a:ln/>
        </p:spPr>
        <p:txBody>
          <a:bodyPr wrap="none" lIns="0" tIns="0" rIns="0" bIns="0" rtlCol="0" anchor="t"/>
          <a:lstStyle/>
          <a:p>
            <a:pPr algn="ctr" indent="0" marL="0">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R² Score</a:t>
            </a:r>
            <a:endParaRPr lang="en-US" sz="1600" dirty="0"/>
          </a:p>
        </p:txBody>
      </p:sp>
      <p:sp>
        <p:nvSpPr>
          <p:cNvPr id="7" name="Text 5"/>
          <p:cNvSpPr/>
          <p:nvPr/>
        </p:nvSpPr>
        <p:spPr>
          <a:xfrm>
            <a:off x="857488" y="4230886"/>
            <a:ext cx="2667833" cy="826532"/>
          </a:xfrm>
          <a:prstGeom prst="rect">
            <a:avLst/>
          </a:prstGeom>
          <a:noFill/>
          <a:ln/>
        </p:spPr>
        <p:txBody>
          <a:bodyPr wrap="square" lIns="0" tIns="0" rIns="0" bIns="0" rtlCol="0" anchor="t"/>
          <a:lstStyle/>
          <a:p>
            <a:pPr algn="ctr"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Highest coefficient of determination across all architectures</a:t>
            </a:r>
            <a:endParaRPr lang="en-US" sz="1400" dirty="0"/>
          </a:p>
        </p:txBody>
      </p:sp>
      <p:sp>
        <p:nvSpPr>
          <p:cNvPr id="8" name="Text 6"/>
          <p:cNvSpPr/>
          <p:nvPr/>
        </p:nvSpPr>
        <p:spPr>
          <a:xfrm>
            <a:off x="3754993" y="2950250"/>
            <a:ext cx="2667953" cy="606385"/>
          </a:xfrm>
          <a:prstGeom prst="rect">
            <a:avLst/>
          </a:prstGeom>
          <a:noFill/>
          <a:ln/>
        </p:spPr>
        <p:txBody>
          <a:bodyPr wrap="none" lIns="0" tIns="0" rIns="0" bIns="0" rtlCol="0" anchor="t"/>
          <a:lstStyle/>
          <a:p>
            <a:pPr algn="ctr" indent="0" marL="0">
              <a:lnSpc>
                <a:spcPts val="4750"/>
              </a:lnSpc>
              <a:buNone/>
            </a:pPr>
            <a:r>
              <a:rPr lang="en-US" sz="4750" b="1" dirty="0">
                <a:solidFill>
                  <a:srgbClr val="3D3838"/>
                </a:solidFill>
                <a:latin typeface="Montserrat Bold" pitchFamily="34" charset="0"/>
                <a:ea typeface="Montserrat Bold" pitchFamily="34" charset="-122"/>
                <a:cs typeface="Montserrat Bold" pitchFamily="34" charset="-120"/>
              </a:rPr>
              <a:t>0.036</a:t>
            </a:r>
            <a:endParaRPr lang="en-US" sz="4750" dirty="0"/>
          </a:p>
        </p:txBody>
      </p:sp>
      <p:sp>
        <p:nvSpPr>
          <p:cNvPr id="9" name="Text 7"/>
          <p:cNvSpPr/>
          <p:nvPr/>
        </p:nvSpPr>
        <p:spPr>
          <a:xfrm>
            <a:off x="4044910" y="3786188"/>
            <a:ext cx="2088118" cy="260985"/>
          </a:xfrm>
          <a:prstGeom prst="rect">
            <a:avLst/>
          </a:prstGeom>
          <a:noFill/>
          <a:ln/>
        </p:spPr>
        <p:txBody>
          <a:bodyPr wrap="none" lIns="0" tIns="0" rIns="0" bIns="0" rtlCol="0" anchor="t"/>
          <a:lstStyle/>
          <a:p>
            <a:pPr algn="ctr" indent="0" marL="0">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RMSE (L/hr)</a:t>
            </a:r>
            <a:endParaRPr lang="en-US" sz="1600" dirty="0"/>
          </a:p>
        </p:txBody>
      </p:sp>
      <p:sp>
        <p:nvSpPr>
          <p:cNvPr id="10" name="Text 8"/>
          <p:cNvSpPr/>
          <p:nvPr/>
        </p:nvSpPr>
        <p:spPr>
          <a:xfrm>
            <a:off x="3754993" y="4230886"/>
            <a:ext cx="2667953" cy="275511"/>
          </a:xfrm>
          <a:prstGeom prst="rect">
            <a:avLst/>
          </a:prstGeom>
          <a:noFill/>
          <a:ln/>
        </p:spPr>
        <p:txBody>
          <a:bodyPr wrap="none" lIns="0" tIns="0" rIns="0" bIns="0" rtlCol="0" anchor="t"/>
          <a:lstStyle/>
          <a:p>
            <a:pPr algn="ctr"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Exceptionally low prediction error</a:t>
            </a:r>
            <a:endParaRPr lang="en-US" sz="1400" dirty="0"/>
          </a:p>
        </p:txBody>
      </p:sp>
      <p:sp>
        <p:nvSpPr>
          <p:cNvPr id="11" name="Text 9"/>
          <p:cNvSpPr/>
          <p:nvPr/>
        </p:nvSpPr>
        <p:spPr>
          <a:xfrm>
            <a:off x="2306241" y="5516642"/>
            <a:ext cx="2667833" cy="606385"/>
          </a:xfrm>
          <a:prstGeom prst="rect">
            <a:avLst/>
          </a:prstGeom>
          <a:noFill/>
          <a:ln/>
        </p:spPr>
        <p:txBody>
          <a:bodyPr wrap="none" lIns="0" tIns="0" rIns="0" bIns="0" rtlCol="0" anchor="t"/>
          <a:lstStyle/>
          <a:p>
            <a:pPr algn="ctr" indent="0" marL="0">
              <a:lnSpc>
                <a:spcPts val="4750"/>
              </a:lnSpc>
              <a:buNone/>
            </a:pPr>
            <a:r>
              <a:rPr lang="en-US" sz="4750" b="1" dirty="0">
                <a:solidFill>
                  <a:srgbClr val="3D3838"/>
                </a:solidFill>
                <a:latin typeface="Montserrat Bold" pitchFamily="34" charset="0"/>
                <a:ea typeface="Montserrat Bold" pitchFamily="34" charset="-122"/>
                <a:cs typeface="Montserrat Bold" pitchFamily="34" charset="-120"/>
              </a:rPr>
              <a:t>0.022</a:t>
            </a:r>
            <a:endParaRPr lang="en-US" sz="4750" dirty="0"/>
          </a:p>
        </p:txBody>
      </p:sp>
      <p:sp>
        <p:nvSpPr>
          <p:cNvPr id="12" name="Text 10"/>
          <p:cNvSpPr/>
          <p:nvPr/>
        </p:nvSpPr>
        <p:spPr>
          <a:xfrm>
            <a:off x="2596039" y="6352580"/>
            <a:ext cx="2088118" cy="260985"/>
          </a:xfrm>
          <a:prstGeom prst="rect">
            <a:avLst/>
          </a:prstGeom>
          <a:noFill/>
          <a:ln/>
        </p:spPr>
        <p:txBody>
          <a:bodyPr wrap="none" lIns="0" tIns="0" rIns="0" bIns="0" rtlCol="0" anchor="t"/>
          <a:lstStyle/>
          <a:p>
            <a:pPr algn="ctr" indent="0" marL="0">
              <a:lnSpc>
                <a:spcPts val="2050"/>
              </a:lnSpc>
              <a:buNone/>
            </a:pPr>
            <a:r>
              <a:rPr lang="en-US" sz="1600" b="1" dirty="0">
                <a:solidFill>
                  <a:srgbClr val="3D3838"/>
                </a:solidFill>
                <a:latin typeface="Montserrat Bold" pitchFamily="34" charset="0"/>
                <a:ea typeface="Montserrat Bold" pitchFamily="34" charset="-122"/>
                <a:cs typeface="Montserrat Bold" pitchFamily="34" charset="-120"/>
              </a:rPr>
              <a:t>MAE (L/hr)</a:t>
            </a:r>
            <a:endParaRPr lang="en-US" sz="1600" dirty="0"/>
          </a:p>
        </p:txBody>
      </p:sp>
      <p:sp>
        <p:nvSpPr>
          <p:cNvPr id="13" name="Text 11"/>
          <p:cNvSpPr/>
          <p:nvPr/>
        </p:nvSpPr>
        <p:spPr>
          <a:xfrm>
            <a:off x="2306241" y="6797278"/>
            <a:ext cx="2667833" cy="551021"/>
          </a:xfrm>
          <a:prstGeom prst="rect">
            <a:avLst/>
          </a:prstGeom>
          <a:noFill/>
          <a:ln/>
        </p:spPr>
        <p:txBody>
          <a:bodyPr wrap="square" lIns="0" tIns="0" rIns="0" bIns="0" rtlCol="0" anchor="t"/>
          <a:lstStyle/>
          <a:p>
            <a:pPr algn="ctr"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Mean absolute error indicates precise estimates</a:t>
            </a:r>
            <a:endParaRPr lang="en-US" sz="1400" dirty="0"/>
          </a:p>
        </p:txBody>
      </p:sp>
      <p:sp>
        <p:nvSpPr>
          <p:cNvPr id="14" name="Text 12"/>
          <p:cNvSpPr/>
          <p:nvPr/>
        </p:nvSpPr>
        <p:spPr>
          <a:xfrm>
            <a:off x="6878717" y="1656040"/>
            <a:ext cx="2268974" cy="260985"/>
          </a:xfrm>
          <a:prstGeom prst="rect">
            <a:avLst/>
          </a:prstGeom>
          <a:noFill/>
          <a:ln/>
        </p:spPr>
        <p:txBody>
          <a:bodyPr wrap="none" lIns="0" tIns="0" rIns="0" bIns="0" rtlCol="0" anchor="t"/>
          <a:lstStyle/>
          <a:p>
            <a:pPr algn="l" indent="0" marL="0">
              <a:lnSpc>
                <a:spcPts val="2050"/>
              </a:lnSpc>
              <a:buNone/>
            </a:pPr>
            <a:r>
              <a:rPr lang="en-US" sz="1600" b="1" dirty="0">
                <a:solidFill>
                  <a:srgbClr val="000000"/>
                </a:solidFill>
                <a:latin typeface="Montserrat Bold" pitchFamily="34" charset="0"/>
                <a:ea typeface="Montserrat Bold" pitchFamily="34" charset="-122"/>
                <a:cs typeface="Montserrat Bold" pitchFamily="34" charset="-120"/>
              </a:rPr>
              <a:t>Model Interpretation</a:t>
            </a:r>
            <a:endParaRPr lang="en-US" sz="1600" dirty="0"/>
          </a:p>
        </p:txBody>
      </p:sp>
      <p:sp>
        <p:nvSpPr>
          <p:cNvPr id="15" name="Text 13"/>
          <p:cNvSpPr/>
          <p:nvPr/>
        </p:nvSpPr>
        <p:spPr>
          <a:xfrm>
            <a:off x="6878717" y="2100739"/>
            <a:ext cx="6901815" cy="275511"/>
          </a:xfrm>
          <a:prstGeom prst="rect">
            <a:avLst/>
          </a:prstGeom>
          <a:noFill/>
          <a:ln/>
        </p:spPr>
        <p:txBody>
          <a:bodyPr wrap="none" lIns="0" tIns="0" rIns="0" bIns="0" rtlCol="0" anchor="t"/>
          <a:lstStyle/>
          <a:p>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The regression equation reduces to: </a:t>
            </a:r>
            <a:pPr algn="l" indent="0" marL="0">
              <a:lnSpc>
                <a:spcPts val="2150"/>
              </a:lnSpc>
              <a:buNone/>
            </a:pPr>
            <a:r>
              <a:rPr lang="en-US" sz="1400" b="1" dirty="0">
                <a:solidFill>
                  <a:srgbClr val="3D3838"/>
                </a:solidFill>
                <a:latin typeface="Source Sans 3" pitchFamily="34" charset="0"/>
                <a:ea typeface="Source Sans 3" pitchFamily="34" charset="-122"/>
                <a:cs typeface="Source Sans 3" pitchFamily="34" charset="-120"/>
              </a:rPr>
              <a:t>FCR = 0.063 × MAF + 0.041</a:t>
            </a:r>
            <a:endParaRPr lang="en-US" sz="1400" dirty="0"/>
          </a:p>
        </p:txBody>
      </p:sp>
      <p:sp>
        <p:nvSpPr>
          <p:cNvPr id="16" name="Text 14"/>
          <p:cNvSpPr/>
          <p:nvPr/>
        </p:nvSpPr>
        <p:spPr>
          <a:xfrm>
            <a:off x="6878717" y="2541627"/>
            <a:ext cx="6901815" cy="826532"/>
          </a:xfrm>
          <a:prstGeom prst="rect">
            <a:avLst/>
          </a:prstGeom>
          <a:noFill/>
          <a:ln/>
        </p:spPr>
        <p:txBody>
          <a:bodyPr wrap="square" lIns="0" tIns="0" rIns="0" bIns="0" rtlCol="0" anchor="t"/>
          <a:lstStyle/>
          <a:p>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This elegant relationship reflects hybrid control strategies that tightly couple engine operation to air intake. Unlike conventional ICE vehicles where driver behavior and auxiliary loads create variance, HEVs maintain optimal engine operating points.</a:t>
            </a:r>
            <a:endParaRPr lang="en-US" sz="1400" dirty="0"/>
          </a:p>
        </p:txBody>
      </p:sp>
      <p:sp>
        <p:nvSpPr>
          <p:cNvPr id="17" name="Text 15"/>
          <p:cNvSpPr/>
          <p:nvPr/>
        </p:nvSpPr>
        <p:spPr>
          <a:xfrm>
            <a:off x="6878717" y="3533537"/>
            <a:ext cx="6901815" cy="826532"/>
          </a:xfrm>
          <a:prstGeom prst="rect">
            <a:avLst/>
          </a:prstGeom>
          <a:noFill/>
          <a:ln/>
        </p:spPr>
        <p:txBody>
          <a:bodyPr wrap="square" lIns="0" tIns="0" rIns="0" bIns="0" rtlCol="0" anchor="t"/>
          <a:lstStyle/>
          <a:p>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The y-intercept (0.041 L/hr) represents idle fuel consumption during battery-depleted stop-and-go operation. The MAF coefficient (0.063) indicates fuel delivery rate per gram/sec of air—remarkably consistent across diverse driving conditions.</a:t>
            </a:r>
            <a:endParaRPr lang="en-US" sz="1400" dirty="0"/>
          </a:p>
        </p:txBody>
      </p:sp>
      <p:sp>
        <p:nvSpPr>
          <p:cNvPr id="18" name="Text 16"/>
          <p:cNvSpPr/>
          <p:nvPr/>
        </p:nvSpPr>
        <p:spPr>
          <a:xfrm>
            <a:off x="6878717" y="4525447"/>
            <a:ext cx="6901815" cy="826532"/>
          </a:xfrm>
          <a:prstGeom prst="rect">
            <a:avLst/>
          </a:prstGeom>
          <a:noFill/>
          <a:ln/>
        </p:spPr>
        <p:txBody>
          <a:bodyPr wrap="square" lIns="0" tIns="0" rIns="0" bIns="0" rtlCol="0" anchor="t"/>
          <a:lstStyle/>
          <a:p>
            <a:pPr algn="l" indent="0" marL="0">
              <a:lnSpc>
                <a:spcPts val="2150"/>
              </a:lnSpc>
              <a:buNone/>
            </a:pPr>
            <a:r>
              <a:rPr lang="en-US" sz="1400" b="1" dirty="0">
                <a:solidFill>
                  <a:srgbClr val="3D3838"/>
                </a:solidFill>
                <a:latin typeface="Source Sans 3" pitchFamily="34" charset="0"/>
                <a:ea typeface="Source Sans 3" pitchFamily="34" charset="-122"/>
                <a:cs typeface="Source Sans 3" pitchFamily="34" charset="-120"/>
              </a:rPr>
              <a:t>Key Insight:</a:t>
            </a:r>
            <a:pPr algn="l" indent="0" marL="0">
              <a:lnSpc>
                <a:spcPts val="2150"/>
              </a:lnSpc>
              <a:buNone/>
            </a:pPr>
            <a:r>
              <a:rPr lang="en-US" sz="1400" dirty="0">
                <a:solidFill>
                  <a:srgbClr val="3D3838"/>
                </a:solidFill>
                <a:latin typeface="Source Sans 3" pitchFamily="34" charset="0"/>
                <a:ea typeface="Source Sans 3" pitchFamily="34" charset="-122"/>
                <a:cs typeface="Source Sans 3" pitchFamily="34" charset="-120"/>
              </a:rPr>
              <a:t> Hybrid powertrains exhibit more predictable energy consumption than conventional vehicles due to sophisticated power management algorithms that minimize engine inefficiency.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944523"/>
            <a:ext cx="11330583" cy="560903"/>
          </a:xfrm>
          <a:prstGeom prst="rect">
            <a:avLst/>
          </a:prstGeom>
          <a:noFill/>
          <a:ln/>
        </p:spPr>
        <p:txBody>
          <a:bodyPr wrap="none" lIns="0" tIns="0" rIns="0" bIns="0" rtlCol="0" anchor="t"/>
          <a:lstStyle/>
          <a:p>
            <a:pPr algn="l" indent="0" marL="0">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Electric Vehicle Modeling: Persistent Challenges</a:t>
            </a:r>
            <a:endParaRPr lang="en-US" sz="3500" dirty="0"/>
          </a:p>
        </p:txBody>
      </p:sp>
      <p:sp>
        <p:nvSpPr>
          <p:cNvPr id="3" name="Text 1"/>
          <p:cNvSpPr/>
          <p:nvPr/>
        </p:nvSpPr>
        <p:spPr>
          <a:xfrm>
            <a:off x="863798" y="1900357"/>
            <a:ext cx="12902803"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Battery-electric vehicles proved the most difficult to model using linear regression, with feature selection having minimal impact on predictive performance. Two scenarios were evaluated: raw data and outlier-capped data.</a:t>
            </a:r>
            <a:endParaRPr lang="en-US" sz="1550" dirty="0"/>
          </a:p>
        </p:txBody>
      </p:sp>
      <p:sp>
        <p:nvSpPr>
          <p:cNvPr id="4" name="Text 2"/>
          <p:cNvSpPr/>
          <p:nvPr/>
        </p:nvSpPr>
        <p:spPr>
          <a:xfrm>
            <a:off x="863798" y="2912269"/>
            <a:ext cx="2422208"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Scenario 1: Raw Data</a:t>
            </a:r>
            <a:endParaRPr lang="en-US" sz="1750" dirty="0"/>
          </a:p>
        </p:txBody>
      </p:sp>
      <p:sp>
        <p:nvSpPr>
          <p:cNvPr id="5" name="Text 3"/>
          <p:cNvSpPr/>
          <p:nvPr/>
        </p:nvSpPr>
        <p:spPr>
          <a:xfrm>
            <a:off x="863798" y="3390186"/>
            <a:ext cx="6210538"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Features: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AC Power, Heater Power, Vehicle Speed</a:t>
            </a:r>
            <a:endParaRPr lang="en-US" sz="1550" dirty="0"/>
          </a:p>
        </p:txBody>
      </p:sp>
      <p:sp>
        <p:nvSpPr>
          <p:cNvPr id="6" name="Text 4"/>
          <p:cNvSpPr/>
          <p:nvPr/>
        </p:nvSpPr>
        <p:spPr>
          <a:xfrm>
            <a:off x="863798" y="3864054"/>
            <a:ext cx="6210538"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Results: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R² = -0.150 | RMSE: 2,348 Watts</a:t>
            </a:r>
            <a:endParaRPr lang="en-US" sz="1550" dirty="0"/>
          </a:p>
        </p:txBody>
      </p:sp>
      <p:sp>
        <p:nvSpPr>
          <p:cNvPr id="7" name="Text 5"/>
          <p:cNvSpPr/>
          <p:nvPr/>
        </p:nvSpPr>
        <p:spPr>
          <a:xfrm>
            <a:off x="863798" y="4337923"/>
            <a:ext cx="6210538" cy="888682"/>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Negative R² indicates the model performs worse than simply predicting the mean—a catastrophic failure suggesting fundamental model inadequacy rather than poor feature selection.</a:t>
            </a:r>
            <a:endParaRPr lang="en-US" sz="1550" dirty="0"/>
          </a:p>
        </p:txBody>
      </p:sp>
      <p:sp>
        <p:nvSpPr>
          <p:cNvPr id="8" name="Text 6"/>
          <p:cNvSpPr/>
          <p:nvPr/>
        </p:nvSpPr>
        <p:spPr>
          <a:xfrm>
            <a:off x="863798" y="5404247"/>
            <a:ext cx="6210538" cy="888682"/>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The negative coefficients (Speed: -112.9, AC: -2.6, Heater: -1.2) contradict physical expectations, revealing model instability from extreme battery power values during regenerative braking events.</a:t>
            </a:r>
            <a:endParaRPr lang="en-US" sz="1550" dirty="0"/>
          </a:p>
        </p:txBody>
      </p:sp>
      <p:sp>
        <p:nvSpPr>
          <p:cNvPr id="9" name="Text 7"/>
          <p:cNvSpPr/>
          <p:nvPr/>
        </p:nvSpPr>
        <p:spPr>
          <a:xfrm>
            <a:off x="7563683" y="2912269"/>
            <a:ext cx="3450193"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Scenario 2: Outlier Treatment</a:t>
            </a:r>
            <a:endParaRPr lang="en-US" sz="1750" dirty="0"/>
          </a:p>
        </p:txBody>
      </p:sp>
      <p:sp>
        <p:nvSpPr>
          <p:cNvPr id="10" name="Text 8"/>
          <p:cNvSpPr/>
          <p:nvPr/>
        </p:nvSpPr>
        <p:spPr>
          <a:xfrm>
            <a:off x="7563683" y="3390186"/>
            <a:ext cx="6210538"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Features: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AC Power, Heater Power, Vehicle Speed (IQR-capped)</a:t>
            </a:r>
            <a:endParaRPr lang="en-US" sz="1550" dirty="0"/>
          </a:p>
        </p:txBody>
      </p:sp>
      <p:sp>
        <p:nvSpPr>
          <p:cNvPr id="11" name="Text 9"/>
          <p:cNvSpPr/>
          <p:nvPr/>
        </p:nvSpPr>
        <p:spPr>
          <a:xfrm>
            <a:off x="7563683" y="3864054"/>
            <a:ext cx="6210538"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Results: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R² = -0.073 | RMSE: 2,211 Watts</a:t>
            </a:r>
            <a:endParaRPr lang="en-US" sz="1550" dirty="0"/>
          </a:p>
        </p:txBody>
      </p:sp>
      <p:sp>
        <p:nvSpPr>
          <p:cNvPr id="12" name="Text 10"/>
          <p:cNvSpPr/>
          <p:nvPr/>
        </p:nvSpPr>
        <p:spPr>
          <a:xfrm>
            <a:off x="7563683" y="4337923"/>
            <a:ext cx="6210538"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Removing outliers provided marginal improvement but failed to achieve positive R², confirming that outliers were not the primary issue.</a:t>
            </a:r>
            <a:endParaRPr lang="en-US" sz="1550" dirty="0"/>
          </a:p>
        </p:txBody>
      </p:sp>
      <p:sp>
        <p:nvSpPr>
          <p:cNvPr id="13" name="Text 11"/>
          <p:cNvSpPr/>
          <p:nvPr/>
        </p:nvSpPr>
        <p:spPr>
          <a:xfrm>
            <a:off x="7563683" y="5108019"/>
            <a:ext cx="6210538" cy="1184910"/>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The persistent negative R² suggests missing critical variables: road gradient (grade), payload variation, battery temperature, or high-frequency acceleration patterns that linear regression cannot capture from aggregate speed measurements.</a:t>
            </a:r>
            <a:endParaRPr lang="en-US" sz="1550" dirty="0"/>
          </a:p>
        </p:txBody>
      </p:sp>
      <p:sp>
        <p:nvSpPr>
          <p:cNvPr id="14" name="Text 12"/>
          <p:cNvSpPr/>
          <p:nvPr/>
        </p:nvSpPr>
        <p:spPr>
          <a:xfrm>
            <a:off x="863798" y="6692622"/>
            <a:ext cx="12902803" cy="592455"/>
          </a:xfrm>
          <a:prstGeom prst="rect">
            <a:avLst/>
          </a:prstGeom>
          <a:noFill/>
          <a:ln/>
        </p:spPr>
        <p:txBody>
          <a:bodyPr wrap="squar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Hypothesis: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EV power consumption is inherently nonlinear, dominated by transient dynamics (acceleration/deceleration) that averaged speed measurements fail to capture. Future work should explore gradient boosting or LSTM architectures with high-frequency sampling.</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680918"/>
            <a:ext cx="7896820" cy="560903"/>
          </a:xfrm>
          <a:prstGeom prst="rect">
            <a:avLst/>
          </a:prstGeom>
          <a:noFill/>
          <a:ln/>
        </p:spPr>
        <p:txBody>
          <a:bodyPr wrap="none" lIns="0" tIns="0" rIns="0" bIns="0" rtlCol="0" anchor="t"/>
          <a:lstStyle/>
          <a:p>
            <a:pPr algn="l" indent="0" marL="0">
              <a:lnSpc>
                <a:spcPts val="4400"/>
              </a:lnSpc>
              <a:buNone/>
            </a:pPr>
            <a:r>
              <a:rPr lang="en-US" sz="3500" b="1" dirty="0">
                <a:solidFill>
                  <a:srgbClr val="000000"/>
                </a:solidFill>
                <a:latin typeface="Montserrat Bold" pitchFamily="34" charset="0"/>
                <a:ea typeface="Montserrat Bold" pitchFamily="34" charset="-122"/>
                <a:cs typeface="Montserrat Bold" pitchFamily="34" charset="-120"/>
              </a:rPr>
              <a:t>Plug-in Hybrid: Moderate Success</a:t>
            </a:r>
            <a:endParaRPr lang="en-US" sz="3500" dirty="0"/>
          </a:p>
        </p:txBody>
      </p:sp>
      <p:sp>
        <p:nvSpPr>
          <p:cNvPr id="3" name="Text 1"/>
          <p:cNvSpPr/>
          <p:nvPr/>
        </p:nvSpPr>
        <p:spPr>
          <a:xfrm>
            <a:off x="863798" y="1715572"/>
            <a:ext cx="7548920"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PHEV battery power prediction achieved intermediate performance between HEVs (excellent) and EVs (poor), reflecting the operational complexity of dual-mode powertrains.</a:t>
            </a:r>
            <a:endParaRPr lang="en-US" sz="1550" dirty="0"/>
          </a:p>
        </p:txBody>
      </p:sp>
      <p:sp>
        <p:nvSpPr>
          <p:cNvPr id="4" name="Text 2"/>
          <p:cNvSpPr/>
          <p:nvPr/>
        </p:nvSpPr>
        <p:spPr>
          <a:xfrm>
            <a:off x="863798" y="2505432"/>
            <a:ext cx="2320766"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Model Specification</a:t>
            </a:r>
            <a:endParaRPr lang="en-US" sz="1750" dirty="0"/>
          </a:p>
        </p:txBody>
      </p:sp>
      <p:sp>
        <p:nvSpPr>
          <p:cNvPr id="5" name="Text 3"/>
          <p:cNvSpPr/>
          <p:nvPr/>
        </p:nvSpPr>
        <p:spPr>
          <a:xfrm>
            <a:off x="863798" y="2983349"/>
            <a:ext cx="7548920"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Features:</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Engine RPM, Air Conditioning Power, Vehicle Speed, Outside Air Temperature</a:t>
            </a:r>
            <a:endParaRPr lang="en-US" sz="1550" dirty="0"/>
          </a:p>
        </p:txBody>
      </p:sp>
      <p:sp>
        <p:nvSpPr>
          <p:cNvPr id="6" name="Text 4"/>
          <p:cNvSpPr/>
          <p:nvPr/>
        </p:nvSpPr>
        <p:spPr>
          <a:xfrm>
            <a:off x="863798" y="3457218"/>
            <a:ext cx="7548920" cy="296228"/>
          </a:xfrm>
          <a:prstGeom prst="rect">
            <a:avLst/>
          </a:prstGeom>
          <a:noFill/>
          <a:ln/>
        </p:spPr>
        <p:txBody>
          <a:bodyPr wrap="none" lIns="0" tIns="0" rIns="0" bIns="0" rtlCol="0" anchor="t"/>
          <a:lstStyle/>
          <a:p>
            <a:pPr algn="l" indent="0" marL="0">
              <a:lnSpc>
                <a:spcPts val="2300"/>
              </a:lnSpc>
              <a:buNone/>
            </a:pPr>
            <a:r>
              <a:rPr lang="en-US" sz="1550" b="1" dirty="0">
                <a:solidFill>
                  <a:srgbClr val="3D3838"/>
                </a:solidFill>
                <a:latin typeface="Source Sans 3" pitchFamily="34" charset="0"/>
                <a:ea typeface="Source Sans 3" pitchFamily="34" charset="-122"/>
                <a:cs typeface="Source Sans 3" pitchFamily="34" charset="-120"/>
              </a:rPr>
              <a:t>Performance:</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R² = 0.712 | RMSE: 2,842 Watts | MAE: 2,184 Watts</a:t>
            </a:r>
            <a:endParaRPr lang="en-US" sz="1550" dirty="0"/>
          </a:p>
        </p:txBody>
      </p:sp>
      <p:sp>
        <p:nvSpPr>
          <p:cNvPr id="7" name="Text 5"/>
          <p:cNvSpPr/>
          <p:nvPr/>
        </p:nvSpPr>
        <p:spPr>
          <a:xfrm>
            <a:off x="863798" y="3931087"/>
            <a:ext cx="7548920"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The positive R² represents meaningful predictive capability—explaining 71% of battery power variance using four readily-available sensor inputs.</a:t>
            </a:r>
            <a:endParaRPr lang="en-US" sz="1550" dirty="0"/>
          </a:p>
        </p:txBody>
      </p:sp>
      <p:sp>
        <p:nvSpPr>
          <p:cNvPr id="8" name="Text 6"/>
          <p:cNvSpPr/>
          <p:nvPr/>
        </p:nvSpPr>
        <p:spPr>
          <a:xfrm>
            <a:off x="863798" y="4720947"/>
            <a:ext cx="2584133"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Feature Contributions</a:t>
            </a:r>
            <a:endParaRPr lang="en-US" sz="1750" dirty="0"/>
          </a:p>
        </p:txBody>
      </p:sp>
      <p:sp>
        <p:nvSpPr>
          <p:cNvPr id="9" name="Text 7"/>
          <p:cNvSpPr/>
          <p:nvPr/>
        </p:nvSpPr>
        <p:spPr>
          <a:xfrm>
            <a:off x="863798" y="5198864"/>
            <a:ext cx="7548920" cy="592455"/>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D3838"/>
                </a:solidFill>
                <a:latin typeface="Source Sans 3" pitchFamily="34" charset="0"/>
                <a:ea typeface="Source Sans 3" pitchFamily="34" charset="-122"/>
                <a:cs typeface="Source Sans 3" pitchFamily="34" charset="-120"/>
              </a:rPr>
              <a:t>Engine RPM (+8.17 W/RPM):</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Higher engine speeds indicate hybrid mode operation with battery assist</a:t>
            </a:r>
            <a:endParaRPr lang="en-US" sz="1550" dirty="0"/>
          </a:p>
        </p:txBody>
      </p:sp>
      <p:sp>
        <p:nvSpPr>
          <p:cNvPr id="10" name="Text 8"/>
          <p:cNvSpPr/>
          <p:nvPr/>
        </p:nvSpPr>
        <p:spPr>
          <a:xfrm>
            <a:off x="863798" y="5860375"/>
            <a:ext cx="7548920" cy="296228"/>
          </a:xfrm>
          <a:prstGeom prst="rect">
            <a:avLst/>
          </a:prstGeom>
          <a:noFill/>
          <a:ln/>
        </p:spPr>
        <p:txBody>
          <a:bodyPr wrap="none" lIns="0" tIns="0" rIns="0" bIns="0" rtlCol="0" anchor="t"/>
          <a:lstStyle/>
          <a:p>
            <a:pPr algn="l" marL="342900" indent="-342900">
              <a:lnSpc>
                <a:spcPts val="2300"/>
              </a:lnSpc>
              <a:buSzPct val="100000"/>
              <a:buChar char="•"/>
            </a:pPr>
            <a:r>
              <a:rPr lang="en-US" sz="1550" b="1" dirty="0">
                <a:solidFill>
                  <a:srgbClr val="3D3838"/>
                </a:solidFill>
                <a:latin typeface="Source Sans 3" pitchFamily="34" charset="0"/>
                <a:ea typeface="Source Sans 3" pitchFamily="34" charset="-122"/>
                <a:cs typeface="Source Sans 3" pitchFamily="34" charset="-120"/>
              </a:rPr>
              <a:t>Vehicle Speed (-203.6 W per km/h):</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Speed increases battery discharge for propulsion</a:t>
            </a:r>
            <a:endParaRPr lang="en-US" sz="1550" dirty="0"/>
          </a:p>
        </p:txBody>
      </p:sp>
      <p:sp>
        <p:nvSpPr>
          <p:cNvPr id="11" name="Text 9"/>
          <p:cNvSpPr/>
          <p:nvPr/>
        </p:nvSpPr>
        <p:spPr>
          <a:xfrm>
            <a:off x="863798" y="6225659"/>
            <a:ext cx="7548920" cy="592455"/>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D3838"/>
                </a:solidFill>
                <a:latin typeface="Source Sans 3" pitchFamily="34" charset="0"/>
                <a:ea typeface="Source Sans 3" pitchFamily="34" charset="-122"/>
                <a:cs typeface="Source Sans 3" pitchFamily="34" charset="-120"/>
              </a:rPr>
              <a:t>Outside Air Temp (+144.3 W/°C):</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Warmer weather enables pure electric operation, paradoxically increasing battery power draw</a:t>
            </a:r>
            <a:endParaRPr lang="en-US" sz="1550" dirty="0"/>
          </a:p>
        </p:txBody>
      </p:sp>
      <p:sp>
        <p:nvSpPr>
          <p:cNvPr id="12" name="Text 10"/>
          <p:cNvSpPr/>
          <p:nvPr/>
        </p:nvSpPr>
        <p:spPr>
          <a:xfrm>
            <a:off x="863798" y="6887170"/>
            <a:ext cx="7548920" cy="592455"/>
          </a:xfrm>
          <a:prstGeom prst="rect">
            <a:avLst/>
          </a:prstGeom>
          <a:noFill/>
          <a:ln/>
        </p:spPr>
        <p:txBody>
          <a:bodyPr wrap="square" lIns="0" tIns="0" rIns="0" bIns="0" rtlCol="0" anchor="t"/>
          <a:lstStyle/>
          <a:p>
            <a:pPr algn="l" marL="342900" indent="-342900">
              <a:lnSpc>
                <a:spcPts val="2300"/>
              </a:lnSpc>
              <a:buSzPct val="100000"/>
              <a:buChar char="•"/>
            </a:pPr>
            <a:r>
              <a:rPr lang="en-US" sz="1550" b="1" dirty="0">
                <a:solidFill>
                  <a:srgbClr val="3D3838"/>
                </a:solidFill>
                <a:latin typeface="Source Sans 3" pitchFamily="34" charset="0"/>
                <a:ea typeface="Source Sans 3" pitchFamily="34" charset="-122"/>
                <a:cs typeface="Source Sans 3" pitchFamily="34" charset="-120"/>
              </a:rPr>
              <a:t>AC Power (-0.90):</a:t>
            </a:r>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 Minor negative coefficient suggests multicollinearity with temperature</a:t>
            </a:r>
            <a:endParaRPr lang="en-US" sz="1550" dirty="0"/>
          </a:p>
        </p:txBody>
      </p:sp>
      <p:sp>
        <p:nvSpPr>
          <p:cNvPr id="13" name="Text 11"/>
          <p:cNvSpPr/>
          <p:nvPr/>
        </p:nvSpPr>
        <p:spPr>
          <a:xfrm>
            <a:off x="8902065" y="1735336"/>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000000"/>
                </a:solidFill>
                <a:latin typeface="Montserrat Bold" pitchFamily="34" charset="0"/>
                <a:ea typeface="Montserrat Bold" pitchFamily="34" charset="-122"/>
                <a:cs typeface="Montserrat Bold" pitchFamily="34" charset="-120"/>
              </a:rPr>
              <a:t>Operational Modes</a:t>
            </a:r>
            <a:endParaRPr lang="en-US" sz="1750" dirty="0"/>
          </a:p>
        </p:txBody>
      </p:sp>
      <p:sp>
        <p:nvSpPr>
          <p:cNvPr id="14" name="Shape 12"/>
          <p:cNvSpPr/>
          <p:nvPr/>
        </p:nvSpPr>
        <p:spPr>
          <a:xfrm>
            <a:off x="8902065" y="2237899"/>
            <a:ext cx="4872038" cy="1214676"/>
          </a:xfrm>
          <a:prstGeom prst="roundRect">
            <a:avLst>
              <a:gd name="adj" fmla="val 2438"/>
            </a:avLst>
          </a:prstGeom>
          <a:solidFill>
            <a:srgbClr val="FFFFFF"/>
          </a:solidFill>
          <a:ln w="22860">
            <a:solidFill>
              <a:srgbClr val="D8D4D4"/>
            </a:solidFill>
            <a:prstDash val="solid"/>
          </a:ln>
        </p:spPr>
      </p:sp>
      <p:sp>
        <p:nvSpPr>
          <p:cNvPr id="15" name="Text 13"/>
          <p:cNvSpPr/>
          <p:nvPr/>
        </p:nvSpPr>
        <p:spPr>
          <a:xfrm>
            <a:off x="9122331" y="2458164"/>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Electric-Only</a:t>
            </a:r>
            <a:endParaRPr lang="en-US" sz="1750" dirty="0"/>
          </a:p>
        </p:txBody>
      </p:sp>
      <p:sp>
        <p:nvSpPr>
          <p:cNvPr id="16" name="Text 14"/>
          <p:cNvSpPr/>
          <p:nvPr/>
        </p:nvSpPr>
        <p:spPr>
          <a:xfrm>
            <a:off x="9122331" y="2936081"/>
            <a:ext cx="4431506" cy="296228"/>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RPM = 0, high battery discharge similar to EV behavior</a:t>
            </a:r>
            <a:endParaRPr lang="en-US" sz="1550" dirty="0"/>
          </a:p>
        </p:txBody>
      </p:sp>
      <p:sp>
        <p:nvSpPr>
          <p:cNvPr id="17" name="Shape 15"/>
          <p:cNvSpPr/>
          <p:nvPr/>
        </p:nvSpPr>
        <p:spPr>
          <a:xfrm>
            <a:off x="8902065" y="3649980"/>
            <a:ext cx="4872038" cy="1510903"/>
          </a:xfrm>
          <a:prstGeom prst="roundRect">
            <a:avLst>
              <a:gd name="adj" fmla="val 1960"/>
            </a:avLst>
          </a:prstGeom>
          <a:solidFill>
            <a:srgbClr val="FFFFFF"/>
          </a:solidFill>
          <a:ln w="22860">
            <a:solidFill>
              <a:srgbClr val="D8D4D4"/>
            </a:solidFill>
            <a:prstDash val="solid"/>
          </a:ln>
        </p:spPr>
      </p:sp>
      <p:sp>
        <p:nvSpPr>
          <p:cNvPr id="18" name="Text 16"/>
          <p:cNvSpPr/>
          <p:nvPr/>
        </p:nvSpPr>
        <p:spPr>
          <a:xfrm>
            <a:off x="9122331" y="3870246"/>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Hybrid</a:t>
            </a:r>
            <a:endParaRPr lang="en-US" sz="1750" dirty="0"/>
          </a:p>
        </p:txBody>
      </p:sp>
      <p:sp>
        <p:nvSpPr>
          <p:cNvPr id="19" name="Text 17"/>
          <p:cNvSpPr/>
          <p:nvPr/>
        </p:nvSpPr>
        <p:spPr>
          <a:xfrm>
            <a:off x="9122331" y="4348162"/>
            <a:ext cx="4431506"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RPM &gt; 0, moderate battery discharge with engine assist</a:t>
            </a:r>
            <a:endParaRPr lang="en-US" sz="1550" dirty="0"/>
          </a:p>
        </p:txBody>
      </p:sp>
      <p:sp>
        <p:nvSpPr>
          <p:cNvPr id="20" name="Shape 18"/>
          <p:cNvSpPr/>
          <p:nvPr/>
        </p:nvSpPr>
        <p:spPr>
          <a:xfrm>
            <a:off x="8902065" y="5358289"/>
            <a:ext cx="4872038" cy="1510903"/>
          </a:xfrm>
          <a:prstGeom prst="roundRect">
            <a:avLst>
              <a:gd name="adj" fmla="val 1960"/>
            </a:avLst>
          </a:prstGeom>
          <a:solidFill>
            <a:srgbClr val="FFFFFF"/>
          </a:solidFill>
          <a:ln w="22860">
            <a:solidFill>
              <a:srgbClr val="D8D4D4"/>
            </a:solidFill>
            <a:prstDash val="solid"/>
          </a:ln>
        </p:spPr>
      </p:sp>
      <p:sp>
        <p:nvSpPr>
          <p:cNvPr id="21" name="Text 19"/>
          <p:cNvSpPr/>
          <p:nvPr/>
        </p:nvSpPr>
        <p:spPr>
          <a:xfrm>
            <a:off x="9122331" y="5578554"/>
            <a:ext cx="2243852" cy="280511"/>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Charge-Sustaining</a:t>
            </a:r>
            <a:endParaRPr lang="en-US" sz="1750" dirty="0"/>
          </a:p>
        </p:txBody>
      </p:sp>
      <p:sp>
        <p:nvSpPr>
          <p:cNvPr id="22" name="Text 20"/>
          <p:cNvSpPr/>
          <p:nvPr/>
        </p:nvSpPr>
        <p:spPr>
          <a:xfrm>
            <a:off x="9122331" y="6056471"/>
            <a:ext cx="4431506" cy="592455"/>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High RPM, minimal or negative battery power (charging)</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3798" y="793790"/>
            <a:ext cx="3315653" cy="245388"/>
          </a:xfrm>
          <a:prstGeom prst="rect">
            <a:avLst/>
          </a:prstGeom>
          <a:noFill/>
          <a:ln/>
        </p:spPr>
        <p:txBody>
          <a:bodyPr wrap="none" lIns="0" tIns="0" rIns="0" bIns="0" rtlCol="0" anchor="t"/>
          <a:lstStyle/>
          <a:p>
            <a:pPr algn="l" indent="0" marL="0">
              <a:lnSpc>
                <a:spcPts val="1900"/>
              </a:lnSpc>
              <a:buNone/>
            </a:pPr>
            <a:r>
              <a:rPr lang="en-US" sz="1500" b="1" dirty="0">
                <a:solidFill>
                  <a:srgbClr val="000000"/>
                </a:solidFill>
                <a:latin typeface="Montserrat Bold" pitchFamily="34" charset="0"/>
                <a:ea typeface="Montserrat Bold" pitchFamily="34" charset="-122"/>
                <a:cs typeface="Montserrat Bold" pitchFamily="34" charset="-120"/>
              </a:rPr>
              <a:t>Chapter: Unsupervised Learning</a:t>
            </a:r>
            <a:endParaRPr lang="en-US" sz="1500" dirty="0"/>
          </a:p>
        </p:txBody>
      </p:sp>
      <p:sp>
        <p:nvSpPr>
          <p:cNvPr id="3" name="Text 1"/>
          <p:cNvSpPr/>
          <p:nvPr/>
        </p:nvSpPr>
        <p:spPr>
          <a:xfrm>
            <a:off x="863798" y="1108234"/>
            <a:ext cx="10709196" cy="490776"/>
          </a:xfrm>
          <a:prstGeom prst="rect">
            <a:avLst/>
          </a:prstGeom>
          <a:noFill/>
          <a:ln/>
        </p:spPr>
        <p:txBody>
          <a:bodyPr wrap="none" lIns="0" tIns="0" rIns="0" bIns="0" rtlCol="0" anchor="t"/>
          <a:lstStyle/>
          <a:p>
            <a:pPr algn="l" indent="0" marL="0">
              <a:lnSpc>
                <a:spcPts val="3850"/>
              </a:lnSpc>
              <a:buNone/>
            </a:pPr>
            <a:r>
              <a:rPr lang="en-US" sz="3050" b="1" dirty="0">
                <a:solidFill>
                  <a:srgbClr val="000000"/>
                </a:solidFill>
                <a:latin typeface="Montserrat Bold" pitchFamily="34" charset="0"/>
                <a:ea typeface="Montserrat Bold" pitchFamily="34" charset="-122"/>
                <a:cs typeface="Montserrat Bold" pitchFamily="34" charset="-120"/>
              </a:rPr>
              <a:t>K-Means Clustering: Vehicle Behavior Segmentation</a:t>
            </a:r>
            <a:endParaRPr lang="en-US" sz="3050" dirty="0"/>
          </a:p>
        </p:txBody>
      </p:sp>
      <p:sp>
        <p:nvSpPr>
          <p:cNvPr id="4" name="Text 2"/>
          <p:cNvSpPr/>
          <p:nvPr/>
        </p:nvSpPr>
        <p:spPr>
          <a:xfrm>
            <a:off x="863798" y="1858089"/>
            <a:ext cx="12902803" cy="518160"/>
          </a:xfrm>
          <a:prstGeom prst="rect">
            <a:avLst/>
          </a:prstGeom>
          <a:noFill/>
          <a:ln/>
        </p:spPr>
        <p:txBody>
          <a:bodyPr wrap="square" lIns="0" tIns="0" rIns="0" bIns="0" rtlCol="0" anchor="t"/>
          <a:lstStyle/>
          <a:p>
            <a:pPr algn="l"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To complement supervised learning, we applied K-means clustering across multiple feature combinations to discover natural groupings in vehicle behavior patterns. The elbow method consistently suggested 2-3 optimal clusters across scenarios.</a:t>
            </a:r>
            <a:endParaRPr lang="en-US" sz="1350" dirty="0"/>
          </a:p>
        </p:txBody>
      </p:sp>
      <p:sp>
        <p:nvSpPr>
          <p:cNvPr id="5" name="Shape 3"/>
          <p:cNvSpPr/>
          <p:nvPr/>
        </p:nvSpPr>
        <p:spPr>
          <a:xfrm>
            <a:off x="863798" y="4646890"/>
            <a:ext cx="12902803" cy="22860"/>
          </a:xfrm>
          <a:prstGeom prst="roundRect">
            <a:avLst>
              <a:gd name="adj" fmla="val 113374"/>
            </a:avLst>
          </a:prstGeom>
          <a:solidFill>
            <a:srgbClr val="D8D4D4"/>
          </a:solidFill>
          <a:ln/>
        </p:spPr>
      </p:sp>
      <p:sp>
        <p:nvSpPr>
          <p:cNvPr id="6" name="Shape 4"/>
          <p:cNvSpPr/>
          <p:nvPr/>
        </p:nvSpPr>
        <p:spPr>
          <a:xfrm>
            <a:off x="3368040" y="4128671"/>
            <a:ext cx="22860" cy="518279"/>
          </a:xfrm>
          <a:prstGeom prst="roundRect">
            <a:avLst>
              <a:gd name="adj" fmla="val 113374"/>
            </a:avLst>
          </a:prstGeom>
          <a:solidFill>
            <a:srgbClr val="D8D4D4"/>
          </a:solidFill>
          <a:ln/>
        </p:spPr>
      </p:sp>
      <p:sp>
        <p:nvSpPr>
          <p:cNvPr id="7" name="Shape 5"/>
          <p:cNvSpPr/>
          <p:nvPr/>
        </p:nvSpPr>
        <p:spPr>
          <a:xfrm>
            <a:off x="3185160" y="4452521"/>
            <a:ext cx="388739" cy="388739"/>
          </a:xfrm>
          <a:prstGeom prst="roundRect">
            <a:avLst>
              <a:gd name="adj" fmla="val 6667"/>
            </a:avLst>
          </a:prstGeom>
          <a:solidFill>
            <a:srgbClr val="F2EEEE"/>
          </a:solidFill>
          <a:ln/>
        </p:spPr>
      </p:sp>
      <p:sp>
        <p:nvSpPr>
          <p:cNvPr id="8" name="Text 6"/>
          <p:cNvSpPr/>
          <p:nvPr/>
        </p:nvSpPr>
        <p:spPr>
          <a:xfrm>
            <a:off x="3261717" y="4499610"/>
            <a:ext cx="235506" cy="294442"/>
          </a:xfrm>
          <a:prstGeom prst="rect">
            <a:avLst/>
          </a:prstGeom>
          <a:noFill/>
          <a:ln/>
        </p:spPr>
        <p:txBody>
          <a:bodyPr wrap="none" lIns="0" tIns="0" rIns="0" bIns="0" rtlCol="0" anchor="t"/>
          <a:lstStyle/>
          <a:p>
            <a:pPr algn="ctr" indent="0" marL="0">
              <a:lnSpc>
                <a:spcPts val="1850"/>
              </a:lnSpc>
              <a:buNone/>
            </a:pPr>
            <a:r>
              <a:rPr lang="en-US" sz="1850" b="1" dirty="0">
                <a:solidFill>
                  <a:srgbClr val="3D3838"/>
                </a:solidFill>
                <a:latin typeface="Montserrat Bold" pitchFamily="34" charset="0"/>
                <a:ea typeface="Montserrat Bold" pitchFamily="34" charset="-122"/>
                <a:cs typeface="Montserrat Bold" pitchFamily="34" charset="-120"/>
              </a:rPr>
              <a:t>1</a:t>
            </a:r>
            <a:endParaRPr lang="en-US" sz="1850" dirty="0"/>
          </a:p>
        </p:txBody>
      </p:sp>
      <p:sp>
        <p:nvSpPr>
          <p:cNvPr id="9" name="Text 7"/>
          <p:cNvSpPr/>
          <p:nvPr/>
        </p:nvSpPr>
        <p:spPr>
          <a:xfrm>
            <a:off x="2397919" y="2570559"/>
            <a:ext cx="1963341" cy="245388"/>
          </a:xfrm>
          <a:prstGeom prst="rect">
            <a:avLst/>
          </a:prstGeom>
          <a:noFill/>
          <a:ln/>
        </p:spPr>
        <p:txBody>
          <a:bodyPr wrap="none" lIns="0" tIns="0" rIns="0" bIns="0" rtlCol="0" anchor="t"/>
          <a:lstStyle/>
          <a:p>
            <a:pPr algn="ctr" indent="0" marL="0">
              <a:lnSpc>
                <a:spcPts val="1900"/>
              </a:lnSpc>
              <a:buNone/>
            </a:pPr>
            <a:r>
              <a:rPr lang="en-US" sz="1500" b="1" dirty="0">
                <a:solidFill>
                  <a:srgbClr val="3D3838"/>
                </a:solidFill>
                <a:latin typeface="Montserrat Bold" pitchFamily="34" charset="0"/>
                <a:ea typeface="Montserrat Bold" pitchFamily="34" charset="-122"/>
                <a:cs typeface="Montserrat Bold" pitchFamily="34" charset="-120"/>
              </a:rPr>
              <a:t>Trip Count vs FCR</a:t>
            </a:r>
            <a:endParaRPr lang="en-US" sz="1500" dirty="0"/>
          </a:p>
        </p:txBody>
      </p:sp>
      <p:sp>
        <p:nvSpPr>
          <p:cNvPr id="10" name="Text 8"/>
          <p:cNvSpPr/>
          <p:nvPr/>
        </p:nvSpPr>
        <p:spPr>
          <a:xfrm>
            <a:off x="1036558" y="2919532"/>
            <a:ext cx="4686062" cy="1036320"/>
          </a:xfrm>
          <a:prstGeom prst="rect">
            <a:avLst/>
          </a:prstGeom>
          <a:noFill/>
          <a:ln/>
        </p:spPr>
        <p:txBody>
          <a:bodyPr wrap="square" lIns="0" tIns="0" rIns="0" bIns="0" rtlCol="0" anchor="t"/>
          <a:lstStyle/>
          <a:p>
            <a:pPr algn="ctr"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Identified four clusters separating high-mileage/high-consumption (long-distance ICE), moderate usage patterns (urban HEV), and zero-emission profiles (EV). Cluster separation validates fundamental powertrain differences.</a:t>
            </a:r>
            <a:endParaRPr lang="en-US" sz="1350" dirty="0"/>
          </a:p>
        </p:txBody>
      </p:sp>
      <p:sp>
        <p:nvSpPr>
          <p:cNvPr id="11" name="Shape 9"/>
          <p:cNvSpPr/>
          <p:nvPr/>
        </p:nvSpPr>
        <p:spPr>
          <a:xfrm>
            <a:off x="5991701" y="4646831"/>
            <a:ext cx="22860" cy="518279"/>
          </a:xfrm>
          <a:prstGeom prst="roundRect">
            <a:avLst>
              <a:gd name="adj" fmla="val 113374"/>
            </a:avLst>
          </a:prstGeom>
          <a:solidFill>
            <a:srgbClr val="D8D4D4"/>
          </a:solidFill>
          <a:ln/>
        </p:spPr>
      </p:sp>
      <p:sp>
        <p:nvSpPr>
          <p:cNvPr id="12" name="Shape 10"/>
          <p:cNvSpPr/>
          <p:nvPr/>
        </p:nvSpPr>
        <p:spPr>
          <a:xfrm>
            <a:off x="5808821" y="4452521"/>
            <a:ext cx="388739" cy="388739"/>
          </a:xfrm>
          <a:prstGeom prst="roundRect">
            <a:avLst>
              <a:gd name="adj" fmla="val 6667"/>
            </a:avLst>
          </a:prstGeom>
          <a:solidFill>
            <a:srgbClr val="F2EEEE"/>
          </a:solidFill>
          <a:ln/>
        </p:spPr>
      </p:sp>
      <p:sp>
        <p:nvSpPr>
          <p:cNvPr id="13" name="Text 11"/>
          <p:cNvSpPr/>
          <p:nvPr/>
        </p:nvSpPr>
        <p:spPr>
          <a:xfrm>
            <a:off x="5885378" y="4499610"/>
            <a:ext cx="235506" cy="294442"/>
          </a:xfrm>
          <a:prstGeom prst="rect">
            <a:avLst/>
          </a:prstGeom>
          <a:noFill/>
          <a:ln/>
        </p:spPr>
        <p:txBody>
          <a:bodyPr wrap="none" lIns="0" tIns="0" rIns="0" bIns="0" rtlCol="0" anchor="t"/>
          <a:lstStyle/>
          <a:p>
            <a:pPr algn="ctr" indent="0" marL="0">
              <a:lnSpc>
                <a:spcPts val="1850"/>
              </a:lnSpc>
              <a:buNone/>
            </a:pPr>
            <a:r>
              <a:rPr lang="en-US" sz="1850" b="1" dirty="0">
                <a:solidFill>
                  <a:srgbClr val="3D3838"/>
                </a:solidFill>
                <a:latin typeface="Montserrat Bold" pitchFamily="34" charset="0"/>
                <a:ea typeface="Montserrat Bold" pitchFamily="34" charset="-122"/>
                <a:cs typeface="Montserrat Bold" pitchFamily="34" charset="-120"/>
              </a:rPr>
              <a:t>2</a:t>
            </a:r>
            <a:endParaRPr lang="en-US" sz="1850" dirty="0"/>
          </a:p>
        </p:txBody>
      </p:sp>
      <p:sp>
        <p:nvSpPr>
          <p:cNvPr id="14" name="Text 12"/>
          <p:cNvSpPr/>
          <p:nvPr/>
        </p:nvSpPr>
        <p:spPr>
          <a:xfrm>
            <a:off x="5021580" y="5337929"/>
            <a:ext cx="1963341" cy="245388"/>
          </a:xfrm>
          <a:prstGeom prst="rect">
            <a:avLst/>
          </a:prstGeom>
          <a:noFill/>
          <a:ln/>
        </p:spPr>
        <p:txBody>
          <a:bodyPr wrap="none" lIns="0" tIns="0" rIns="0" bIns="0" rtlCol="0" anchor="t"/>
          <a:lstStyle/>
          <a:p>
            <a:pPr algn="ctr" indent="0" marL="0">
              <a:lnSpc>
                <a:spcPts val="1900"/>
              </a:lnSpc>
              <a:buNone/>
            </a:pPr>
            <a:r>
              <a:rPr lang="en-US" sz="1500" b="1" dirty="0">
                <a:solidFill>
                  <a:srgbClr val="3D3838"/>
                </a:solidFill>
                <a:latin typeface="Montserrat Bold" pitchFamily="34" charset="0"/>
                <a:ea typeface="Montserrat Bold" pitchFamily="34" charset="-122"/>
                <a:cs typeface="Montserrat Bold" pitchFamily="34" charset="-120"/>
              </a:rPr>
              <a:t>Speed vs FCR</a:t>
            </a:r>
            <a:endParaRPr lang="en-US" sz="1500" dirty="0"/>
          </a:p>
        </p:txBody>
      </p:sp>
      <p:sp>
        <p:nvSpPr>
          <p:cNvPr id="15" name="Text 13"/>
          <p:cNvSpPr/>
          <p:nvPr/>
        </p:nvSpPr>
        <p:spPr>
          <a:xfrm>
            <a:off x="3660219" y="5686901"/>
            <a:ext cx="4686062" cy="1036320"/>
          </a:xfrm>
          <a:prstGeom prst="rect">
            <a:avLst/>
          </a:prstGeom>
          <a:noFill/>
          <a:ln/>
        </p:spPr>
        <p:txBody>
          <a:bodyPr wrap="square" lIns="0" tIns="0" rIns="0" bIns="0" rtlCol="0" anchor="t"/>
          <a:lstStyle/>
          <a:p>
            <a:pPr algn="ctr"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Three-cluster solution partitioned vehicles by efficiency: (1) high-speed/high-consumption (highway ICE), (2) moderate speed/low-consumption (HEV urban), (3) zero-fuel group (EVs and PHEVs in electric mode).</a:t>
            </a:r>
            <a:endParaRPr lang="en-US" sz="1350" dirty="0"/>
          </a:p>
        </p:txBody>
      </p:sp>
      <p:sp>
        <p:nvSpPr>
          <p:cNvPr id="16" name="Shape 14"/>
          <p:cNvSpPr/>
          <p:nvPr/>
        </p:nvSpPr>
        <p:spPr>
          <a:xfrm>
            <a:off x="8615482" y="4128671"/>
            <a:ext cx="22860" cy="518279"/>
          </a:xfrm>
          <a:prstGeom prst="roundRect">
            <a:avLst>
              <a:gd name="adj" fmla="val 113374"/>
            </a:avLst>
          </a:prstGeom>
          <a:solidFill>
            <a:srgbClr val="D8D4D4"/>
          </a:solidFill>
          <a:ln/>
        </p:spPr>
      </p:sp>
      <p:sp>
        <p:nvSpPr>
          <p:cNvPr id="17" name="Shape 15"/>
          <p:cNvSpPr/>
          <p:nvPr/>
        </p:nvSpPr>
        <p:spPr>
          <a:xfrm>
            <a:off x="8432602" y="4452521"/>
            <a:ext cx="388739" cy="388739"/>
          </a:xfrm>
          <a:prstGeom prst="roundRect">
            <a:avLst>
              <a:gd name="adj" fmla="val 6667"/>
            </a:avLst>
          </a:prstGeom>
          <a:solidFill>
            <a:srgbClr val="F2EEEE"/>
          </a:solidFill>
          <a:ln/>
        </p:spPr>
      </p:sp>
      <p:sp>
        <p:nvSpPr>
          <p:cNvPr id="18" name="Text 16"/>
          <p:cNvSpPr/>
          <p:nvPr/>
        </p:nvSpPr>
        <p:spPr>
          <a:xfrm>
            <a:off x="8509159" y="4499610"/>
            <a:ext cx="235506" cy="294442"/>
          </a:xfrm>
          <a:prstGeom prst="rect">
            <a:avLst/>
          </a:prstGeom>
          <a:noFill/>
          <a:ln/>
        </p:spPr>
        <p:txBody>
          <a:bodyPr wrap="none" lIns="0" tIns="0" rIns="0" bIns="0" rtlCol="0" anchor="t"/>
          <a:lstStyle/>
          <a:p>
            <a:pPr algn="ctr" indent="0" marL="0">
              <a:lnSpc>
                <a:spcPts val="1850"/>
              </a:lnSpc>
              <a:buNone/>
            </a:pPr>
            <a:r>
              <a:rPr lang="en-US" sz="1850" b="1" dirty="0">
                <a:solidFill>
                  <a:srgbClr val="3D3838"/>
                </a:solidFill>
                <a:latin typeface="Montserrat Bold" pitchFamily="34" charset="0"/>
                <a:ea typeface="Montserrat Bold" pitchFamily="34" charset="-122"/>
                <a:cs typeface="Montserrat Bold" pitchFamily="34" charset="-120"/>
              </a:rPr>
              <a:t>3</a:t>
            </a:r>
            <a:endParaRPr lang="en-US" sz="1850" dirty="0"/>
          </a:p>
        </p:txBody>
      </p:sp>
      <p:sp>
        <p:nvSpPr>
          <p:cNvPr id="19" name="Text 17"/>
          <p:cNvSpPr/>
          <p:nvPr/>
        </p:nvSpPr>
        <p:spPr>
          <a:xfrm>
            <a:off x="7402592" y="2570559"/>
            <a:ext cx="2448758" cy="245388"/>
          </a:xfrm>
          <a:prstGeom prst="rect">
            <a:avLst/>
          </a:prstGeom>
          <a:noFill/>
          <a:ln/>
        </p:spPr>
        <p:txBody>
          <a:bodyPr wrap="none" lIns="0" tIns="0" rIns="0" bIns="0" rtlCol="0" anchor="t"/>
          <a:lstStyle/>
          <a:p>
            <a:pPr algn="ctr" indent="0" marL="0">
              <a:lnSpc>
                <a:spcPts val="1900"/>
              </a:lnSpc>
              <a:buNone/>
            </a:pPr>
            <a:r>
              <a:rPr lang="en-US" sz="1500" b="1" dirty="0">
                <a:solidFill>
                  <a:srgbClr val="3D3838"/>
                </a:solidFill>
                <a:latin typeface="Montserrat Bold" pitchFamily="34" charset="0"/>
                <a:ea typeface="Montserrat Bold" pitchFamily="34" charset="-122"/>
                <a:cs typeface="Montserrat Bold" pitchFamily="34" charset="-120"/>
              </a:rPr>
              <a:t>Speed vs Battery Power</a:t>
            </a:r>
            <a:endParaRPr lang="en-US" sz="1500" dirty="0"/>
          </a:p>
        </p:txBody>
      </p:sp>
      <p:sp>
        <p:nvSpPr>
          <p:cNvPr id="20" name="Text 18"/>
          <p:cNvSpPr/>
          <p:nvPr/>
        </p:nvSpPr>
        <p:spPr>
          <a:xfrm>
            <a:off x="6284000" y="2919532"/>
            <a:ext cx="4686062" cy="1036320"/>
          </a:xfrm>
          <a:prstGeom prst="rect">
            <a:avLst/>
          </a:prstGeom>
          <a:noFill/>
          <a:ln/>
        </p:spPr>
        <p:txBody>
          <a:bodyPr wrap="square" lIns="0" tIns="0" rIns="0" bIns="0" rtlCol="0" anchor="t"/>
          <a:lstStyle/>
          <a:p>
            <a:pPr algn="ctr"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Clear bimodal distribution: cluster 1 (zero battery power = ICE/HEV engine-only), cluster 2 (high discharge = EV/PHEV electric mode). Silhouette score: 0.62, indicating strong cluster cohesion.</a:t>
            </a:r>
            <a:endParaRPr lang="en-US" sz="1350" dirty="0"/>
          </a:p>
        </p:txBody>
      </p:sp>
      <p:sp>
        <p:nvSpPr>
          <p:cNvPr id="21" name="Shape 19"/>
          <p:cNvSpPr/>
          <p:nvPr/>
        </p:nvSpPr>
        <p:spPr>
          <a:xfrm>
            <a:off x="11239143" y="4646831"/>
            <a:ext cx="22860" cy="518279"/>
          </a:xfrm>
          <a:prstGeom prst="roundRect">
            <a:avLst>
              <a:gd name="adj" fmla="val 113374"/>
            </a:avLst>
          </a:prstGeom>
          <a:solidFill>
            <a:srgbClr val="D8D4D4"/>
          </a:solidFill>
          <a:ln/>
        </p:spPr>
      </p:sp>
      <p:sp>
        <p:nvSpPr>
          <p:cNvPr id="22" name="Shape 20"/>
          <p:cNvSpPr/>
          <p:nvPr/>
        </p:nvSpPr>
        <p:spPr>
          <a:xfrm>
            <a:off x="11056263" y="4452521"/>
            <a:ext cx="388739" cy="388739"/>
          </a:xfrm>
          <a:prstGeom prst="roundRect">
            <a:avLst>
              <a:gd name="adj" fmla="val 6667"/>
            </a:avLst>
          </a:prstGeom>
          <a:solidFill>
            <a:srgbClr val="F2EEEE"/>
          </a:solidFill>
          <a:ln/>
        </p:spPr>
      </p:sp>
      <p:sp>
        <p:nvSpPr>
          <p:cNvPr id="23" name="Text 21"/>
          <p:cNvSpPr/>
          <p:nvPr/>
        </p:nvSpPr>
        <p:spPr>
          <a:xfrm>
            <a:off x="11132820" y="4499610"/>
            <a:ext cx="235506" cy="294442"/>
          </a:xfrm>
          <a:prstGeom prst="rect">
            <a:avLst/>
          </a:prstGeom>
          <a:noFill/>
          <a:ln/>
        </p:spPr>
        <p:txBody>
          <a:bodyPr wrap="none" lIns="0" tIns="0" rIns="0" bIns="0" rtlCol="0" anchor="t"/>
          <a:lstStyle/>
          <a:p>
            <a:pPr algn="ctr" indent="0" marL="0">
              <a:lnSpc>
                <a:spcPts val="1850"/>
              </a:lnSpc>
              <a:buNone/>
            </a:pPr>
            <a:r>
              <a:rPr lang="en-US" sz="1850" b="1" dirty="0">
                <a:solidFill>
                  <a:srgbClr val="3D3838"/>
                </a:solidFill>
                <a:latin typeface="Montserrat Bold" pitchFamily="34" charset="0"/>
                <a:ea typeface="Montserrat Bold" pitchFamily="34" charset="-122"/>
                <a:cs typeface="Montserrat Bold" pitchFamily="34" charset="-120"/>
              </a:rPr>
              <a:t>4</a:t>
            </a:r>
            <a:endParaRPr lang="en-US" sz="1850" dirty="0"/>
          </a:p>
        </p:txBody>
      </p:sp>
      <p:sp>
        <p:nvSpPr>
          <p:cNvPr id="24" name="Text 22"/>
          <p:cNvSpPr/>
          <p:nvPr/>
        </p:nvSpPr>
        <p:spPr>
          <a:xfrm>
            <a:off x="10058400" y="5337929"/>
            <a:ext cx="2384465" cy="245388"/>
          </a:xfrm>
          <a:prstGeom prst="rect">
            <a:avLst/>
          </a:prstGeom>
          <a:noFill/>
          <a:ln/>
        </p:spPr>
        <p:txBody>
          <a:bodyPr wrap="none" lIns="0" tIns="0" rIns="0" bIns="0" rtlCol="0" anchor="t"/>
          <a:lstStyle/>
          <a:p>
            <a:pPr algn="ctr" indent="0" marL="0">
              <a:lnSpc>
                <a:spcPts val="1900"/>
              </a:lnSpc>
              <a:buNone/>
            </a:pPr>
            <a:r>
              <a:rPr lang="en-US" sz="1500" b="1" dirty="0">
                <a:solidFill>
                  <a:srgbClr val="3D3838"/>
                </a:solidFill>
                <a:latin typeface="Montserrat Bold" pitchFamily="34" charset="0"/>
                <a:ea typeface="Montserrat Bold" pitchFamily="34" charset="-122"/>
                <a:cs typeface="Montserrat Bold" pitchFamily="34" charset="-120"/>
              </a:rPr>
              <a:t>Temperature vs Energy</a:t>
            </a:r>
            <a:endParaRPr lang="en-US" sz="1500" dirty="0"/>
          </a:p>
        </p:txBody>
      </p:sp>
      <p:sp>
        <p:nvSpPr>
          <p:cNvPr id="25" name="Text 23"/>
          <p:cNvSpPr/>
          <p:nvPr/>
        </p:nvSpPr>
        <p:spPr>
          <a:xfrm>
            <a:off x="8907661" y="5686901"/>
            <a:ext cx="4686062" cy="1036320"/>
          </a:xfrm>
          <a:prstGeom prst="rect">
            <a:avLst/>
          </a:prstGeom>
          <a:noFill/>
          <a:ln/>
        </p:spPr>
        <p:txBody>
          <a:bodyPr wrap="square" lIns="0" tIns="0" rIns="0" bIns="0" rtlCol="0" anchor="t"/>
          <a:lstStyle/>
          <a:p>
            <a:pPr algn="ctr"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Five-cluster solution revealed temperature-dependent efficiency zones. Cold weather clusters (&lt;0°C) showed elevated consumption, while moderate temperatures (10-20°C) demonstrated optimal efficiency across all powertrains.</a:t>
            </a:r>
            <a:endParaRPr lang="en-US" sz="1350" dirty="0"/>
          </a:p>
        </p:txBody>
      </p:sp>
      <p:sp>
        <p:nvSpPr>
          <p:cNvPr id="26" name="Text 24"/>
          <p:cNvSpPr/>
          <p:nvPr/>
        </p:nvSpPr>
        <p:spPr>
          <a:xfrm>
            <a:off x="863798" y="6917531"/>
            <a:ext cx="12902803" cy="518160"/>
          </a:xfrm>
          <a:prstGeom prst="rect">
            <a:avLst/>
          </a:prstGeom>
          <a:noFill/>
          <a:ln/>
        </p:spPr>
        <p:txBody>
          <a:bodyPr wrap="square" lIns="0" tIns="0" rIns="0" bIns="0" rtlCol="0" anchor="t"/>
          <a:lstStyle/>
          <a:p>
            <a:pPr algn="l" indent="0" marL="0">
              <a:lnSpc>
                <a:spcPts val="2000"/>
              </a:lnSpc>
              <a:buNone/>
            </a:pPr>
            <a:r>
              <a:rPr lang="en-US" sz="1350" dirty="0">
                <a:solidFill>
                  <a:srgbClr val="3D3838"/>
                </a:solidFill>
                <a:latin typeface="Source Sans 3" pitchFamily="34" charset="0"/>
                <a:ea typeface="Source Sans 3" pitchFamily="34" charset="-122"/>
                <a:cs typeface="Source Sans 3" pitchFamily="34" charset="-120"/>
              </a:rPr>
              <a:t>Clustering results validate our supervised learning approach—the distinct behavioral segments identified through K-means align with powertrain categories, confirming that vehicle type is the primary determinant of energy consumption patterns.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3798" y="780693"/>
            <a:ext cx="6599992" cy="525899"/>
          </a:xfrm>
          <a:prstGeom prst="rect">
            <a:avLst/>
          </a:prstGeom>
          <a:noFill/>
          <a:ln/>
        </p:spPr>
        <p:txBody>
          <a:bodyPr wrap="none" lIns="0" tIns="0" rIns="0" bIns="0" rtlCol="0" anchor="t"/>
          <a:lstStyle/>
          <a:p>
            <a:pPr algn="l" indent="0" marL="0">
              <a:lnSpc>
                <a:spcPts val="4100"/>
              </a:lnSpc>
              <a:buNone/>
            </a:pPr>
            <a:r>
              <a:rPr lang="en-US" sz="3300" b="1" dirty="0">
                <a:solidFill>
                  <a:srgbClr val="000000"/>
                </a:solidFill>
                <a:latin typeface="Montserrat Bold" pitchFamily="34" charset="0"/>
                <a:ea typeface="Montserrat Bold" pitchFamily="34" charset="-122"/>
                <a:cs typeface="Montserrat Bold" pitchFamily="34" charset="-120"/>
              </a:rPr>
              <a:t>Model Performance Summary</a:t>
            </a:r>
            <a:endParaRPr lang="en-US" sz="3300" dirty="0"/>
          </a:p>
        </p:txBody>
      </p:sp>
      <p:sp>
        <p:nvSpPr>
          <p:cNvPr id="3" name="Shape 1"/>
          <p:cNvSpPr/>
          <p:nvPr/>
        </p:nvSpPr>
        <p:spPr>
          <a:xfrm>
            <a:off x="863798" y="1954411"/>
            <a:ext cx="6358890" cy="2377083"/>
          </a:xfrm>
          <a:prstGeom prst="roundRect">
            <a:avLst>
              <a:gd name="adj" fmla="val 4616"/>
            </a:avLst>
          </a:prstGeom>
          <a:solidFill>
            <a:srgbClr val="FFFFFF"/>
          </a:solidFill>
          <a:ln/>
        </p:spPr>
      </p:sp>
      <p:sp>
        <p:nvSpPr>
          <p:cNvPr id="4" name="Shape 2"/>
          <p:cNvSpPr/>
          <p:nvPr/>
        </p:nvSpPr>
        <p:spPr>
          <a:xfrm>
            <a:off x="863798" y="1931551"/>
            <a:ext cx="6358890" cy="91440"/>
          </a:xfrm>
          <a:prstGeom prst="roundRect">
            <a:avLst>
              <a:gd name="adj" fmla="val 30368"/>
            </a:avLst>
          </a:prstGeom>
          <a:solidFill>
            <a:srgbClr val="2D2E34"/>
          </a:solidFill>
          <a:ln/>
        </p:spPr>
      </p:sp>
      <p:sp>
        <p:nvSpPr>
          <p:cNvPr id="5" name="Shape 3"/>
          <p:cNvSpPr/>
          <p:nvPr/>
        </p:nvSpPr>
        <p:spPr>
          <a:xfrm>
            <a:off x="3765590" y="1676757"/>
            <a:ext cx="555308" cy="555308"/>
          </a:xfrm>
          <a:prstGeom prst="roundRect">
            <a:avLst>
              <a:gd name="adj" fmla="val 164665"/>
            </a:avLst>
          </a:prstGeom>
          <a:solidFill>
            <a:srgbClr val="2D2E3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32158" y="1843326"/>
            <a:ext cx="222052" cy="222052"/>
          </a:xfrm>
          <a:prstGeom prst="rect">
            <a:avLst/>
          </a:prstGeom>
        </p:spPr>
      </p:pic>
      <p:sp>
        <p:nvSpPr>
          <p:cNvPr id="7" name="Text 4"/>
          <p:cNvSpPr/>
          <p:nvPr/>
        </p:nvSpPr>
        <p:spPr>
          <a:xfrm>
            <a:off x="1071682" y="2417207"/>
            <a:ext cx="2586752" cy="262890"/>
          </a:xfrm>
          <a:prstGeom prst="rect">
            <a:avLst/>
          </a:prstGeom>
          <a:noFill/>
          <a:ln/>
        </p:spPr>
        <p:txBody>
          <a:bodyPr wrap="none" lIns="0" tIns="0" rIns="0" bIns="0" rtlCol="0" anchor="t"/>
          <a:lstStyle/>
          <a:p>
            <a:pPr algn="l"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HEV: Superior Accuracy</a:t>
            </a:r>
            <a:endParaRPr lang="en-US" sz="1650" dirty="0"/>
          </a:p>
        </p:txBody>
      </p:sp>
      <p:sp>
        <p:nvSpPr>
          <p:cNvPr id="8" name="Text 5"/>
          <p:cNvSpPr/>
          <p:nvPr/>
        </p:nvSpPr>
        <p:spPr>
          <a:xfrm>
            <a:off x="1071682" y="279106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Trip-based:</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R² = 0.944 (MAF only)</a:t>
            </a:r>
            <a:endParaRPr lang="en-US" sz="1450" dirty="0"/>
          </a:p>
        </p:txBody>
      </p:sp>
      <p:sp>
        <p:nvSpPr>
          <p:cNvPr id="9" name="Text 6"/>
          <p:cNvSpPr/>
          <p:nvPr/>
        </p:nvSpPr>
        <p:spPr>
          <a:xfrm>
            <a:off x="1071682" y="317968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Best model:</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Single-feature regression</a:t>
            </a:r>
            <a:endParaRPr lang="en-US" sz="1450" dirty="0"/>
          </a:p>
        </p:txBody>
      </p:sp>
      <p:sp>
        <p:nvSpPr>
          <p:cNvPr id="10" name="Text 7"/>
          <p:cNvSpPr/>
          <p:nvPr/>
        </p:nvSpPr>
        <p:spPr>
          <a:xfrm>
            <a:off x="1071682" y="3568303"/>
            <a:ext cx="5943124" cy="555308"/>
          </a:xfrm>
          <a:prstGeom prst="rect">
            <a:avLst/>
          </a:prstGeom>
          <a:noFill/>
          <a:ln/>
        </p:spPr>
        <p:txBody>
          <a:bodyPr wrap="squar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Key advantage:</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Consistent powertrain control algorithms create predictable consumption patterns regardless of driving conditions</a:t>
            </a:r>
            <a:endParaRPr lang="en-US" sz="1450" dirty="0"/>
          </a:p>
        </p:txBody>
      </p:sp>
      <p:sp>
        <p:nvSpPr>
          <p:cNvPr id="11" name="Shape 8"/>
          <p:cNvSpPr/>
          <p:nvPr/>
        </p:nvSpPr>
        <p:spPr>
          <a:xfrm>
            <a:off x="7407712" y="1954411"/>
            <a:ext cx="6358890" cy="2377083"/>
          </a:xfrm>
          <a:prstGeom prst="roundRect">
            <a:avLst>
              <a:gd name="adj" fmla="val 4616"/>
            </a:avLst>
          </a:prstGeom>
          <a:solidFill>
            <a:srgbClr val="FFFFFF"/>
          </a:solidFill>
          <a:ln/>
        </p:spPr>
      </p:sp>
      <p:sp>
        <p:nvSpPr>
          <p:cNvPr id="12" name="Shape 9"/>
          <p:cNvSpPr/>
          <p:nvPr/>
        </p:nvSpPr>
        <p:spPr>
          <a:xfrm>
            <a:off x="7407712" y="1931551"/>
            <a:ext cx="6358890" cy="91440"/>
          </a:xfrm>
          <a:prstGeom prst="roundRect">
            <a:avLst>
              <a:gd name="adj" fmla="val 30368"/>
            </a:avLst>
          </a:prstGeom>
          <a:solidFill>
            <a:srgbClr val="2D2E34"/>
          </a:solidFill>
          <a:ln/>
        </p:spPr>
      </p:sp>
      <p:sp>
        <p:nvSpPr>
          <p:cNvPr id="13" name="Shape 10"/>
          <p:cNvSpPr/>
          <p:nvPr/>
        </p:nvSpPr>
        <p:spPr>
          <a:xfrm>
            <a:off x="10309503" y="1676757"/>
            <a:ext cx="555308" cy="555308"/>
          </a:xfrm>
          <a:prstGeom prst="roundRect">
            <a:avLst>
              <a:gd name="adj" fmla="val 164665"/>
            </a:avLst>
          </a:prstGeom>
          <a:solidFill>
            <a:srgbClr val="2D2E34"/>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76071" y="1843326"/>
            <a:ext cx="222052" cy="222052"/>
          </a:xfrm>
          <a:prstGeom prst="rect">
            <a:avLst/>
          </a:prstGeom>
        </p:spPr>
      </p:pic>
      <p:sp>
        <p:nvSpPr>
          <p:cNvPr id="15" name="Text 11"/>
          <p:cNvSpPr/>
          <p:nvPr/>
        </p:nvSpPr>
        <p:spPr>
          <a:xfrm>
            <a:off x="7615595" y="2417207"/>
            <a:ext cx="2965847" cy="262890"/>
          </a:xfrm>
          <a:prstGeom prst="rect">
            <a:avLst/>
          </a:prstGeom>
          <a:noFill/>
          <a:ln/>
        </p:spPr>
        <p:txBody>
          <a:bodyPr wrap="none" lIns="0" tIns="0" rIns="0" bIns="0" rtlCol="0" anchor="t"/>
          <a:lstStyle/>
          <a:p>
            <a:pPr algn="l"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PHEV: Strong Performance</a:t>
            </a:r>
            <a:endParaRPr lang="en-US" sz="1650" dirty="0"/>
          </a:p>
        </p:txBody>
      </p:sp>
      <p:sp>
        <p:nvSpPr>
          <p:cNvPr id="16" name="Text 12"/>
          <p:cNvSpPr/>
          <p:nvPr/>
        </p:nvSpPr>
        <p:spPr>
          <a:xfrm>
            <a:off x="7615595" y="279106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Trip-based:</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R² = 0.712</a:t>
            </a:r>
            <a:endParaRPr lang="en-US" sz="1450" dirty="0"/>
          </a:p>
        </p:txBody>
      </p:sp>
      <p:sp>
        <p:nvSpPr>
          <p:cNvPr id="17" name="Text 13"/>
          <p:cNvSpPr/>
          <p:nvPr/>
        </p:nvSpPr>
        <p:spPr>
          <a:xfrm>
            <a:off x="7615595" y="317968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Best model:</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RPM + Speed + Temperature + AC Power</a:t>
            </a:r>
            <a:endParaRPr lang="en-US" sz="1450" dirty="0"/>
          </a:p>
        </p:txBody>
      </p:sp>
      <p:sp>
        <p:nvSpPr>
          <p:cNvPr id="18" name="Text 14"/>
          <p:cNvSpPr/>
          <p:nvPr/>
        </p:nvSpPr>
        <p:spPr>
          <a:xfrm>
            <a:off x="7615595" y="3568303"/>
            <a:ext cx="5943124" cy="555308"/>
          </a:xfrm>
          <a:prstGeom prst="rect">
            <a:avLst/>
          </a:prstGeom>
          <a:noFill/>
          <a:ln/>
        </p:spPr>
        <p:txBody>
          <a:bodyPr wrap="squar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Key challenge:</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Bimodal operation (electric vs hybrid) creates variance but remains modelable with mode indicators</a:t>
            </a:r>
            <a:endParaRPr lang="en-US" sz="1450" dirty="0"/>
          </a:p>
        </p:txBody>
      </p:sp>
      <p:sp>
        <p:nvSpPr>
          <p:cNvPr id="19" name="Shape 15"/>
          <p:cNvSpPr/>
          <p:nvPr/>
        </p:nvSpPr>
        <p:spPr>
          <a:xfrm>
            <a:off x="863798" y="4794171"/>
            <a:ext cx="6358890" cy="2654737"/>
          </a:xfrm>
          <a:prstGeom prst="roundRect">
            <a:avLst>
              <a:gd name="adj" fmla="val 4133"/>
            </a:avLst>
          </a:prstGeom>
          <a:solidFill>
            <a:srgbClr val="FFFFFF"/>
          </a:solidFill>
          <a:ln/>
        </p:spPr>
      </p:sp>
      <p:sp>
        <p:nvSpPr>
          <p:cNvPr id="20" name="Shape 16"/>
          <p:cNvSpPr/>
          <p:nvPr/>
        </p:nvSpPr>
        <p:spPr>
          <a:xfrm>
            <a:off x="863798" y="4771311"/>
            <a:ext cx="6358890" cy="91440"/>
          </a:xfrm>
          <a:prstGeom prst="roundRect">
            <a:avLst>
              <a:gd name="adj" fmla="val 30368"/>
            </a:avLst>
          </a:prstGeom>
          <a:solidFill>
            <a:srgbClr val="2D2E34"/>
          </a:solidFill>
          <a:ln/>
        </p:spPr>
      </p:sp>
      <p:sp>
        <p:nvSpPr>
          <p:cNvPr id="21" name="Shape 17"/>
          <p:cNvSpPr/>
          <p:nvPr/>
        </p:nvSpPr>
        <p:spPr>
          <a:xfrm>
            <a:off x="3765590" y="4516517"/>
            <a:ext cx="555308" cy="555308"/>
          </a:xfrm>
          <a:prstGeom prst="roundRect">
            <a:avLst>
              <a:gd name="adj" fmla="val 164665"/>
            </a:avLst>
          </a:prstGeom>
          <a:solidFill>
            <a:srgbClr val="2D2E34"/>
          </a:solidFill>
          <a:ln/>
        </p:spPr>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2158" y="4683085"/>
            <a:ext cx="222052" cy="222052"/>
          </a:xfrm>
          <a:prstGeom prst="rect">
            <a:avLst/>
          </a:prstGeom>
        </p:spPr>
      </p:pic>
      <p:sp>
        <p:nvSpPr>
          <p:cNvPr id="23" name="Text 18"/>
          <p:cNvSpPr/>
          <p:nvPr/>
        </p:nvSpPr>
        <p:spPr>
          <a:xfrm>
            <a:off x="1071682" y="5256967"/>
            <a:ext cx="2652593" cy="262890"/>
          </a:xfrm>
          <a:prstGeom prst="rect">
            <a:avLst/>
          </a:prstGeom>
          <a:noFill/>
          <a:ln/>
        </p:spPr>
        <p:txBody>
          <a:bodyPr wrap="none" lIns="0" tIns="0" rIns="0" bIns="0" rtlCol="0" anchor="t"/>
          <a:lstStyle/>
          <a:p>
            <a:pPr algn="l"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ICE: Feature-Dependent</a:t>
            </a:r>
            <a:endParaRPr lang="en-US" sz="1650" dirty="0"/>
          </a:p>
        </p:txBody>
      </p:sp>
      <p:sp>
        <p:nvSpPr>
          <p:cNvPr id="24" name="Text 19"/>
          <p:cNvSpPr/>
          <p:nvPr/>
        </p:nvSpPr>
        <p:spPr>
          <a:xfrm>
            <a:off x="1071682" y="563082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Basic:</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R² = 0.187 (Speed + Distance)</a:t>
            </a:r>
            <a:endParaRPr lang="en-US" sz="1450" dirty="0"/>
          </a:p>
        </p:txBody>
      </p:sp>
      <p:sp>
        <p:nvSpPr>
          <p:cNvPr id="25" name="Text 20"/>
          <p:cNvSpPr/>
          <p:nvPr/>
        </p:nvSpPr>
        <p:spPr>
          <a:xfrm>
            <a:off x="1071682" y="601944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Advanced:</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R² = 0.689 (MAF + Load + Trims)</a:t>
            </a:r>
            <a:endParaRPr lang="en-US" sz="1450" dirty="0"/>
          </a:p>
        </p:txBody>
      </p:sp>
      <p:sp>
        <p:nvSpPr>
          <p:cNvPr id="26" name="Text 21"/>
          <p:cNvSpPr/>
          <p:nvPr/>
        </p:nvSpPr>
        <p:spPr>
          <a:xfrm>
            <a:off x="1071682" y="6408063"/>
            <a:ext cx="5943124" cy="555308"/>
          </a:xfrm>
          <a:prstGeom prst="rect">
            <a:avLst/>
          </a:prstGeom>
          <a:noFill/>
          <a:ln/>
        </p:spPr>
        <p:txBody>
          <a:bodyPr wrap="squar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Key insight:</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Requires comprehensive engine sensor suite; kinematic variables alone insufficient for production accuracy</a:t>
            </a:r>
            <a:endParaRPr lang="en-US" sz="1450" dirty="0"/>
          </a:p>
        </p:txBody>
      </p:sp>
      <p:sp>
        <p:nvSpPr>
          <p:cNvPr id="27" name="Shape 22"/>
          <p:cNvSpPr/>
          <p:nvPr/>
        </p:nvSpPr>
        <p:spPr>
          <a:xfrm>
            <a:off x="7407712" y="4794171"/>
            <a:ext cx="6358890" cy="2654737"/>
          </a:xfrm>
          <a:prstGeom prst="roundRect">
            <a:avLst>
              <a:gd name="adj" fmla="val 4133"/>
            </a:avLst>
          </a:prstGeom>
          <a:solidFill>
            <a:srgbClr val="FFFFFF"/>
          </a:solidFill>
          <a:ln/>
        </p:spPr>
      </p:sp>
      <p:sp>
        <p:nvSpPr>
          <p:cNvPr id="28" name="Shape 23"/>
          <p:cNvSpPr/>
          <p:nvPr/>
        </p:nvSpPr>
        <p:spPr>
          <a:xfrm>
            <a:off x="7407712" y="4771311"/>
            <a:ext cx="6358890" cy="91440"/>
          </a:xfrm>
          <a:prstGeom prst="roundRect">
            <a:avLst>
              <a:gd name="adj" fmla="val 30368"/>
            </a:avLst>
          </a:prstGeom>
          <a:solidFill>
            <a:srgbClr val="2D2E34"/>
          </a:solidFill>
          <a:ln/>
        </p:spPr>
      </p:sp>
      <p:sp>
        <p:nvSpPr>
          <p:cNvPr id="29" name="Shape 24"/>
          <p:cNvSpPr/>
          <p:nvPr/>
        </p:nvSpPr>
        <p:spPr>
          <a:xfrm>
            <a:off x="10309503" y="4516517"/>
            <a:ext cx="555308" cy="555308"/>
          </a:xfrm>
          <a:prstGeom prst="roundRect">
            <a:avLst>
              <a:gd name="adj" fmla="val 164665"/>
            </a:avLst>
          </a:prstGeom>
          <a:solidFill>
            <a:srgbClr val="2D2E34"/>
          </a:solidFill>
          <a:ln/>
        </p:spPr>
      </p:sp>
      <p:pic>
        <p:nvPicPr>
          <p:cNvPr id="3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76071" y="4683085"/>
            <a:ext cx="222052" cy="222052"/>
          </a:xfrm>
          <a:prstGeom prst="rect">
            <a:avLst/>
          </a:prstGeom>
        </p:spPr>
      </p:pic>
      <p:sp>
        <p:nvSpPr>
          <p:cNvPr id="31" name="Text 25"/>
          <p:cNvSpPr/>
          <p:nvPr/>
        </p:nvSpPr>
        <p:spPr>
          <a:xfrm>
            <a:off x="7615595" y="5256967"/>
            <a:ext cx="2254568" cy="262890"/>
          </a:xfrm>
          <a:prstGeom prst="rect">
            <a:avLst/>
          </a:prstGeom>
          <a:noFill/>
          <a:ln/>
        </p:spPr>
        <p:txBody>
          <a:bodyPr wrap="none" lIns="0" tIns="0" rIns="0" bIns="0" rtlCol="0" anchor="t"/>
          <a:lstStyle/>
          <a:p>
            <a:pPr algn="l" indent="0" marL="0">
              <a:lnSpc>
                <a:spcPts val="2050"/>
              </a:lnSpc>
              <a:buNone/>
            </a:pPr>
            <a:r>
              <a:rPr lang="en-US" sz="1650" b="1" dirty="0">
                <a:solidFill>
                  <a:srgbClr val="3D3838"/>
                </a:solidFill>
                <a:latin typeface="Montserrat Bold" pitchFamily="34" charset="0"/>
                <a:ea typeface="Montserrat Bold" pitchFamily="34" charset="-122"/>
                <a:cs typeface="Montserrat Bold" pitchFamily="34" charset="-120"/>
              </a:rPr>
              <a:t>EV: Modeling Failure</a:t>
            </a:r>
            <a:endParaRPr lang="en-US" sz="1650" dirty="0"/>
          </a:p>
        </p:txBody>
      </p:sp>
      <p:sp>
        <p:nvSpPr>
          <p:cNvPr id="32" name="Text 26"/>
          <p:cNvSpPr/>
          <p:nvPr/>
        </p:nvSpPr>
        <p:spPr>
          <a:xfrm>
            <a:off x="7615595" y="5630823"/>
            <a:ext cx="5943124" cy="277654"/>
          </a:xfrm>
          <a:prstGeom prst="rect">
            <a:avLst/>
          </a:prstGeom>
          <a:noFill/>
          <a:ln/>
        </p:spPr>
        <p:txBody>
          <a:bodyPr wrap="non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Trip-based:</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R² = -0.150 (negative!)</a:t>
            </a:r>
            <a:endParaRPr lang="en-US" sz="1450" dirty="0"/>
          </a:p>
        </p:txBody>
      </p:sp>
      <p:sp>
        <p:nvSpPr>
          <p:cNvPr id="33" name="Text 27"/>
          <p:cNvSpPr/>
          <p:nvPr/>
        </p:nvSpPr>
        <p:spPr>
          <a:xfrm>
            <a:off x="7615595" y="6019443"/>
            <a:ext cx="5943124" cy="555308"/>
          </a:xfrm>
          <a:prstGeom prst="rect">
            <a:avLst/>
          </a:prstGeom>
          <a:noFill/>
          <a:ln/>
        </p:spPr>
        <p:txBody>
          <a:bodyPr wrap="squar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Attempted fixes:</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Outlier removal, feature engineering—minimal improvement</a:t>
            </a:r>
            <a:endParaRPr lang="en-US" sz="1450" dirty="0"/>
          </a:p>
        </p:txBody>
      </p:sp>
      <p:sp>
        <p:nvSpPr>
          <p:cNvPr id="34" name="Text 28"/>
          <p:cNvSpPr/>
          <p:nvPr/>
        </p:nvSpPr>
        <p:spPr>
          <a:xfrm>
            <a:off x="7615595" y="6685717"/>
            <a:ext cx="5943124" cy="555308"/>
          </a:xfrm>
          <a:prstGeom prst="rect">
            <a:avLst/>
          </a:prstGeom>
          <a:noFill/>
          <a:ln/>
        </p:spPr>
        <p:txBody>
          <a:bodyPr wrap="square" lIns="0" tIns="0" rIns="0" bIns="0" rtlCol="0" anchor="t"/>
          <a:lstStyle/>
          <a:p>
            <a:pPr algn="l" indent="0" marL="0">
              <a:lnSpc>
                <a:spcPts val="2150"/>
              </a:lnSpc>
              <a:buNone/>
            </a:pPr>
            <a:r>
              <a:rPr lang="en-US" sz="1450" b="1" dirty="0">
                <a:solidFill>
                  <a:srgbClr val="3D3838"/>
                </a:solidFill>
                <a:latin typeface="Source Sans 3" pitchFamily="34" charset="0"/>
                <a:ea typeface="Source Sans 3" pitchFamily="34" charset="-122"/>
                <a:cs typeface="Source Sans 3" pitchFamily="34" charset="-120"/>
              </a:rPr>
              <a:t>Root cause:</a:t>
            </a:r>
            <a:pPr algn="l" indent="0" marL="0">
              <a:lnSpc>
                <a:spcPts val="2150"/>
              </a:lnSpc>
              <a:buNone/>
            </a:pPr>
            <a:r>
              <a:rPr lang="en-US" sz="1450" dirty="0">
                <a:solidFill>
                  <a:srgbClr val="3D3838"/>
                </a:solidFill>
                <a:latin typeface="Source Sans 3" pitchFamily="34" charset="0"/>
                <a:ea typeface="Source Sans 3" pitchFamily="34" charset="-122"/>
                <a:cs typeface="Source Sans 3" pitchFamily="34" charset="-120"/>
              </a:rPr>
              <a:t> Linear regression inadequate; missing gradient data; transient dynamics not captured in aggregate speed</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63798" y="738307"/>
            <a:ext cx="6123027" cy="455771"/>
          </a:xfrm>
          <a:prstGeom prst="rect">
            <a:avLst/>
          </a:prstGeom>
          <a:noFill/>
          <a:ln/>
        </p:spPr>
        <p:txBody>
          <a:bodyPr wrap="none" lIns="0" tIns="0" rIns="0" bIns="0" rtlCol="0" anchor="t"/>
          <a:lstStyle/>
          <a:p>
            <a:pPr algn="l" indent="0" marL="0">
              <a:lnSpc>
                <a:spcPts val="3550"/>
              </a:lnSpc>
              <a:buNone/>
            </a:pPr>
            <a:r>
              <a:rPr lang="en-US" sz="2850" b="1" dirty="0">
                <a:solidFill>
                  <a:srgbClr val="000000"/>
                </a:solidFill>
                <a:latin typeface="Montserrat Bold" pitchFamily="34" charset="0"/>
                <a:ea typeface="Montserrat Bold" pitchFamily="34" charset="-122"/>
                <a:cs typeface="Montserrat Bold" pitchFamily="34" charset="-120"/>
              </a:rPr>
              <a:t>Conclusions &amp; Future Directions</a:t>
            </a:r>
            <a:endParaRPr lang="en-US" sz="2850" dirty="0"/>
          </a:p>
        </p:txBody>
      </p:sp>
      <p:sp>
        <p:nvSpPr>
          <p:cNvPr id="3" name="Text 1"/>
          <p:cNvSpPr/>
          <p:nvPr/>
        </p:nvSpPr>
        <p:spPr>
          <a:xfrm>
            <a:off x="863798" y="1595080"/>
            <a:ext cx="1823085" cy="227767"/>
          </a:xfrm>
          <a:prstGeom prst="rect">
            <a:avLst/>
          </a:prstGeom>
          <a:noFill/>
          <a:ln/>
        </p:spPr>
        <p:txBody>
          <a:bodyPr wrap="none" lIns="0" tIns="0" rIns="0" bIns="0" rtlCol="0" anchor="t"/>
          <a:lstStyle/>
          <a:p>
            <a:pPr algn="l" indent="0" marL="0">
              <a:lnSpc>
                <a:spcPts val="1750"/>
              </a:lnSpc>
              <a:buNone/>
            </a:pPr>
            <a:r>
              <a:rPr lang="en-US" sz="1400" b="1" dirty="0">
                <a:solidFill>
                  <a:srgbClr val="000000"/>
                </a:solidFill>
                <a:latin typeface="Montserrat Bold" pitchFamily="34" charset="0"/>
                <a:ea typeface="Montserrat Bold" pitchFamily="34" charset="-122"/>
                <a:cs typeface="Montserrat Bold" pitchFamily="34" charset="-120"/>
              </a:rPr>
              <a:t>Key Findings</a:t>
            </a:r>
            <a:endParaRPr lang="en-US" sz="1400" dirty="0"/>
          </a:p>
        </p:txBody>
      </p:sp>
      <p:sp>
        <p:nvSpPr>
          <p:cNvPr id="4" name="Text 2"/>
          <p:cNvSpPr/>
          <p:nvPr/>
        </p:nvSpPr>
        <p:spPr>
          <a:xfrm>
            <a:off x="863798" y="1983224"/>
            <a:ext cx="6255782" cy="722233"/>
          </a:xfrm>
          <a:prstGeom prst="rect">
            <a:avLst/>
          </a:prstGeom>
          <a:noFill/>
          <a:ln/>
        </p:spPr>
        <p:txBody>
          <a:bodyPr wrap="square" lIns="0" tIns="0" rIns="0" bIns="0" rtlCol="0" anchor="t"/>
          <a:lstStyle/>
          <a:p>
            <a:pPr algn="l" indent="0" marL="0">
              <a:lnSpc>
                <a:spcPts val="1850"/>
              </a:lnSpc>
              <a:buNone/>
            </a:pPr>
            <a:r>
              <a:rPr lang="en-US" sz="1250" b="1" dirty="0">
                <a:solidFill>
                  <a:srgbClr val="3D3838"/>
                </a:solidFill>
                <a:latin typeface="Source Sans 3" pitchFamily="34" charset="0"/>
                <a:ea typeface="Source Sans 3" pitchFamily="34" charset="-122"/>
                <a:cs typeface="Source Sans 3" pitchFamily="34" charset="-120"/>
              </a:rPr>
              <a:t>Feasibility Confirmed:</a:t>
            </a:r>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 Predicting energy consumption from OBD-II data is highly viable for HEV and ICE vehicles when comprehensive powertrain sensors (MAF, Load, Fuel Trims) are available.</a:t>
            </a:r>
            <a:endParaRPr lang="en-US" sz="1250" dirty="0"/>
          </a:p>
        </p:txBody>
      </p:sp>
      <p:sp>
        <p:nvSpPr>
          <p:cNvPr id="5" name="Text 3"/>
          <p:cNvSpPr/>
          <p:nvPr/>
        </p:nvSpPr>
        <p:spPr>
          <a:xfrm>
            <a:off x="863798" y="2849761"/>
            <a:ext cx="6255782" cy="722233"/>
          </a:xfrm>
          <a:prstGeom prst="rect">
            <a:avLst/>
          </a:prstGeom>
          <a:noFill/>
          <a:ln/>
        </p:spPr>
        <p:txBody>
          <a:bodyPr wrap="square" lIns="0" tIns="0" rIns="0" bIns="0" rtlCol="0" anchor="t"/>
          <a:lstStyle/>
          <a:p>
            <a:pPr algn="l" indent="0" marL="0">
              <a:lnSpc>
                <a:spcPts val="1850"/>
              </a:lnSpc>
              <a:buNone/>
            </a:pPr>
            <a:r>
              <a:rPr lang="en-US" sz="1250" b="1" dirty="0">
                <a:solidFill>
                  <a:srgbClr val="3D3838"/>
                </a:solidFill>
                <a:latin typeface="Source Sans 3" pitchFamily="34" charset="0"/>
                <a:ea typeface="Source Sans 3" pitchFamily="34" charset="-122"/>
                <a:cs typeface="Source Sans 3" pitchFamily="34" charset="-120"/>
              </a:rPr>
              <a:t>Model Robustness:</a:t>
            </a:r>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 HEVs achieved 94% accuracy using single-feature models—the most robust result across all architectures, likely due to sophisticated power management algorithms.</a:t>
            </a:r>
            <a:endParaRPr lang="en-US" sz="1250" dirty="0"/>
          </a:p>
        </p:txBody>
      </p:sp>
      <p:sp>
        <p:nvSpPr>
          <p:cNvPr id="6" name="Text 4"/>
          <p:cNvSpPr/>
          <p:nvPr/>
        </p:nvSpPr>
        <p:spPr>
          <a:xfrm>
            <a:off x="863798" y="3716298"/>
            <a:ext cx="6255782" cy="722233"/>
          </a:xfrm>
          <a:prstGeom prst="rect">
            <a:avLst/>
          </a:prstGeom>
          <a:noFill/>
          <a:ln/>
        </p:spPr>
        <p:txBody>
          <a:bodyPr wrap="square" lIns="0" tIns="0" rIns="0" bIns="0" rtlCol="0" anchor="t"/>
          <a:lstStyle/>
          <a:p>
            <a:pPr algn="l" indent="0" marL="0">
              <a:lnSpc>
                <a:spcPts val="1850"/>
              </a:lnSpc>
              <a:buNone/>
            </a:pPr>
            <a:r>
              <a:rPr lang="en-US" sz="1250" b="1" dirty="0">
                <a:solidFill>
                  <a:srgbClr val="3D3838"/>
                </a:solidFill>
                <a:latin typeface="Source Sans 3" pitchFamily="34" charset="0"/>
                <a:ea typeface="Source Sans 3" pitchFamily="34" charset="-122"/>
                <a:cs typeface="Source Sans 3" pitchFamily="34" charset="-120"/>
              </a:rPr>
              <a:t>Feature Importance:</a:t>
            </a:r>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 Mass Air Flow and Absolute Load emerged as critical predictors for fuel consumption. For battery power, simple kinematic variables proved insufficient without road gradient or high-frequency acceleration data.</a:t>
            </a:r>
            <a:endParaRPr lang="en-US" sz="1250" dirty="0"/>
          </a:p>
        </p:txBody>
      </p:sp>
      <p:sp>
        <p:nvSpPr>
          <p:cNvPr id="7" name="Text 5"/>
          <p:cNvSpPr/>
          <p:nvPr/>
        </p:nvSpPr>
        <p:spPr>
          <a:xfrm>
            <a:off x="863798" y="4582835"/>
            <a:ext cx="6255782" cy="722233"/>
          </a:xfrm>
          <a:prstGeom prst="rect">
            <a:avLst/>
          </a:prstGeom>
          <a:noFill/>
          <a:ln/>
        </p:spPr>
        <p:txBody>
          <a:bodyPr wrap="square" lIns="0" tIns="0" rIns="0" bIns="0" rtlCol="0" anchor="t"/>
          <a:lstStyle/>
          <a:p>
            <a:pPr algn="l" indent="0" marL="0">
              <a:lnSpc>
                <a:spcPts val="1850"/>
              </a:lnSpc>
              <a:buNone/>
            </a:pPr>
            <a:r>
              <a:rPr lang="en-US" sz="1250" b="1" dirty="0">
                <a:solidFill>
                  <a:srgbClr val="3D3838"/>
                </a:solidFill>
                <a:latin typeface="Source Sans 3" pitchFamily="34" charset="0"/>
                <a:ea typeface="Source Sans 3" pitchFamily="34" charset="-122"/>
                <a:cs typeface="Source Sans 3" pitchFamily="34" charset="-120"/>
              </a:rPr>
              <a:t>Methodology Insight:</a:t>
            </a:r>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 Time-based data splitting consistently outperformed random trip splitting (R² improvements of 5-15%), highlighting the importance of temporal continuity in automotive telemetry analysis.</a:t>
            </a:r>
            <a:endParaRPr lang="en-US" sz="1250" dirty="0"/>
          </a:p>
        </p:txBody>
      </p:sp>
      <p:sp>
        <p:nvSpPr>
          <p:cNvPr id="8" name="Text 6"/>
          <p:cNvSpPr/>
          <p:nvPr/>
        </p:nvSpPr>
        <p:spPr>
          <a:xfrm>
            <a:off x="7518440" y="1595080"/>
            <a:ext cx="1823085" cy="227767"/>
          </a:xfrm>
          <a:prstGeom prst="rect">
            <a:avLst/>
          </a:prstGeom>
          <a:noFill/>
          <a:ln/>
        </p:spPr>
        <p:txBody>
          <a:bodyPr wrap="none" lIns="0" tIns="0" rIns="0" bIns="0" rtlCol="0" anchor="t"/>
          <a:lstStyle/>
          <a:p>
            <a:pPr algn="l" indent="0" marL="0">
              <a:lnSpc>
                <a:spcPts val="1750"/>
              </a:lnSpc>
              <a:buNone/>
            </a:pPr>
            <a:r>
              <a:rPr lang="en-US" sz="1400" b="1" dirty="0">
                <a:solidFill>
                  <a:srgbClr val="000000"/>
                </a:solidFill>
                <a:latin typeface="Montserrat Bold" pitchFamily="34" charset="0"/>
                <a:ea typeface="Montserrat Bold" pitchFamily="34" charset="-122"/>
                <a:cs typeface="Montserrat Bold" pitchFamily="34" charset="-120"/>
              </a:rPr>
              <a:t>Recommendations</a:t>
            </a:r>
            <a:endParaRPr lang="en-US" sz="1400" dirty="0"/>
          </a:p>
        </p:txBody>
      </p:sp>
      <p:sp>
        <p:nvSpPr>
          <p:cNvPr id="9" name="Shape 7"/>
          <p:cNvSpPr/>
          <p:nvPr/>
        </p:nvSpPr>
        <p:spPr>
          <a:xfrm>
            <a:off x="7518440" y="2088416"/>
            <a:ext cx="80129" cy="80129"/>
          </a:xfrm>
          <a:prstGeom prst="roundRect">
            <a:avLst>
              <a:gd name="adj" fmla="val 570580"/>
            </a:avLst>
          </a:prstGeom>
          <a:solidFill>
            <a:srgbClr val="2D2E34"/>
          </a:solidFill>
          <a:ln/>
        </p:spPr>
      </p:sp>
      <p:sp>
        <p:nvSpPr>
          <p:cNvPr id="10" name="Text 8"/>
          <p:cNvSpPr/>
          <p:nvPr/>
        </p:nvSpPr>
        <p:spPr>
          <a:xfrm>
            <a:off x="7758946" y="2003227"/>
            <a:ext cx="3015258"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For ICE/HEV Fleet Management</a:t>
            </a:r>
            <a:endParaRPr lang="en-US" sz="1400" dirty="0"/>
          </a:p>
        </p:txBody>
      </p:sp>
      <p:sp>
        <p:nvSpPr>
          <p:cNvPr id="11" name="Text 9"/>
          <p:cNvSpPr/>
          <p:nvPr/>
        </p:nvSpPr>
        <p:spPr>
          <a:xfrm>
            <a:off x="7758946" y="2391370"/>
            <a:ext cx="6015276"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Deploy MAF-based consumption models for real-time efficiency monitoring and driver feedback systems</a:t>
            </a:r>
            <a:endParaRPr lang="en-US" sz="1250" dirty="0"/>
          </a:p>
        </p:txBody>
      </p:sp>
      <p:sp>
        <p:nvSpPr>
          <p:cNvPr id="12" name="Shape 10"/>
          <p:cNvSpPr/>
          <p:nvPr/>
        </p:nvSpPr>
        <p:spPr>
          <a:xfrm>
            <a:off x="7518440" y="3278922"/>
            <a:ext cx="80129" cy="80129"/>
          </a:xfrm>
          <a:prstGeom prst="roundRect">
            <a:avLst>
              <a:gd name="adj" fmla="val 570580"/>
            </a:avLst>
          </a:prstGeom>
          <a:solidFill>
            <a:srgbClr val="2D2E34"/>
          </a:solidFill>
          <a:ln/>
        </p:spPr>
      </p:sp>
      <p:sp>
        <p:nvSpPr>
          <p:cNvPr id="13" name="Text 11"/>
          <p:cNvSpPr/>
          <p:nvPr/>
        </p:nvSpPr>
        <p:spPr>
          <a:xfrm>
            <a:off x="7758946" y="3193733"/>
            <a:ext cx="2392442"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For EV Energy Prediction</a:t>
            </a:r>
            <a:endParaRPr lang="en-US" sz="1400" dirty="0"/>
          </a:p>
        </p:txBody>
      </p:sp>
      <p:sp>
        <p:nvSpPr>
          <p:cNvPr id="14" name="Text 12"/>
          <p:cNvSpPr/>
          <p:nvPr/>
        </p:nvSpPr>
        <p:spPr>
          <a:xfrm>
            <a:off x="7758946" y="3581876"/>
            <a:ext cx="6015276"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Investigate nonlinear models (XGBoost, Random Forest) or deep learning architectures (LSTM, GRU) capable of capturing transient dynamics</a:t>
            </a:r>
            <a:endParaRPr lang="en-US" sz="1250" dirty="0"/>
          </a:p>
        </p:txBody>
      </p:sp>
      <p:sp>
        <p:nvSpPr>
          <p:cNvPr id="15" name="Shape 13"/>
          <p:cNvSpPr/>
          <p:nvPr/>
        </p:nvSpPr>
        <p:spPr>
          <a:xfrm>
            <a:off x="7518440" y="4469428"/>
            <a:ext cx="80129" cy="80129"/>
          </a:xfrm>
          <a:prstGeom prst="roundRect">
            <a:avLst>
              <a:gd name="adj" fmla="val 570580"/>
            </a:avLst>
          </a:prstGeom>
          <a:solidFill>
            <a:srgbClr val="2D2E34"/>
          </a:solidFill>
          <a:ln/>
        </p:spPr>
      </p:sp>
      <p:sp>
        <p:nvSpPr>
          <p:cNvPr id="16" name="Text 14"/>
          <p:cNvSpPr/>
          <p:nvPr/>
        </p:nvSpPr>
        <p:spPr>
          <a:xfrm>
            <a:off x="7758946" y="4384238"/>
            <a:ext cx="2475548"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Enhanced Data Collection</a:t>
            </a:r>
            <a:endParaRPr lang="en-US" sz="1400" dirty="0"/>
          </a:p>
        </p:txBody>
      </p:sp>
      <p:sp>
        <p:nvSpPr>
          <p:cNvPr id="17" name="Text 15"/>
          <p:cNvSpPr/>
          <p:nvPr/>
        </p:nvSpPr>
        <p:spPr>
          <a:xfrm>
            <a:off x="7758946" y="4772382"/>
            <a:ext cx="6015276"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Augment telematics with road gradient sensors, high-frequency (10Hz+) accelerometer data, and battery thermal management signals</a:t>
            </a:r>
            <a:endParaRPr lang="en-US" sz="1250" dirty="0"/>
          </a:p>
        </p:txBody>
      </p:sp>
      <p:sp>
        <p:nvSpPr>
          <p:cNvPr id="18" name="Shape 16"/>
          <p:cNvSpPr/>
          <p:nvPr/>
        </p:nvSpPr>
        <p:spPr>
          <a:xfrm>
            <a:off x="7518440" y="5659934"/>
            <a:ext cx="80129" cy="80129"/>
          </a:xfrm>
          <a:prstGeom prst="roundRect">
            <a:avLst>
              <a:gd name="adj" fmla="val 570580"/>
            </a:avLst>
          </a:prstGeom>
          <a:solidFill>
            <a:srgbClr val="2D2E34"/>
          </a:solidFill>
          <a:ln/>
        </p:spPr>
      </p:sp>
      <p:sp>
        <p:nvSpPr>
          <p:cNvPr id="19" name="Text 17"/>
          <p:cNvSpPr/>
          <p:nvPr/>
        </p:nvSpPr>
        <p:spPr>
          <a:xfrm>
            <a:off x="7758946" y="5574744"/>
            <a:ext cx="1824037" cy="227767"/>
          </a:xfrm>
          <a:prstGeom prst="rect">
            <a:avLst/>
          </a:prstGeom>
          <a:noFill/>
          <a:ln/>
        </p:spPr>
        <p:txBody>
          <a:bodyPr wrap="none" lIns="0" tIns="0" rIns="0" bIns="0" rtlCol="0" anchor="t"/>
          <a:lstStyle/>
          <a:p>
            <a:pPr algn="l" indent="0" marL="0">
              <a:lnSpc>
                <a:spcPts val="1750"/>
              </a:lnSpc>
              <a:buNone/>
            </a:pPr>
            <a:r>
              <a:rPr lang="en-US" sz="1400" b="1" dirty="0">
                <a:solidFill>
                  <a:srgbClr val="3D3838"/>
                </a:solidFill>
                <a:latin typeface="Montserrat Bold" pitchFamily="34" charset="0"/>
                <a:ea typeface="Montserrat Bold" pitchFamily="34" charset="-122"/>
                <a:cs typeface="Montserrat Bold" pitchFamily="34" charset="-120"/>
              </a:rPr>
              <a:t>Model Deployment</a:t>
            </a:r>
            <a:endParaRPr lang="en-US" sz="1400" dirty="0"/>
          </a:p>
        </p:txBody>
      </p:sp>
      <p:sp>
        <p:nvSpPr>
          <p:cNvPr id="20" name="Text 18"/>
          <p:cNvSpPr/>
          <p:nvPr/>
        </p:nvSpPr>
        <p:spPr>
          <a:xfrm>
            <a:off x="7758946" y="5962888"/>
            <a:ext cx="6015276" cy="481489"/>
          </a:xfrm>
          <a:prstGeom prst="rect">
            <a:avLst/>
          </a:prstGeom>
          <a:noFill/>
          <a:ln/>
        </p:spPr>
        <p:txBody>
          <a:bodyPr wrap="square" lIns="0" tIns="0" rIns="0" bIns="0" rtlCol="0" anchor="t"/>
          <a:lstStyle/>
          <a:p>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HEV and PHEV models ready for production validation; ICE models require advanced feature sets; EV models need architectural redesign</a:t>
            </a:r>
            <a:endParaRPr lang="en-US" sz="1250" dirty="0"/>
          </a:p>
        </p:txBody>
      </p:sp>
      <p:sp>
        <p:nvSpPr>
          <p:cNvPr id="21" name="Text 19"/>
          <p:cNvSpPr/>
          <p:nvPr/>
        </p:nvSpPr>
        <p:spPr>
          <a:xfrm>
            <a:off x="7518440" y="6624757"/>
            <a:ext cx="6255782" cy="722233"/>
          </a:xfrm>
          <a:prstGeom prst="rect">
            <a:avLst/>
          </a:prstGeom>
          <a:noFill/>
          <a:ln/>
        </p:spPr>
        <p:txBody>
          <a:bodyPr wrap="square" lIns="0" tIns="0" rIns="0" bIns="0" rtlCol="0" anchor="t"/>
          <a:lstStyle/>
          <a:p>
            <a:pPr algn="l" indent="0" marL="0">
              <a:lnSpc>
                <a:spcPts val="1850"/>
              </a:lnSpc>
              <a:buNone/>
            </a:pPr>
            <a:r>
              <a:rPr lang="en-US" sz="1250" b="1" dirty="0">
                <a:solidFill>
                  <a:srgbClr val="3D3838"/>
                </a:solidFill>
                <a:latin typeface="Source Sans 3" pitchFamily="34" charset="0"/>
                <a:ea typeface="Source Sans 3" pitchFamily="34" charset="-122"/>
                <a:cs typeface="Source Sans 3" pitchFamily="34" charset="-120"/>
              </a:rPr>
              <a:t>Impact:</a:t>
            </a:r>
            <a:pPr algn="l" indent="0" marL="0">
              <a:lnSpc>
                <a:spcPts val="1850"/>
              </a:lnSpc>
              <a:buNone/>
            </a:pPr>
            <a:r>
              <a:rPr lang="en-US" sz="1250" dirty="0">
                <a:solidFill>
                  <a:srgbClr val="3D3838"/>
                </a:solidFill>
                <a:latin typeface="Source Sans 3" pitchFamily="34" charset="0"/>
                <a:ea typeface="Source Sans 3" pitchFamily="34" charset="-122"/>
                <a:cs typeface="Source Sans 3" pitchFamily="34" charset="-120"/>
              </a:rPr>
              <a:t> These findings enable OEMs and fleet operators to implement predictive energy management systems, optimize route planning, and provide drivers with accurate range estimation—critical capabilities for the electrified vehicle transition.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2025-12-28T12:50:14Z</dcterms:created>
  <dcterms:modified xsi:type="dcterms:W3CDTF">2025-12-28T12:50:14Z</dcterms:modified>
</cp:coreProperties>
</file>